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We are Team Vantora AI, and our entry is Vantora AI: An SME Finance Copilot for Cash Flow Recovery, for Topic E in the International Track. Our theme is AI as a financial participant. The question behind the whole entry is how far an AI agent can act in a financial scenario before it becomes unsafe. Our answer is structural. The language model explains and drafts, a deterministic engine computes every figure, and a named human approves any financial action. Everything I show today runs on a simulated account and a synthetic demonstration company. We will walk through the problem, what the agent does and does not do, the architecture, the evidence, and the security controls, including the risks we have not yet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problem. Small and medium manufacturers often hold enough receivables to cover an obligation, and still fail, because the receivables and the obligation do not land on the same day. In the synthetic demonstration company, opening cash is fifty-two thousand dollars and the safety buffer is twenty-five thousand. On day fourteen, a sixty-eight thousand dollar payroll run collides with a thirty-five thousand dollar tooling payable, and the receivables arrive weeks later. The treasurer usually discovers the gap only when the balance turns negative, and by then the three to five business days needed for a recovery lever are gone. The figures are synthetic and come from the technical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works from user requests, through a bounded set of tools. Read-only analysis runs without approval. Drafts carry no side effect. Any action that changes a commitment, such as executing a recovery plan, sending a deferral email or accepting a financing offer, needs a single-use approval from the owner for that exact action. Equally important is what it does not do. It never computes a figure, never moves real money, never connects to a bank, and it cannot change supplier bank details or disable the audit log. Those operations are prohibited, whatever the caller asks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E asks for three capabilities. First, financing-option matching. Our ranker applies three ordered screens: creditworthiness, funding speed and collateral coverage. A facility that cannot fund before the crunch day is rejected, even when its quoted rate is the lowest. The rest are ranked by effective annual cost, which includes the origination fee. Second, cash-flow management. The forecast runs one thousand seeded simulations over thirty days and reports the first shortfall day and the decision day. Alerts are the one item we could not confirm from the sources, so the slide marks them TBD. Third, business financial analysis, built on the ledger state and the recovery optimiser. All three run as a sandbox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separates authority. Five planes cooperate, but only one, the quantitative plane, is allowed to originate a figure the user will see. The dashboard calls an orchestration layer that uses a language model with ten gated tools. Every tool call then passes a security kernel, which screens injected text, checks the permission tier, verifies numbers against the quantitative engine and requires an approval token where needed. Persistence keeps identity and approvals in SQLite and a PostgreSQL mirror of the ledger, with a SHA-256 chain for the audit trail. Company isolation is enforced on the server: a company is reached only through a membership row, and cross-company access is refused with HTTP 403.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task-completion flow, and it is the part to test end to end. The agent observes the company's data and chooses tools from a set of ten gated tools. The deterministic engine does the computation: the forecast, the financing screens and the recovery optimizer. The model then drafts the plan or the offer, which has no side effect. The decision point is the approval. The owner sees the exact vendor, amount and fee, and types the figure that matters. The approval is a single-use token that expires in five minutes. The gateway then executes atomically, consumes the nonce and writes a receipt into the hash chain. Denials are recorded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deterministic algorithms produce every figure the system publishes. The forecast is a seeded Monte Carlo with a thirty-day horizon and a thousand trajectories. Its planning line is P10, not the median, because a plan sized to the median fails in roughly half of realizations. The option ranker applies hard screens first, so a cheap facility that funds too late is rejected, and then ranks the rest by effective APR, which includes the fee. Numerical verification checks every figure a model writes against the engine output, within stated tolerances, and it checks signs, since a sign error once flipped a solvency conclusion. The optimizer is a mixed-integer program solved with HiGHS. On currency, we must be candid: the sources define integer cents and a currency code, but no exchange-rate handling. That item is marked TBD.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in this deck is labelled simulated throughout. The canonical demonstration gives a day-fourteen P10 cash position of minus forty-nine thousand seven hundred dollars, and every one of the one thousand trajectories shows a shortfall. The first shortfall falls on day fourteen, but the decision day is day eleven, which leaves a three-day margin ahead of the payroll processing lock. The optimizer closes the seventy-four thousand seven hundred dollar gap for one thousand three hundred sixty-eight dollars and eighty-eight cents. Two points need care. We have not yet recorded a sandbox operation log from a run, so that panel is a placeholder, and the test count is self-reported. We will re-run both before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carries thirty percent of the score, so this is where we invested most. The permission model has four tiers. Read-only work runs unattended. Drafts cannot change anything. Any financial commitment requires a token that the owner issued for that exact action, plan version and amount. It is valid for five minutes and can be used once. Tier 3 operations, such as wiring funds externally or changing supplier bank details, are prohibited for every caller. Data isolation is enforced on the server, and the audit trail is a SHA-256 hash chain. Our self-assessment reports adversarial probes for role forgery, token replay and amount tampering, all blocked. Those results are self-reported, and we will re-run them before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part of the security assessment, so we are candid. Password-only sign-in is the weakest control and is rated medium; multi-factor authentication is planned. The injection screen is pattern-based, so a novel paraphrase could evade it, which is why the screen is never the only control. A payment to an external account is prohibited regardless of what the text says. The sandbox does not model real clearing delays, and the ledger lives in one database, so a superadmin could rewrite it. The deterministic fallback is a greedy approximation, not the exact optimum. One risk is open right now: AI-drafted letters can carry the wrong company name in their prose. It does not affect any figure, and drafts still need owner approval before anything is sent, but the fix is not yet applied. We would rather show you this than hide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Innovation and interaction carry thirty percent of the score, so here is what is different in our approach. The model never computes. Figures come from a solver and are checked before a person sees them. Approval is not a chat reply. It is a signed statement about one action: the owner types the exact figure, the approval is single-use, and it expires in five minutes. When data is missing, the system shows a typed note rather than silently dropping it. Every recovery plan is priced against two alternatives, naive borrowing and doing nothing, so the recommendation arrives with its own comparison. Finally, the owner can delegate exactly the approved action to the copilot, and the model never sees the approval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Team Vantora AI. Taqi leads the team and works on the backend and the AI and machine-learning components. Imtiaj builds the full-stack application and works on the AI side and the FinTech domain. Sahib leads the frontend, the product experience and the branding. To close: this is a sandbox prototype on a simulated account. It does not move money, it does not connect to a bank, and it holds no regulatory approval. Its strength is that the boundaries are structural, and we have documented where they are still weak. Thank you. We welcome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7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918369"/>
          </a:xfrm>
          <a:prstGeom prst="rect">
            <a:avLst/>
          </a:prstGeom>
          <a:noFill/>
          <a:ln/>
        </p:spPr>
        <p:txBody>
          <a:bodyPr wrap="square" lIns="0" tIns="0" rIns="0" bIns="0" rtlCol="0" anchor="t"/>
          <a:lstStyle>
            <a:lvl1pPr algn="l" indent="0" marL="0">
              <a:lnSpc>
                <a:spcPct val="115000"/>
              </a:lnSpc>
              <a:buNone/>
              <a:defRPr lang="en-US" sz="3200" dirty="0">
                <a:solidFill>
                  <a:srgbClr val="151B2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35969"/>
            <a:ext cx="10566400" cy="4009231"/>
          </a:xfrm>
          <a:prstGeom prst="rect">
            <a:avLst/>
          </a:prstGeom>
          <a:noFill/>
          <a:ln/>
        </p:spPr>
        <p:txBody>
          <a:bodyPr wrap="square" lIns="0" tIns="0" rIns="0" bIns="0" rtlCol="0" anchor="t"/>
          <a:lstStyle>
            <a:lvl1pPr algn="l" indent="0" marL="0">
              <a:lnSpc>
                <a:spcPct val="140000"/>
              </a:lnSpc>
              <a:buNone/>
              <a:defRPr lang="en-US" sz="1600" dirty="0">
                <a:solidFill>
                  <a:srgbClr val="151B2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7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918369"/>
          </a:xfrm>
          <a:prstGeom prst="rect">
            <a:avLst/>
          </a:prstGeom>
          <a:noFill/>
          <a:ln/>
        </p:spPr>
        <p:txBody>
          <a:bodyPr wrap="square" lIns="0" tIns="0" rIns="0" bIns="0" rtlCol="0" anchor="t"/>
          <a:lstStyle>
            <a:lvl1pPr algn="l" indent="0" marL="0">
              <a:lnSpc>
                <a:spcPct val="115000"/>
              </a:lnSpc>
              <a:buNone/>
              <a:defRPr lang="en-US" sz="3200" dirty="0">
                <a:solidFill>
                  <a:srgbClr val="151B2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35969"/>
            <a:ext cx="10566400" cy="4009231"/>
          </a:xfrm>
          <a:prstGeom prst="rect">
            <a:avLst/>
          </a:prstGeom>
          <a:noFill/>
          <a:ln/>
        </p:spPr>
        <p:txBody>
          <a:bodyPr wrap="square" lIns="0" tIns="0" rIns="0" bIns="0" rtlCol="0" anchor="t"/>
          <a:lstStyle>
            <a:lvl1pPr algn="l" indent="0" marL="0">
              <a:lnSpc>
                <a:spcPct val="140000"/>
              </a:lnSpc>
              <a:buNone/>
              <a:defRPr lang="en-US" sz="1600" dirty="0">
                <a:solidFill>
                  <a:srgbClr val="151B2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B2D"/>
        </a:solidFill>
      </p:bgPr>
    </p:bg>
    <p:spTree>
      <p:nvGrpSpPr>
        <p:cNvPr id="1" name=""/>
        <p:cNvGrpSpPr/>
        <p:nvPr/>
      </p:nvGrpSpPr>
      <p:grpSpPr>
        <a:xfrm>
          <a:off x="0" y="0"/>
          <a:ext cx="0" cy="0"/>
          <a:chOff x="0" y="0"/>
          <a:chExt cx="0" cy="0"/>
        </a:xfrm>
      </p:grpSpPr>
      <p:sp>
        <p:nvSpPr>
          <p:cNvPr id="2" name="Text 0"/>
          <p:cNvSpPr/>
          <p:nvPr/>
        </p:nvSpPr>
        <p:spPr>
          <a:xfrm>
            <a:off x="812800" y="812800"/>
            <a:ext cx="71945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6F432"/>
                </a:solidFill>
                <a:latin typeface="Inter" pitchFamily="34" charset="0"/>
                <a:ea typeface="Inter" pitchFamily="34" charset="-122"/>
                <a:cs typeface="Inter" pitchFamily="34" charset="-120"/>
              </a:rPr>
              <a:t>FinTechathon 2026 · International Track · Topic E | SME Finance Copilot</a:t>
            </a:r>
            <a:endParaRPr lang="en-US" sz="1200" dirty="0"/>
          </a:p>
        </p:txBody>
      </p:sp>
      <p:sp>
        <p:nvSpPr>
          <p:cNvPr id="3" name="Text 1"/>
          <p:cNvSpPr/>
          <p:nvPr>
            <p:ph type="title"/>
          </p:nvPr>
        </p:nvSpPr>
        <p:spPr>
          <a:xfrm>
            <a:off x="812800" y="1254760"/>
            <a:ext cx="7194550" cy="2000409"/>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F4F7EA"/>
                </a:solidFill>
                <a:latin typeface="Space Grotesk" pitchFamily="34" charset="0"/>
                <a:ea typeface="Space Grotesk" pitchFamily="34" charset="-122"/>
                <a:cs typeface="Space Grotesk" pitchFamily="34" charset="-120"/>
              </a:rPr>
              <a:t>Vantora AI: An SME Finance Copilot for Cash Flow Recovery</a:t>
            </a:r>
            <a:endParaRPr lang="en-US" sz="4800" dirty="0"/>
          </a:p>
        </p:txBody>
      </p:sp>
      <p:sp>
        <p:nvSpPr>
          <p:cNvPr id="4" name="Text 2"/>
          <p:cNvSpPr/>
          <p:nvPr/>
        </p:nvSpPr>
        <p:spPr>
          <a:xfrm>
            <a:off x="812800" y="3458369"/>
            <a:ext cx="7194550" cy="304244"/>
          </a:xfrm>
          <a:prstGeom prst="rect">
            <a:avLst/>
          </a:prstGeom>
          <a:noFill/>
          <a:ln/>
        </p:spPr>
        <p:txBody>
          <a:bodyPr wrap="square" lIns="0" tIns="0" rIns="0" bIns="0" rtlCol="0" anchor="t">
            <a:normAutofit/>
          </a:bodyPr>
          <a:lstStyle/>
          <a:p>
            <a:pPr algn="l" indent="0" marL="0">
              <a:lnSpc>
                <a:spcPts val="2196"/>
              </a:lnSpc>
              <a:buNone/>
            </a:pPr>
            <a:r>
              <a:rPr lang="en-US" sz="1800" dirty="0">
                <a:solidFill>
                  <a:srgbClr val="C6F432"/>
                </a:solidFill>
                <a:latin typeface="Space Grotesk" pitchFamily="34" charset="0"/>
                <a:ea typeface="Space Grotesk" pitchFamily="34" charset="-122"/>
                <a:cs typeface="Space Grotesk" pitchFamily="34" charset="-120"/>
              </a:rPr>
              <a:t>AI as a Financial Participant</a:t>
            </a:r>
            <a:endParaRPr lang="en-US" sz="1800" dirty="0"/>
          </a:p>
        </p:txBody>
      </p:sp>
      <p:sp>
        <p:nvSpPr>
          <p:cNvPr id="5" name="Text 3"/>
          <p:cNvSpPr/>
          <p:nvPr/>
        </p:nvSpPr>
        <p:spPr>
          <a:xfrm>
            <a:off x="812800" y="5587762"/>
            <a:ext cx="10883392" cy="279638"/>
          </a:xfrm>
          <a:prstGeom prst="rect">
            <a:avLst/>
          </a:prstGeom>
          <a:noFill/>
          <a:ln/>
        </p:spPr>
        <p:txBody>
          <a:bodyPr wrap="square" lIns="0" tIns="0" rIns="0" bIns="0" rtlCol="0" anchor="t">
            <a:normAutofit/>
          </a:bodyPr>
          <a:lstStyle/>
          <a:p>
            <a:pPr algn="l" indent="0" marL="0">
              <a:lnSpc>
                <a:spcPts val="2002"/>
              </a:lnSpc>
              <a:buNone/>
            </a:pPr>
            <a:r>
              <a:rPr lang="en-US" sz="1400" dirty="0">
                <a:solidFill>
                  <a:srgbClr val="B9C2D6"/>
                </a:solidFill>
                <a:latin typeface="Inter" pitchFamily="34" charset="0"/>
                <a:ea typeface="Inter" pitchFamily="34" charset="-122"/>
                <a:cs typeface="Inter" pitchFamily="34" charset="-120"/>
              </a:rPr>
              <a:t>Team Vantora AI</a:t>
            </a:r>
            <a:endParaRPr lang="en-US" sz="1400" dirty="0"/>
          </a:p>
        </p:txBody>
      </p:sp>
      <p:pic>
        <p:nvPicPr>
          <p:cNvPr id="6" name="Image 0" descr="Vantora logo">    </p:cNvPr>
          <p:cNvPicPr>
            <a:picLocks noChangeAspect="1"/>
          </p:cNvPicPr>
          <p:nvPr/>
        </p:nvPicPr>
        <p:blipFill>
          <a:blip r:embed="rId1"/>
          <a:srcRect l="0" r="0" t="0" b="0"/>
          <a:stretch/>
        </p:blipFill>
        <p:spPr>
          <a:xfrm>
            <a:off x="8585200" y="1778000"/>
            <a:ext cx="2794000" cy="2794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43769"/>
          </a:xfrm>
          <a:prstGeom prst="rect">
            <a:avLst/>
          </a:prstGeom>
          <a:noFill/>
          <a:ln/>
        </p:spPr>
        <p:txBody>
          <a:bodyPr wrap="square" lIns="0" tIns="0" rIns="0" bIns="0" rtlCol="0" anchor="t">
            <a:normAutofit/>
          </a:bodyPr>
          <a:lstStyle/>
          <a:p>
            <a:pPr algn="l" indent="0" marL="0">
              <a:lnSpc>
                <a:spcPts val="3616"/>
              </a:lnSpc>
              <a:buNone/>
            </a:pPr>
            <a:r>
              <a:rPr lang="en-US" sz="3200" b="1" i="0" dirty="0">
                <a:solidFill>
                  <a:srgbClr val="151B2D"/>
                </a:solidFill>
                <a:latin typeface="Space Grotesk" pitchFamily="34" charset="0"/>
                <a:ea typeface="Space Grotesk" pitchFamily="34" charset="-122"/>
                <a:cs typeface="Space Grotesk" pitchFamily="34" charset="-120"/>
              </a:rPr>
              <a:t>Cash can cover the bill and still run out on payroll day</a:t>
            </a:r>
            <a:endParaRPr lang="en-US" sz="3200" dirty="0"/>
          </a:p>
        </p:txBody>
      </p:sp>
      <p:sp>
        <p:nvSpPr>
          <p:cNvPr id="3" name="Text 1"/>
          <p:cNvSpPr/>
          <p:nvPr/>
        </p:nvSpPr>
        <p:spPr>
          <a:xfrm>
            <a:off x="812800" y="2035969"/>
            <a:ext cx="4839970" cy="533876"/>
          </a:xfrm>
          <a:prstGeom prst="rect">
            <a:avLst/>
          </a:prstGeom>
          <a:noFill/>
          <a:ln/>
        </p:spPr>
        <p:txBody>
          <a:bodyPr wrap="square" lIns="0" tIns="0" rIns="0" bIns="0" rtlCol="0" anchor="t">
            <a:normAutofit/>
          </a:bodyPr>
          <a:lstStyle/>
          <a:p>
            <a:pPr algn="l" indent="0" marL="0">
              <a:lnSpc>
                <a:spcPts val="2002"/>
              </a:lnSpc>
              <a:buNone/>
            </a:pPr>
            <a:r>
              <a:rPr lang="en-US" sz="1400" dirty="0">
                <a:solidFill>
                  <a:srgbClr val="151B2D"/>
                </a:solidFill>
                <a:latin typeface="Inter" pitchFamily="34" charset="0"/>
                <a:ea typeface="Inter" pitchFamily="34" charset="-122"/>
                <a:cs typeface="Inter" pitchFamily="34" charset="-120"/>
              </a:rPr>
              <a:t>Receivables and obligations often do not land on the same day.</a:t>
            </a:r>
            <a:endParaRPr lang="en-US" sz="1400" dirty="0"/>
          </a:p>
        </p:txBody>
      </p:sp>
      <p:sp>
        <p:nvSpPr>
          <p:cNvPr id="4" name="Text 2"/>
          <p:cNvSpPr/>
          <p:nvPr/>
        </p:nvSpPr>
        <p:spPr>
          <a:xfrm>
            <a:off x="812800" y="2747645"/>
            <a:ext cx="4839970" cy="788114"/>
          </a:xfrm>
          <a:prstGeom prst="rect">
            <a:avLst/>
          </a:prstGeom>
          <a:noFill/>
          <a:ln/>
        </p:spPr>
        <p:txBody>
          <a:bodyPr wrap="square" lIns="0" tIns="0" rIns="0" bIns="0" rtlCol="0" anchor="t">
            <a:normAutofit/>
          </a:bodyPr>
          <a:lstStyle/>
          <a:p>
            <a:pPr algn="l" indent="0" marL="0">
              <a:lnSpc>
                <a:spcPts val="2002"/>
              </a:lnSpc>
              <a:buNone/>
            </a:pPr>
            <a:r>
              <a:rPr lang="en-US" sz="1400" dirty="0">
                <a:solidFill>
                  <a:srgbClr val="151B2D"/>
                </a:solidFill>
                <a:latin typeface="Inter" pitchFamily="34" charset="0"/>
                <a:ea typeface="Inter" pitchFamily="34" charset="-122"/>
                <a:cs typeface="Inter" pitchFamily="34" charset="-120"/>
              </a:rPr>
              <a:t>A treasurer usually sees the gap only when the bank balance turns negative. By then, three to five business days are already gone.</a:t>
            </a:r>
            <a:endParaRPr lang="en-US" sz="1400" dirty="0"/>
          </a:p>
        </p:txBody>
      </p:sp>
      <p:sp>
        <p:nvSpPr>
          <p:cNvPr id="5" name="Text 3"/>
          <p:cNvSpPr/>
          <p:nvPr/>
        </p:nvSpPr>
        <p:spPr>
          <a:xfrm>
            <a:off x="812800" y="3713559"/>
            <a:ext cx="4839970" cy="533876"/>
          </a:xfrm>
          <a:prstGeom prst="rect">
            <a:avLst/>
          </a:prstGeom>
          <a:noFill/>
          <a:ln/>
        </p:spPr>
        <p:txBody>
          <a:bodyPr wrap="square" lIns="0" tIns="0" rIns="0" bIns="0" rtlCol="0" anchor="t">
            <a:normAutofit/>
          </a:bodyPr>
          <a:lstStyle/>
          <a:p>
            <a:pPr algn="l" indent="0" marL="0">
              <a:lnSpc>
                <a:spcPts val="2002"/>
              </a:lnSpc>
              <a:buNone/>
            </a:pPr>
            <a:r>
              <a:rPr lang="en-US" sz="1400" dirty="0">
                <a:solidFill>
                  <a:srgbClr val="151B2D"/>
                </a:solidFill>
                <a:latin typeface="Inter" pitchFamily="34" charset="0"/>
                <a:ea typeface="Inter" pitchFamily="34" charset="-122"/>
                <a:cs typeface="Inter" pitchFamily="34" charset="-120"/>
              </a:rPr>
              <a:t>Every realistic recovery lever needs that time: an early-payment discount, a supplier deferral or a bridge draw.</a:t>
            </a:r>
            <a:endParaRPr lang="en-US" sz="1400" dirty="0"/>
          </a:p>
        </p:txBody>
      </p:sp>
      <p:sp>
        <p:nvSpPr>
          <p:cNvPr id="6" name="Shape 4"/>
          <p:cNvSpPr/>
          <p:nvPr/>
        </p:nvSpPr>
        <p:spPr>
          <a:xfrm>
            <a:off x="5918200" y="2035969"/>
            <a:ext cx="5461000" cy="3806031"/>
          </a:xfrm>
          <a:prstGeom prst="roundRect">
            <a:avLst>
              <a:gd name="adj" fmla="val 2669"/>
            </a:avLst>
          </a:prstGeom>
          <a:solidFill>
            <a:srgbClr val="FFFFFF"/>
          </a:solidFill>
          <a:ln/>
        </p:spPr>
      </p:sp>
      <p:sp>
        <p:nvSpPr>
          <p:cNvPr id="7" name="Text 5"/>
          <p:cNvSpPr/>
          <p:nvPr/>
        </p:nvSpPr>
        <p:spPr>
          <a:xfrm>
            <a:off x="6172200" y="2289969"/>
            <a:ext cx="5101590" cy="247333"/>
          </a:xfrm>
          <a:prstGeom prst="rect">
            <a:avLst/>
          </a:prstGeom>
          <a:noFill/>
          <a:ln/>
        </p:spPr>
        <p:txBody>
          <a:bodyPr wrap="square" lIns="0" tIns="0" rIns="0" bIns="0" rtlCol="0" anchor="t">
            <a:normAutofit/>
          </a:bodyPr>
          <a:lstStyle/>
          <a:p>
            <a:pPr algn="l" indent="0" marL="0">
              <a:lnSpc>
                <a:spcPts val="1771"/>
              </a:lnSpc>
              <a:buNone/>
            </a:pPr>
            <a:r>
              <a:rPr lang="en-US" sz="1451" b="1" dirty="0">
                <a:solidFill>
                  <a:srgbClr val="151B2D"/>
                </a:solidFill>
                <a:latin typeface="Space Grotesk" pitchFamily="34" charset="0"/>
                <a:ea typeface="Space Grotesk" pitchFamily="34" charset="-122"/>
                <a:cs typeface="Space Grotesk" pitchFamily="34" charset="-120"/>
              </a:rPr>
              <a:t>Synthetic demonstration, day 14</a:t>
            </a:r>
            <a:endParaRPr lang="en-US" sz="1451" dirty="0"/>
          </a:p>
        </p:txBody>
      </p:sp>
      <p:sp>
        <p:nvSpPr>
          <p:cNvPr id="8" name="Shape 6"/>
          <p:cNvSpPr/>
          <p:nvPr/>
        </p:nvSpPr>
        <p:spPr>
          <a:xfrm>
            <a:off x="6172200" y="2946718"/>
            <a:ext cx="4953000" cy="0"/>
          </a:xfrm>
          <a:prstGeom prst="line">
            <a:avLst/>
          </a:prstGeom>
          <a:noFill/>
          <a:ln w="12700">
            <a:solidFill>
              <a:srgbClr val="D5DCC4"/>
            </a:solidFill>
            <a:prstDash val="solid"/>
          </a:ln>
        </p:spPr>
      </p:sp>
      <p:sp>
        <p:nvSpPr>
          <p:cNvPr id="9" name="Text 7"/>
          <p:cNvSpPr/>
          <p:nvPr/>
        </p:nvSpPr>
        <p:spPr>
          <a:xfrm>
            <a:off x="6172200" y="2664302"/>
            <a:ext cx="1395413" cy="227806"/>
          </a:xfrm>
          <a:prstGeom prst="rect">
            <a:avLst/>
          </a:prstGeom>
          <a:noFill/>
          <a:ln/>
        </p:spPr>
        <p:txBody>
          <a:bodyPr wrap="square" lIns="0" tIns="0" rIns="0" bIns="0" rtlCol="0" anchor="t">
            <a:normAutofit/>
          </a:bodyPr>
          <a:lstStyle/>
          <a:p>
            <a:pPr algn="l" indent="0" marL="0">
              <a:lnSpc>
                <a:spcPts val="2002"/>
              </a:lnSpc>
              <a:buNone/>
            </a:pPr>
            <a:r>
              <a:rPr lang="en-US" sz="1400" dirty="0">
                <a:solidFill>
                  <a:srgbClr val="151B2D"/>
                </a:solidFill>
                <a:latin typeface="Inter" pitchFamily="34" charset="0"/>
                <a:ea typeface="Inter" pitchFamily="34" charset="-122"/>
                <a:cs typeface="Inter" pitchFamily="34" charset="-120"/>
              </a:rPr>
              <a:t>Opening cash</a:t>
            </a:r>
            <a:endParaRPr lang="en-US" sz="1400" dirty="0"/>
          </a:p>
        </p:txBody>
      </p:sp>
      <p:sp>
        <p:nvSpPr>
          <p:cNvPr id="10" name="Text 8"/>
          <p:cNvSpPr/>
          <p:nvPr/>
        </p:nvSpPr>
        <p:spPr>
          <a:xfrm>
            <a:off x="10271760" y="2664302"/>
            <a:ext cx="853440" cy="227806"/>
          </a:xfrm>
          <a:prstGeom prst="rect">
            <a:avLst/>
          </a:prstGeom>
          <a:noFill/>
          <a:ln/>
        </p:spPr>
        <p:txBody>
          <a:bodyPr wrap="square" lIns="0" tIns="0" rIns="0" bIns="0" rtlCol="0" anchor="t">
            <a:normAutofit/>
          </a:bodyPr>
          <a:lstStyle/>
          <a:p>
            <a:pPr algn="r" indent="0" marL="0">
              <a:lnSpc>
                <a:spcPts val="2002"/>
              </a:lnSpc>
              <a:buNone/>
            </a:pPr>
            <a:r>
              <a:rPr lang="en-US" sz="1400" dirty="0">
                <a:solidFill>
                  <a:srgbClr val="151B2D"/>
                </a:solidFill>
                <a:latin typeface="Inter" pitchFamily="34" charset="0"/>
                <a:ea typeface="Inter" pitchFamily="34" charset="-122"/>
                <a:cs typeface="Inter" pitchFamily="34" charset="-120"/>
              </a:rPr>
              <a:t>$52,000</a:t>
            </a:r>
            <a:endParaRPr lang="en-US" sz="1400" dirty="0"/>
          </a:p>
        </p:txBody>
      </p:sp>
      <p:sp>
        <p:nvSpPr>
          <p:cNvPr id="11" name="Shape 9"/>
          <p:cNvSpPr/>
          <p:nvPr/>
        </p:nvSpPr>
        <p:spPr>
          <a:xfrm>
            <a:off x="6172200" y="3387884"/>
            <a:ext cx="4953000" cy="0"/>
          </a:xfrm>
          <a:prstGeom prst="line">
            <a:avLst/>
          </a:prstGeom>
          <a:noFill/>
          <a:ln w="12700">
            <a:solidFill>
              <a:srgbClr val="D5DCC4"/>
            </a:solidFill>
            <a:prstDash val="solid"/>
          </a:ln>
        </p:spPr>
      </p:sp>
      <p:sp>
        <p:nvSpPr>
          <p:cNvPr id="12" name="Text 10"/>
          <p:cNvSpPr/>
          <p:nvPr/>
        </p:nvSpPr>
        <p:spPr>
          <a:xfrm>
            <a:off x="6172200" y="3105468"/>
            <a:ext cx="1312640" cy="227806"/>
          </a:xfrm>
          <a:prstGeom prst="rect">
            <a:avLst/>
          </a:prstGeom>
          <a:noFill/>
          <a:ln/>
        </p:spPr>
        <p:txBody>
          <a:bodyPr wrap="square" lIns="0" tIns="0" rIns="0" bIns="0" rtlCol="0" anchor="t">
            <a:normAutofit/>
          </a:bodyPr>
          <a:lstStyle/>
          <a:p>
            <a:pPr algn="l" indent="0" marL="0">
              <a:lnSpc>
                <a:spcPts val="2002"/>
              </a:lnSpc>
              <a:buNone/>
            </a:pPr>
            <a:r>
              <a:rPr lang="en-US" sz="1400" dirty="0">
                <a:solidFill>
                  <a:srgbClr val="151B2D"/>
                </a:solidFill>
                <a:latin typeface="Inter" pitchFamily="34" charset="0"/>
                <a:ea typeface="Inter" pitchFamily="34" charset="-122"/>
                <a:cs typeface="Inter" pitchFamily="34" charset="-120"/>
              </a:rPr>
              <a:t>Safety buffer</a:t>
            </a:r>
            <a:endParaRPr lang="en-US" sz="1400" dirty="0"/>
          </a:p>
        </p:txBody>
      </p:sp>
      <p:sp>
        <p:nvSpPr>
          <p:cNvPr id="13" name="Text 11"/>
          <p:cNvSpPr/>
          <p:nvPr/>
        </p:nvSpPr>
        <p:spPr>
          <a:xfrm>
            <a:off x="10277475" y="3105468"/>
            <a:ext cx="847725" cy="227806"/>
          </a:xfrm>
          <a:prstGeom prst="rect">
            <a:avLst/>
          </a:prstGeom>
          <a:noFill/>
          <a:ln/>
        </p:spPr>
        <p:txBody>
          <a:bodyPr wrap="square" lIns="0" tIns="0" rIns="0" bIns="0" rtlCol="0" anchor="t">
            <a:normAutofit/>
          </a:bodyPr>
          <a:lstStyle/>
          <a:p>
            <a:pPr algn="r" indent="0" marL="0">
              <a:lnSpc>
                <a:spcPts val="2002"/>
              </a:lnSpc>
              <a:buNone/>
            </a:pPr>
            <a:r>
              <a:rPr lang="en-US" sz="1400" dirty="0">
                <a:solidFill>
                  <a:srgbClr val="151B2D"/>
                </a:solidFill>
                <a:latin typeface="Inter" pitchFamily="34" charset="0"/>
                <a:ea typeface="Inter" pitchFamily="34" charset="-122"/>
                <a:cs typeface="Inter" pitchFamily="34" charset="-120"/>
              </a:rPr>
              <a:t>$25,000</a:t>
            </a:r>
            <a:endParaRPr lang="en-US" sz="1400" dirty="0"/>
          </a:p>
        </p:txBody>
      </p:sp>
      <p:sp>
        <p:nvSpPr>
          <p:cNvPr id="14" name="Shape 12"/>
          <p:cNvSpPr/>
          <p:nvPr/>
        </p:nvSpPr>
        <p:spPr>
          <a:xfrm>
            <a:off x="6172200" y="3829050"/>
            <a:ext cx="4953000" cy="0"/>
          </a:xfrm>
          <a:prstGeom prst="line">
            <a:avLst/>
          </a:prstGeom>
          <a:noFill/>
          <a:ln w="12700">
            <a:solidFill>
              <a:srgbClr val="D5DCC4"/>
            </a:solidFill>
            <a:prstDash val="solid"/>
          </a:ln>
        </p:spPr>
      </p:sp>
      <p:sp>
        <p:nvSpPr>
          <p:cNvPr id="15" name="Text 13"/>
          <p:cNvSpPr/>
          <p:nvPr/>
        </p:nvSpPr>
        <p:spPr>
          <a:xfrm>
            <a:off x="6172200" y="3546634"/>
            <a:ext cx="1846802" cy="227806"/>
          </a:xfrm>
          <a:prstGeom prst="rect">
            <a:avLst/>
          </a:prstGeom>
          <a:noFill/>
          <a:ln/>
        </p:spPr>
        <p:txBody>
          <a:bodyPr wrap="square" lIns="0" tIns="0" rIns="0" bIns="0" rtlCol="0" anchor="t">
            <a:normAutofit/>
          </a:bodyPr>
          <a:lstStyle/>
          <a:p>
            <a:pPr algn="l" indent="0" marL="0">
              <a:lnSpc>
                <a:spcPts val="2002"/>
              </a:lnSpc>
              <a:buNone/>
            </a:pPr>
            <a:r>
              <a:rPr lang="en-US" sz="1400" dirty="0">
                <a:solidFill>
                  <a:srgbClr val="151B2D"/>
                </a:solidFill>
                <a:latin typeface="Inter" pitchFamily="34" charset="0"/>
                <a:ea typeface="Inter" pitchFamily="34" charset="-122"/>
                <a:cs typeface="Inter" pitchFamily="34" charset="-120"/>
              </a:rPr>
              <a:t>Payroll run, day 14</a:t>
            </a:r>
            <a:endParaRPr lang="en-US" sz="1400" dirty="0"/>
          </a:p>
        </p:txBody>
      </p:sp>
      <p:sp>
        <p:nvSpPr>
          <p:cNvPr id="16" name="Text 14"/>
          <p:cNvSpPr/>
          <p:nvPr/>
        </p:nvSpPr>
        <p:spPr>
          <a:xfrm>
            <a:off x="10268903" y="3546634"/>
            <a:ext cx="856298" cy="227806"/>
          </a:xfrm>
          <a:prstGeom prst="rect">
            <a:avLst/>
          </a:prstGeom>
          <a:noFill/>
          <a:ln/>
        </p:spPr>
        <p:txBody>
          <a:bodyPr wrap="square" lIns="0" tIns="0" rIns="0" bIns="0" rtlCol="0" anchor="t">
            <a:normAutofit/>
          </a:bodyPr>
          <a:lstStyle/>
          <a:p>
            <a:pPr algn="r" indent="0" marL="0">
              <a:lnSpc>
                <a:spcPts val="2002"/>
              </a:lnSpc>
              <a:buNone/>
            </a:pPr>
            <a:r>
              <a:rPr lang="en-US" sz="1400" dirty="0">
                <a:solidFill>
                  <a:srgbClr val="151B2D"/>
                </a:solidFill>
                <a:latin typeface="Inter" pitchFamily="34" charset="0"/>
                <a:ea typeface="Inter" pitchFamily="34" charset="-122"/>
                <a:cs typeface="Inter" pitchFamily="34" charset="-120"/>
              </a:rPr>
              <a:t>$68,000</a:t>
            </a:r>
            <a:endParaRPr lang="en-US" sz="1400" dirty="0"/>
          </a:p>
        </p:txBody>
      </p:sp>
      <p:sp>
        <p:nvSpPr>
          <p:cNvPr id="17" name="Shape 15"/>
          <p:cNvSpPr/>
          <p:nvPr/>
        </p:nvSpPr>
        <p:spPr>
          <a:xfrm>
            <a:off x="6172200" y="4270216"/>
            <a:ext cx="4953000" cy="0"/>
          </a:xfrm>
          <a:prstGeom prst="line">
            <a:avLst/>
          </a:prstGeom>
          <a:noFill/>
          <a:ln w="12700">
            <a:solidFill>
              <a:srgbClr val="D5DCC4"/>
            </a:solidFill>
            <a:prstDash val="solid"/>
          </a:ln>
        </p:spPr>
      </p:sp>
      <p:sp>
        <p:nvSpPr>
          <p:cNvPr id="18" name="Text 16"/>
          <p:cNvSpPr/>
          <p:nvPr/>
        </p:nvSpPr>
        <p:spPr>
          <a:xfrm>
            <a:off x="6172200" y="3987800"/>
            <a:ext cx="2365343" cy="227806"/>
          </a:xfrm>
          <a:prstGeom prst="rect">
            <a:avLst/>
          </a:prstGeom>
          <a:noFill/>
          <a:ln/>
        </p:spPr>
        <p:txBody>
          <a:bodyPr wrap="square" lIns="0" tIns="0" rIns="0" bIns="0" rtlCol="0" anchor="t">
            <a:normAutofit/>
          </a:bodyPr>
          <a:lstStyle/>
          <a:p>
            <a:pPr algn="l" indent="0" marL="0">
              <a:lnSpc>
                <a:spcPts val="2002"/>
              </a:lnSpc>
              <a:buNone/>
            </a:pPr>
            <a:r>
              <a:rPr lang="en-US" sz="1400" dirty="0">
                <a:solidFill>
                  <a:srgbClr val="151B2D"/>
                </a:solidFill>
                <a:latin typeface="Inter" pitchFamily="34" charset="0"/>
                <a:ea typeface="Inter" pitchFamily="34" charset="-122"/>
                <a:cs typeface="Inter" pitchFamily="34" charset="-120"/>
              </a:rPr>
              <a:t>Tooling payable, day 14</a:t>
            </a:r>
            <a:endParaRPr lang="en-US" sz="1400" dirty="0"/>
          </a:p>
        </p:txBody>
      </p:sp>
      <p:sp>
        <p:nvSpPr>
          <p:cNvPr id="19" name="Text 17"/>
          <p:cNvSpPr/>
          <p:nvPr/>
        </p:nvSpPr>
        <p:spPr>
          <a:xfrm>
            <a:off x="10275761" y="3987800"/>
            <a:ext cx="849439" cy="227806"/>
          </a:xfrm>
          <a:prstGeom prst="rect">
            <a:avLst/>
          </a:prstGeom>
          <a:noFill/>
          <a:ln/>
        </p:spPr>
        <p:txBody>
          <a:bodyPr wrap="square" lIns="0" tIns="0" rIns="0" bIns="0" rtlCol="0" anchor="t">
            <a:normAutofit/>
          </a:bodyPr>
          <a:lstStyle/>
          <a:p>
            <a:pPr algn="r" indent="0" marL="0">
              <a:lnSpc>
                <a:spcPts val="2002"/>
              </a:lnSpc>
              <a:buNone/>
            </a:pPr>
            <a:r>
              <a:rPr lang="en-US" sz="1400" dirty="0">
                <a:solidFill>
                  <a:srgbClr val="151B2D"/>
                </a:solidFill>
                <a:latin typeface="Inter" pitchFamily="34" charset="0"/>
                <a:ea typeface="Inter" pitchFamily="34" charset="-122"/>
                <a:cs typeface="Inter" pitchFamily="34" charset="-120"/>
              </a:rPr>
              <a:t>$35,000</a:t>
            </a:r>
            <a:endParaRPr lang="en-US" sz="1400" dirty="0"/>
          </a:p>
        </p:txBody>
      </p:sp>
      <p:sp>
        <p:nvSpPr>
          <p:cNvPr id="20" name="Shape 18"/>
          <p:cNvSpPr/>
          <p:nvPr/>
        </p:nvSpPr>
        <p:spPr>
          <a:xfrm>
            <a:off x="6172200" y="4711382"/>
            <a:ext cx="4953000" cy="0"/>
          </a:xfrm>
          <a:prstGeom prst="line">
            <a:avLst/>
          </a:prstGeom>
          <a:noFill/>
          <a:ln w="12700">
            <a:solidFill>
              <a:srgbClr val="D5DCC4"/>
            </a:solidFill>
            <a:prstDash val="solid"/>
          </a:ln>
        </p:spPr>
      </p:sp>
      <p:sp>
        <p:nvSpPr>
          <p:cNvPr id="21" name="Text 19"/>
          <p:cNvSpPr/>
          <p:nvPr/>
        </p:nvSpPr>
        <p:spPr>
          <a:xfrm>
            <a:off x="6172200" y="4428966"/>
            <a:ext cx="1673543" cy="227806"/>
          </a:xfrm>
          <a:prstGeom prst="rect">
            <a:avLst/>
          </a:prstGeom>
          <a:noFill/>
          <a:ln/>
        </p:spPr>
        <p:txBody>
          <a:bodyPr wrap="square" lIns="0" tIns="0" rIns="0" bIns="0" rtlCol="0" anchor="t">
            <a:normAutofit/>
          </a:bodyPr>
          <a:lstStyle/>
          <a:p>
            <a:pPr algn="l" indent="0" marL="0">
              <a:lnSpc>
                <a:spcPts val="2002"/>
              </a:lnSpc>
              <a:buNone/>
            </a:pPr>
            <a:r>
              <a:rPr lang="en-US" sz="1400" dirty="0">
                <a:solidFill>
                  <a:srgbClr val="151B2D"/>
                </a:solidFill>
                <a:latin typeface="Inter" pitchFamily="34" charset="0"/>
                <a:ea typeface="Inter" pitchFamily="34" charset="-122"/>
                <a:cs typeface="Inter" pitchFamily="34" charset="-120"/>
              </a:rPr>
              <a:t>P10 cash, day 14</a:t>
            </a:r>
            <a:endParaRPr lang="en-US" sz="1400" dirty="0"/>
          </a:p>
        </p:txBody>
      </p:sp>
      <p:sp>
        <p:nvSpPr>
          <p:cNvPr id="22" name="Text 20"/>
          <p:cNvSpPr/>
          <p:nvPr/>
        </p:nvSpPr>
        <p:spPr>
          <a:xfrm>
            <a:off x="10137363" y="4428966"/>
            <a:ext cx="987838" cy="227806"/>
          </a:xfrm>
          <a:prstGeom prst="rect">
            <a:avLst/>
          </a:prstGeom>
          <a:noFill/>
          <a:ln/>
        </p:spPr>
        <p:txBody>
          <a:bodyPr wrap="square" lIns="0" tIns="0" rIns="0" bIns="0" rtlCol="0" anchor="t">
            <a:normAutofit/>
          </a:bodyPr>
          <a:lstStyle/>
          <a:p>
            <a:pPr algn="r" indent="0" marL="0">
              <a:lnSpc>
                <a:spcPts val="2002"/>
              </a:lnSpc>
              <a:buNone/>
            </a:pPr>
            <a:r>
              <a:rPr lang="en-US" sz="1400" dirty="0">
                <a:solidFill>
                  <a:srgbClr val="151B2D"/>
                </a:solidFill>
                <a:latin typeface="Inter" pitchFamily="34" charset="0"/>
                <a:ea typeface="Inter" pitchFamily="34" charset="-122"/>
                <a:cs typeface="Inter" pitchFamily="34" charset="-120"/>
              </a:rPr>
              <a:t>−$49,700</a:t>
            </a:r>
            <a:endParaRPr lang="en-US" sz="1400" dirty="0"/>
          </a:p>
        </p:txBody>
      </p:sp>
      <p:sp>
        <p:nvSpPr>
          <p:cNvPr id="23" name="Text 21"/>
          <p:cNvSpPr/>
          <p:nvPr/>
        </p:nvSpPr>
        <p:spPr>
          <a:xfrm>
            <a:off x="6172200" y="4864418"/>
            <a:ext cx="3459670" cy="279638"/>
          </a:xfrm>
          <a:prstGeom prst="rect">
            <a:avLst/>
          </a:prstGeom>
          <a:noFill/>
          <a:ln/>
        </p:spPr>
        <p:txBody>
          <a:bodyPr wrap="square" lIns="0" tIns="0" rIns="0" bIns="0" rtlCol="0" anchor="t">
            <a:normAutofit/>
          </a:bodyPr>
          <a:lstStyle/>
          <a:p>
            <a:pPr algn="l" indent="0" marL="0">
              <a:lnSpc>
                <a:spcPts val="2002"/>
              </a:lnSpc>
              <a:buNone/>
            </a:pPr>
            <a:r>
              <a:rPr lang="en-US" sz="1400" dirty="0">
                <a:solidFill>
                  <a:srgbClr val="151B2D"/>
                </a:solidFill>
                <a:latin typeface="Inter" pitchFamily="34" charset="0"/>
                <a:ea typeface="Inter" pitchFamily="34" charset="-122"/>
                <a:cs typeface="Inter" pitchFamily="34" charset="-120"/>
              </a:rPr>
              <a:t>Recovery needed to restore buffer</a:t>
            </a:r>
            <a:endParaRPr lang="en-US" sz="1400" dirty="0"/>
          </a:p>
        </p:txBody>
      </p:sp>
      <p:sp>
        <p:nvSpPr>
          <p:cNvPr id="24" name="Text 22"/>
          <p:cNvSpPr/>
          <p:nvPr/>
        </p:nvSpPr>
        <p:spPr>
          <a:xfrm>
            <a:off x="10202942" y="4839018"/>
            <a:ext cx="922258" cy="305038"/>
          </a:xfrm>
          <a:prstGeom prst="roundRect">
            <a:avLst>
              <a:gd name="adj" fmla="val 16654"/>
            </a:avLst>
          </a:prstGeom>
          <a:solidFill>
            <a:srgbClr val="C6F432"/>
          </a:solidFill>
          <a:ln/>
        </p:spPr>
        <p:txBody>
          <a:bodyPr wrap="none" lIns="0" tIns="0" rIns="0" bIns="0" rtlCol="0" anchor="ctr">
            <a:normAutofit/>
          </a:bodyPr>
          <a:lstStyle/>
          <a:p>
            <a:pPr algn="ctr" indent="0" marL="0">
              <a:lnSpc>
                <a:spcPts val="2002"/>
              </a:lnSpc>
              <a:buNone/>
            </a:pPr>
            <a:r>
              <a:rPr lang="en-US" sz="1400" b="1" dirty="0">
                <a:solidFill>
                  <a:srgbClr val="151B2D"/>
                </a:solidFill>
                <a:latin typeface="Inter" pitchFamily="34" charset="0"/>
                <a:ea typeface="Inter" pitchFamily="34" charset="-122"/>
                <a:cs typeface="Inter" pitchFamily="34" charset="-120"/>
              </a:rPr>
              <a:t>$74,700</a:t>
            </a:r>
            <a:endParaRPr lang="en-US" sz="1400" dirty="0"/>
          </a:p>
        </p:txBody>
      </p:sp>
      <p:sp>
        <p:nvSpPr>
          <p:cNvPr id="25" name="Text 23"/>
          <p:cNvSpPr/>
          <p:nvPr/>
        </p:nvSpPr>
        <p:spPr>
          <a:xfrm>
            <a:off x="6172200" y="5265341"/>
            <a:ext cx="5101590" cy="348059"/>
          </a:xfrm>
          <a:prstGeom prst="rect">
            <a:avLst/>
          </a:prstGeom>
          <a:noFill/>
          <a:ln/>
        </p:spPr>
        <p:txBody>
          <a:bodyPr wrap="square" lIns="0" tIns="0" rIns="0" bIns="0" rtlCol="0" anchor="t">
            <a:normAutofit/>
          </a:bodyPr>
          <a:lstStyle/>
          <a:p>
            <a:pPr algn="l" indent="0" marL="0">
              <a:lnSpc>
                <a:spcPts val="1287"/>
              </a:lnSpc>
              <a:buNone/>
            </a:pPr>
            <a:r>
              <a:rPr lang="en-US" sz="968" dirty="0">
                <a:solidFill>
                  <a:srgbClr val="4A5263"/>
                </a:solidFill>
                <a:latin typeface="Inter" pitchFamily="34" charset="0"/>
                <a:ea typeface="Inter" pitchFamily="34" charset="-122"/>
                <a:cs typeface="Inter" pitchFamily="34" charset="-120"/>
              </a:rPr>
              <a:t>Smart Jeans Manufacturing Ltd. is a fictional demo company. Source: Technical Documentation, section 3.1.5.</a:t>
            </a:r>
            <a:endParaRPr lang="en-US" sz="968" dirty="0"/>
          </a:p>
        </p:txBody>
      </p:sp>
      <p:sp>
        <p:nvSpPr>
          <p:cNvPr id="26" name="Text 24"/>
          <p:cNvSpPr/>
          <p:nvPr/>
        </p:nvSpPr>
        <p:spPr>
          <a:xfrm>
            <a:off x="812800" y="6248957"/>
            <a:ext cx="3502724" cy="228044"/>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4A5263"/>
                </a:solidFill>
                <a:latin typeface="Inter" pitchFamily="34" charset="0"/>
                <a:ea typeface="Inter" pitchFamily="34" charset="-122"/>
                <a:cs typeface="Inter" pitchFamily="34" charset="-120"/>
              </a:rPr>
              <a:t>Vantora AI · Topic E · FinTechathon 2026</a:t>
            </a:r>
            <a:endParaRPr lang="en-US" sz="1200" dirty="0"/>
          </a:p>
        </p:txBody>
      </p:sp>
      <p:sp>
        <p:nvSpPr>
          <p:cNvPr id="27" name="Text 25"/>
          <p:cNvSpPr/>
          <p:nvPr/>
        </p:nvSpPr>
        <p:spPr>
          <a:xfrm>
            <a:off x="10912951" y="6248957"/>
            <a:ext cx="466249" cy="228044"/>
          </a:xfrm>
          <a:prstGeom prst="rect">
            <a:avLst/>
          </a:prstGeom>
          <a:noFill/>
          <a:ln/>
        </p:spPr>
        <p:txBody>
          <a:bodyPr wrap="square" lIns="0" tIns="0" rIns="0" bIns="0" rtlCol="0" anchor="t">
            <a:normAutofit/>
          </a:bodyPr>
          <a:lstStyle/>
          <a:p>
            <a:pPr algn="r" indent="0" marL="0">
              <a:lnSpc>
                <a:spcPts val="1596"/>
              </a:lnSpc>
              <a:buNone/>
            </a:pPr>
            <a:r>
              <a:rPr lang="en-US" sz="1200" dirty="0">
                <a:solidFill>
                  <a:srgbClr val="4A5263"/>
                </a:solidFill>
                <a:latin typeface="Inter" pitchFamily="34" charset="0"/>
                <a:ea typeface="Inter" pitchFamily="34" charset="-122"/>
                <a:cs typeface="Inter" pitchFamily="34" charset="-120"/>
              </a:rPr>
              <a:t>2 / 12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43769"/>
          </a:xfrm>
          <a:prstGeom prst="rect">
            <a:avLst/>
          </a:prstGeom>
          <a:noFill/>
          <a:ln/>
        </p:spPr>
        <p:txBody>
          <a:bodyPr wrap="square" lIns="0" tIns="0" rIns="0" bIns="0" rtlCol="0" anchor="t">
            <a:normAutofit/>
          </a:bodyPr>
          <a:lstStyle/>
          <a:p>
            <a:pPr algn="l" indent="0" marL="0">
              <a:lnSpc>
                <a:spcPts val="3616"/>
              </a:lnSpc>
              <a:buNone/>
            </a:pPr>
            <a:r>
              <a:rPr lang="en-US" sz="3200" b="1" i="0" dirty="0">
                <a:solidFill>
                  <a:srgbClr val="151B2D"/>
                </a:solidFill>
                <a:latin typeface="Space Grotesk" pitchFamily="34" charset="0"/>
                <a:ea typeface="Space Grotesk" pitchFamily="34" charset="-122"/>
                <a:cs typeface="Space Grotesk" pitchFamily="34" charset="-120"/>
              </a:rPr>
              <a:t>The agent proposes and drafts; the owner approves every commitment</a:t>
            </a:r>
            <a:endParaRPr lang="en-US" sz="3200" dirty="0"/>
          </a:p>
        </p:txBody>
      </p:sp>
      <p:sp>
        <p:nvSpPr>
          <p:cNvPr id="3" name="Shape 1"/>
          <p:cNvSpPr/>
          <p:nvPr/>
        </p:nvSpPr>
        <p:spPr>
          <a:xfrm>
            <a:off x="812800" y="2035969"/>
            <a:ext cx="5181600" cy="3806031"/>
          </a:xfrm>
          <a:prstGeom prst="roundRect">
            <a:avLst>
              <a:gd name="adj" fmla="val 2669"/>
            </a:avLst>
          </a:prstGeom>
          <a:solidFill>
            <a:srgbClr val="FFFFFF"/>
          </a:solidFill>
          <a:ln/>
        </p:spPr>
      </p:sp>
      <p:sp>
        <p:nvSpPr>
          <p:cNvPr id="4" name="Shape 2"/>
          <p:cNvSpPr/>
          <p:nvPr/>
        </p:nvSpPr>
        <p:spPr>
          <a:xfrm>
            <a:off x="1066800" y="2315369"/>
            <a:ext cx="4673600" cy="0"/>
          </a:xfrm>
          <a:prstGeom prst="line">
            <a:avLst/>
          </a:prstGeom>
          <a:noFill/>
          <a:ln w="50800">
            <a:solidFill>
              <a:srgbClr val="C6F432"/>
            </a:solidFill>
            <a:prstDash val="solid"/>
          </a:ln>
        </p:spPr>
      </p:sp>
      <p:sp>
        <p:nvSpPr>
          <p:cNvPr id="5" name="Text 3"/>
          <p:cNvSpPr/>
          <p:nvPr/>
        </p:nvSpPr>
        <p:spPr>
          <a:xfrm>
            <a:off x="1066800" y="2442369"/>
            <a:ext cx="4813808" cy="304244"/>
          </a:xfrm>
          <a:prstGeom prst="rect">
            <a:avLst/>
          </a:prstGeom>
          <a:noFill/>
          <a:ln/>
        </p:spPr>
        <p:txBody>
          <a:bodyPr wrap="square" lIns="0" tIns="0" rIns="0" bIns="0" rtlCol="0" anchor="t">
            <a:normAutofit/>
          </a:bodyPr>
          <a:lstStyle/>
          <a:p>
            <a:pPr algn="l" indent="0" marL="0">
              <a:lnSpc>
                <a:spcPts val="2196"/>
              </a:lnSpc>
              <a:buNone/>
            </a:pPr>
            <a:r>
              <a:rPr lang="en-US" sz="1800" b="1" dirty="0">
                <a:solidFill>
                  <a:srgbClr val="151B2D"/>
                </a:solidFill>
                <a:latin typeface="Space Grotesk" pitchFamily="34" charset="0"/>
                <a:ea typeface="Space Grotesk" pitchFamily="34" charset="-122"/>
                <a:cs typeface="Space Grotesk" pitchFamily="34" charset="-120"/>
              </a:rPr>
              <a:t>What the agent does</a:t>
            </a:r>
            <a:endParaRPr lang="en-US" sz="1800" dirty="0"/>
          </a:p>
        </p:txBody>
      </p:sp>
      <p:sp>
        <p:nvSpPr>
          <p:cNvPr id="6" name="Text 4"/>
          <p:cNvSpPr/>
          <p:nvPr/>
        </p:nvSpPr>
        <p:spPr>
          <a:xfrm>
            <a:off x="1100582" y="2848214"/>
            <a:ext cx="4773930" cy="2313543"/>
          </a:xfrm>
          <a:prstGeom prst="rect">
            <a:avLst/>
          </a:prstGeom>
          <a:noFill/>
          <a:ln/>
        </p:spPr>
        <p:txBody>
          <a:bodyPr wrap="square" lIns="0" tIns="0" rIns="0" bIns="0" rtlCol="0" anchor="t">
            <a:normAutofit/>
          </a:bodyPr>
          <a:lstStyle/>
          <a:p>
            <a:pPr algn="l" marL="169418" indent="-169418">
              <a:lnSpc>
                <a:spcPts val="2002"/>
              </a:lnSpc>
              <a:buSzPct val="100000"/>
              <a:buChar char="•"/>
            </a:pPr>
            <a:r>
              <a:rPr lang="en-US" sz="1400" dirty="0">
                <a:solidFill>
                  <a:srgbClr val="151B2D"/>
                </a:solidFill>
                <a:latin typeface="Inter" pitchFamily="34" charset="0"/>
                <a:ea typeface="Inter" pitchFamily="34" charset="-122"/>
                <a:cs typeface="Inter" pitchFamily="34" charset="-120"/>
              </a:rPr>
              <a:t>Reads company records, read-only and scoped to one company (Tier 0)</a:t>
            </a:r>
            <a:endParaRPr lang="en-US" sz="1400" dirty="0"/>
          </a:p>
          <a:p>
            <a:pPr algn="l" marL="169418" indent="-169418">
              <a:lnSpc>
                <a:spcPts val="2002"/>
              </a:lnSpc>
              <a:buSzPct val="100000"/>
              <a:buChar char="•"/>
            </a:pPr>
            <a:r>
              <a:rPr lang="en-US" sz="1400" dirty="0">
                <a:solidFill>
                  <a:srgbClr val="151B2D"/>
                </a:solidFill>
                <a:latin typeface="Inter" pitchFamily="34" charset="0"/>
                <a:ea typeface="Inter" pitchFamily="34" charset="-122"/>
                <a:cs typeface="Inter" pitchFamily="34" charset="-120"/>
              </a:rPr>
              <a:t>Runs forecasts and recovery plans through the deterministic engine (Tier 0)</a:t>
            </a:r>
            <a:endParaRPr lang="en-US" sz="1400" dirty="0"/>
          </a:p>
          <a:p>
            <a:pPr algn="l" marL="169418" indent="-169418">
              <a:lnSpc>
                <a:spcPts val="2002"/>
              </a:lnSpc>
              <a:buSzPct val="100000"/>
              <a:buChar char="•"/>
            </a:pPr>
            <a:r>
              <a:rPr lang="en-US" sz="1400" dirty="0">
                <a:solidFill>
                  <a:srgbClr val="151B2D"/>
                </a:solidFill>
                <a:latin typeface="Inter" pitchFamily="34" charset="0"/>
                <a:ea typeface="Inter" pitchFamily="34" charset="-122"/>
                <a:cs typeface="Inter" pitchFamily="34" charset="-120"/>
              </a:rPr>
              <a:t>Drafts offers, deferral requests and plan summaries, with no side effect (Tier 1)</a:t>
            </a:r>
            <a:endParaRPr lang="en-US" sz="1400" dirty="0"/>
          </a:p>
          <a:p>
            <a:pPr algn="l" marL="169418" indent="-169418">
              <a:lnSpc>
                <a:spcPts val="2002"/>
              </a:lnSpc>
              <a:buSzPct val="100000"/>
              <a:buChar char="•"/>
            </a:pPr>
            <a:r>
              <a:rPr lang="en-US" sz="1400" dirty="0">
                <a:solidFill>
                  <a:srgbClr val="151B2D"/>
                </a:solidFill>
                <a:latin typeface="Inter" pitchFamily="34" charset="0"/>
                <a:ea typeface="Inter" pitchFamily="34" charset="-122"/>
                <a:cs typeface="Inter" pitchFamily="34" charset="-120"/>
              </a:rPr>
              <a:t>Prepares one exact action for owner approval (Tier 2)</a:t>
            </a:r>
            <a:endParaRPr lang="en-US" sz="1400" dirty="0"/>
          </a:p>
          <a:p>
            <a:pPr algn="l" marL="169418" indent="-169418">
              <a:lnSpc>
                <a:spcPts val="2002"/>
              </a:lnSpc>
              <a:buSzPct val="100000"/>
              <a:buChar char="•"/>
            </a:pPr>
            <a:r>
              <a:rPr lang="en-US" sz="1400" dirty="0">
                <a:solidFill>
                  <a:srgbClr val="151B2D"/>
                </a:solidFill>
                <a:latin typeface="Inter" pitchFamily="34" charset="0"/>
                <a:ea typeface="Inter" pitchFamily="34" charset="-122"/>
                <a:cs typeface="Inter" pitchFamily="34" charset="-120"/>
              </a:rPr>
              <a:t>Explains results the engine has already computed</a:t>
            </a:r>
            <a:endParaRPr lang="en-US" sz="1400" dirty="0"/>
          </a:p>
        </p:txBody>
      </p:sp>
      <p:sp>
        <p:nvSpPr>
          <p:cNvPr id="7" name="Shape 5"/>
          <p:cNvSpPr/>
          <p:nvPr/>
        </p:nvSpPr>
        <p:spPr>
          <a:xfrm>
            <a:off x="6197600" y="2035969"/>
            <a:ext cx="5181600" cy="3806031"/>
          </a:xfrm>
          <a:prstGeom prst="roundRect">
            <a:avLst>
              <a:gd name="adj" fmla="val 2669"/>
            </a:avLst>
          </a:prstGeom>
          <a:solidFill>
            <a:srgbClr val="151B2D"/>
          </a:solidFill>
          <a:ln/>
        </p:spPr>
      </p:sp>
      <p:sp>
        <p:nvSpPr>
          <p:cNvPr id="8" name="Shape 6"/>
          <p:cNvSpPr/>
          <p:nvPr/>
        </p:nvSpPr>
        <p:spPr>
          <a:xfrm>
            <a:off x="6451600" y="2315369"/>
            <a:ext cx="4673600" cy="0"/>
          </a:xfrm>
          <a:prstGeom prst="line">
            <a:avLst/>
          </a:prstGeom>
          <a:noFill/>
          <a:ln w="50800">
            <a:solidFill>
              <a:srgbClr val="C6F432"/>
            </a:solidFill>
            <a:prstDash val="solid"/>
          </a:ln>
        </p:spPr>
      </p:sp>
      <p:sp>
        <p:nvSpPr>
          <p:cNvPr id="9" name="Text 7"/>
          <p:cNvSpPr/>
          <p:nvPr/>
        </p:nvSpPr>
        <p:spPr>
          <a:xfrm>
            <a:off x="6451600" y="2442369"/>
            <a:ext cx="4813808" cy="304244"/>
          </a:xfrm>
          <a:prstGeom prst="rect">
            <a:avLst/>
          </a:prstGeom>
          <a:noFill/>
          <a:ln/>
        </p:spPr>
        <p:txBody>
          <a:bodyPr wrap="square" lIns="0" tIns="0" rIns="0" bIns="0" rtlCol="0" anchor="t">
            <a:normAutofit/>
          </a:bodyPr>
          <a:lstStyle/>
          <a:p>
            <a:pPr algn="l" indent="0" marL="0">
              <a:lnSpc>
                <a:spcPts val="2196"/>
              </a:lnSpc>
              <a:buNone/>
            </a:pPr>
            <a:r>
              <a:rPr lang="en-US" sz="1800" b="1" dirty="0">
                <a:solidFill>
                  <a:srgbClr val="F4F7EA"/>
                </a:solidFill>
                <a:latin typeface="Space Grotesk" pitchFamily="34" charset="0"/>
                <a:ea typeface="Space Grotesk" pitchFamily="34" charset="-122"/>
                <a:cs typeface="Space Grotesk" pitchFamily="34" charset="-120"/>
              </a:rPr>
              <a:t>What it does not do</a:t>
            </a:r>
            <a:endParaRPr lang="en-US" sz="1800" dirty="0"/>
          </a:p>
        </p:txBody>
      </p:sp>
      <p:sp>
        <p:nvSpPr>
          <p:cNvPr id="10" name="Text 8"/>
          <p:cNvSpPr/>
          <p:nvPr/>
        </p:nvSpPr>
        <p:spPr>
          <a:xfrm>
            <a:off x="6485382" y="2848214"/>
            <a:ext cx="4773930" cy="2313543"/>
          </a:xfrm>
          <a:prstGeom prst="rect">
            <a:avLst/>
          </a:prstGeom>
          <a:noFill/>
          <a:ln/>
        </p:spPr>
        <p:txBody>
          <a:bodyPr wrap="square" lIns="0" tIns="0" rIns="0" bIns="0" rtlCol="0" anchor="t">
            <a:normAutofit/>
          </a:bodyPr>
          <a:lstStyle/>
          <a:p>
            <a:pPr algn="l" marL="169418" indent="-169418">
              <a:lnSpc>
                <a:spcPts val="2002"/>
              </a:lnSpc>
              <a:buSzPct val="100000"/>
              <a:buChar char="•"/>
            </a:pPr>
            <a:r>
              <a:rPr lang="en-US" sz="1400" dirty="0">
                <a:solidFill>
                  <a:srgbClr val="F4F7EA"/>
                </a:solidFill>
                <a:latin typeface="Inter" pitchFamily="34" charset="0"/>
                <a:ea typeface="Inter" pitchFamily="34" charset="-122"/>
                <a:cs typeface="Inter" pitchFamily="34" charset="-120"/>
              </a:rPr>
              <a:t>Compute, estimate or invent a financial figure</a:t>
            </a:r>
            <a:endParaRPr lang="en-US" sz="1400" dirty="0"/>
          </a:p>
          <a:p>
            <a:pPr algn="l" marL="169418" indent="-169418">
              <a:lnSpc>
                <a:spcPts val="2002"/>
              </a:lnSpc>
              <a:buSzPct val="100000"/>
              <a:buChar char="•"/>
            </a:pPr>
            <a:r>
              <a:rPr lang="en-US" sz="1400" dirty="0">
                <a:solidFill>
                  <a:srgbClr val="F4F7EA"/>
                </a:solidFill>
                <a:latin typeface="Inter" pitchFamily="34" charset="0"/>
                <a:ea typeface="Inter" pitchFamily="34" charset="-122"/>
                <a:cs typeface="Inter" pitchFamily="34" charset="-120"/>
              </a:rPr>
              <a:t>Execute any financial action without a single-use owner approval</a:t>
            </a:r>
            <a:endParaRPr lang="en-US" sz="1400" dirty="0"/>
          </a:p>
          <a:p>
            <a:pPr algn="l" marL="169418" indent="-169418">
              <a:lnSpc>
                <a:spcPts val="2002"/>
              </a:lnSpc>
              <a:buSzPct val="100000"/>
              <a:buChar char="•"/>
            </a:pPr>
            <a:r>
              <a:rPr lang="en-US" sz="1400" dirty="0">
                <a:solidFill>
                  <a:srgbClr val="F4F7EA"/>
                </a:solidFill>
                <a:latin typeface="Inter" pitchFamily="34" charset="0"/>
                <a:ea typeface="Inter" pitchFamily="34" charset="-122"/>
                <a:cs typeface="Inter" pitchFamily="34" charset="-120"/>
              </a:rPr>
              <a:t>Move real money, or connect to a bank, payment rail or mail transport</a:t>
            </a:r>
            <a:endParaRPr lang="en-US" sz="1400" dirty="0"/>
          </a:p>
          <a:p>
            <a:pPr algn="l" marL="169418" indent="-169418">
              <a:lnSpc>
                <a:spcPts val="2002"/>
              </a:lnSpc>
              <a:buSzPct val="100000"/>
              <a:buChar char="•"/>
            </a:pPr>
            <a:r>
              <a:rPr lang="en-US" sz="1400" dirty="0">
                <a:solidFill>
                  <a:srgbClr val="F4F7EA"/>
                </a:solidFill>
                <a:latin typeface="Inter" pitchFamily="34" charset="0"/>
                <a:ea typeface="Inter" pitchFamily="34" charset="-122"/>
                <a:cs typeface="Inter" pitchFamily="34" charset="-120"/>
              </a:rPr>
              <a:t>Change supplier bank details, disable audit logging or export records (Tier 3, prohibited)</a:t>
            </a:r>
            <a:endParaRPr lang="en-US" sz="1400" dirty="0"/>
          </a:p>
          <a:p>
            <a:pPr algn="l" marL="169418" indent="-169418">
              <a:lnSpc>
                <a:spcPts val="2002"/>
              </a:lnSpc>
              <a:buSzPct val="100000"/>
              <a:buChar char="•"/>
            </a:pPr>
            <a:r>
              <a:rPr lang="en-US" sz="1400" dirty="0">
                <a:solidFill>
                  <a:srgbClr val="F4F7EA"/>
                </a:solidFill>
                <a:latin typeface="Inter" pitchFamily="34" charset="0"/>
                <a:ea typeface="Inter" pitchFamily="34" charset="-122"/>
                <a:cs typeface="Inter" pitchFamily="34" charset="-120"/>
              </a:rPr>
              <a:t>Act on its own: it runs from a user request and has no background scheduler</a:t>
            </a:r>
            <a:endParaRPr lang="en-US" sz="1400" dirty="0"/>
          </a:p>
        </p:txBody>
      </p:sp>
      <p:sp>
        <p:nvSpPr>
          <p:cNvPr id="11" name="Text 9"/>
          <p:cNvSpPr/>
          <p:nvPr/>
        </p:nvSpPr>
        <p:spPr>
          <a:xfrm>
            <a:off x="812800" y="6248957"/>
            <a:ext cx="3502724" cy="228044"/>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4A5263"/>
                </a:solidFill>
                <a:latin typeface="Inter" pitchFamily="34" charset="0"/>
                <a:ea typeface="Inter" pitchFamily="34" charset="-122"/>
                <a:cs typeface="Inter" pitchFamily="34" charset="-120"/>
              </a:rPr>
              <a:t>Vantora AI · Topic E · FinTechathon 2026</a:t>
            </a:r>
            <a:endParaRPr lang="en-US" sz="1200" dirty="0"/>
          </a:p>
        </p:txBody>
      </p:sp>
      <p:sp>
        <p:nvSpPr>
          <p:cNvPr id="12" name="Text 10"/>
          <p:cNvSpPr/>
          <p:nvPr/>
        </p:nvSpPr>
        <p:spPr>
          <a:xfrm>
            <a:off x="10911523" y="6248957"/>
            <a:ext cx="467678" cy="228044"/>
          </a:xfrm>
          <a:prstGeom prst="rect">
            <a:avLst/>
          </a:prstGeom>
          <a:noFill/>
          <a:ln/>
        </p:spPr>
        <p:txBody>
          <a:bodyPr wrap="square" lIns="0" tIns="0" rIns="0" bIns="0" rtlCol="0" anchor="t">
            <a:normAutofit/>
          </a:bodyPr>
          <a:lstStyle/>
          <a:p>
            <a:pPr algn="r" indent="0" marL="0">
              <a:lnSpc>
                <a:spcPts val="1596"/>
              </a:lnSpc>
              <a:buNone/>
            </a:pPr>
            <a:r>
              <a:rPr lang="en-US" sz="1200" dirty="0">
                <a:solidFill>
                  <a:srgbClr val="4A5263"/>
                </a:solidFill>
                <a:latin typeface="Inter" pitchFamily="34" charset="0"/>
                <a:ea typeface="Inter" pitchFamily="34" charset="-122"/>
                <a:cs typeface="Inter" pitchFamily="34" charset="-120"/>
              </a:rPr>
              <a:t>3 / 12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43769"/>
          </a:xfrm>
          <a:prstGeom prst="rect">
            <a:avLst/>
          </a:prstGeom>
          <a:noFill/>
          <a:ln/>
        </p:spPr>
        <p:txBody>
          <a:bodyPr wrap="square" lIns="0" tIns="0" rIns="0" bIns="0" rtlCol="0" anchor="t">
            <a:normAutofit/>
          </a:bodyPr>
          <a:lstStyle/>
          <a:p>
            <a:pPr algn="l" indent="0" marL="0">
              <a:lnSpc>
                <a:spcPts val="3616"/>
              </a:lnSpc>
              <a:buNone/>
            </a:pPr>
            <a:r>
              <a:rPr lang="en-US" sz="3200" b="1" i="0" dirty="0">
                <a:solidFill>
                  <a:srgbClr val="151B2D"/>
                </a:solidFill>
                <a:latin typeface="Space Grotesk" pitchFamily="34" charset="0"/>
                <a:ea typeface="Space Grotesk" pitchFamily="34" charset="-122"/>
                <a:cs typeface="Space Grotesk" pitchFamily="34" charset="-120"/>
              </a:rPr>
              <a:t>Topic E: three required capabilities, each mapped to a built module</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995329"/>
          <a:ext cx="10556240" cy="2677795"/>
        </p:xfrm>
        <a:graphic>
          <a:graphicData uri="http://schemas.openxmlformats.org/drawingml/2006/table">
            <a:tbl>
              <a:tblPr/>
              <a:tblGrid>
                <a:gridCol w="2533498"/>
                <a:gridCol w="4539183"/>
                <a:gridCol w="1900123"/>
                <a:gridCol w="1583436"/>
              </a:tblGrid>
              <a:tr h="466804">
                <a:tc>
                  <a:txBody>
                    <a:bodyPr/>
                    <a:lstStyle/>
                    <a:p>
                      <a:pPr indent="0" marL="0">
                        <a:lnSpc>
                          <a:spcPts val="1680"/>
                        </a:lnSpc>
                        <a:buNone/>
                      </a:pPr>
                      <a:r>
                        <a:rPr lang="en-US" sz="1200" b="1" dirty="0">
                          <a:solidFill>
                            <a:srgbClr val="151B2D"/>
                          </a:solidFill>
                          <a:latin typeface="Inter" pitchFamily="34" charset="0"/>
                          <a:ea typeface="Inter" pitchFamily="34" charset="-122"/>
                          <a:cs typeface="Inter" pitchFamily="34" charset="-120"/>
                        </a:rPr>
                        <a:t>Topic E requirement</a:t>
                      </a:r>
                      <a:endParaRPr lang="en-US" sz="1200" dirty="0">
                        <a:latin typeface="Inter" charset="0"/>
                        <a:ea typeface="Inter" charset="0"/>
                        <a:cs typeface="Inter" charset="0"/>
                      </a:endParaRPr>
                    </a:p>
                  </a:txBody>
                  <a:tcPr marL="101600" marR="101600" marT="127000" marB="127000" anchor="t">
                    <a:lnL w="12700" cap="flat" cmpd="sng" algn="ctr">
                      <a:solidFill>
                        <a:srgbClr val="C3C5BB"/>
                      </a:solidFill>
                      <a:prstDash val="solid"/>
                      <a:round/>
                      <a:headEnd type="none" w="med" len="med"/>
                      <a:tailEnd type="none" w="med" len="med"/>
                    </a:lnL>
                    <a:lnR w="12700" cap="flat" cmpd="sng" algn="ctr">
                      <a:solidFill>
                        <a:srgbClr val="B5B7AD"/>
                      </a:solidFill>
                      <a:prstDash val="solid"/>
                      <a:round/>
                      <a:headEnd type="none" w="med" len="med"/>
                      <a:tailEnd type="none" w="med" len="med"/>
                    </a:lnR>
                    <a:lnT w="12700" cap="flat" cmpd="sng" algn="ctr">
                      <a:solidFill>
                        <a:srgbClr val="C3C5BB"/>
                      </a:solidFill>
                      <a:prstDash val="solid"/>
                      <a:round/>
                      <a:headEnd type="none" w="med" len="med"/>
                      <a:tailEnd type="none" w="med" len="med"/>
                    </a:lnT>
                    <a:lnB w="12700" cap="flat" cmpd="sng" algn="ctr">
                      <a:solidFill>
                        <a:srgbClr val="B5B7AD"/>
                      </a:solidFill>
                      <a:prstDash val="solid"/>
                      <a:round/>
                      <a:headEnd type="none" w="med" len="med"/>
                      <a:tailEnd type="none" w="med" len="med"/>
                    </a:lnB>
                    <a:solidFill>
                      <a:srgbClr val="E2E5D9"/>
                    </a:solidFill>
                  </a:tcPr>
                </a:tc>
                <a:tc>
                  <a:txBody>
                    <a:bodyPr/>
                    <a:lstStyle/>
                    <a:p>
                      <a:pPr indent="0" marL="0">
                        <a:lnSpc>
                          <a:spcPts val="1680"/>
                        </a:lnSpc>
                        <a:buNone/>
                      </a:pPr>
                      <a:r>
                        <a:rPr lang="en-US" sz="1200" b="1" dirty="0">
                          <a:solidFill>
                            <a:srgbClr val="151B2D"/>
                          </a:solidFill>
                          <a:latin typeface="Inter" pitchFamily="34" charset="0"/>
                          <a:ea typeface="Inter" pitchFamily="34" charset="-122"/>
                          <a:cs typeface="Inter" pitchFamily="34" charset="-120"/>
                        </a:rPr>
                        <a:t>Implemented feature</a:t>
                      </a:r>
                      <a:endParaRPr lang="en-US" sz="1200" dirty="0">
                        <a:latin typeface="Inter" charset="0"/>
                        <a:ea typeface="Inter" charset="0"/>
                        <a:cs typeface="Inter" charset="0"/>
                      </a:endParaRPr>
                    </a:p>
                  </a:txBody>
                  <a:tcPr marL="101600" marR="101600" marT="127000" marB="127000" anchor="t">
                    <a:lnL w="12700" cap="flat" cmpd="sng" algn="ctr">
                      <a:solidFill>
                        <a:srgbClr val="B5B7AD"/>
                      </a:solidFill>
                      <a:prstDash val="solid"/>
                      <a:round/>
                      <a:headEnd type="none" w="med" len="med"/>
                      <a:tailEnd type="none" w="med" len="med"/>
                    </a:lnL>
                    <a:lnR w="12700" cap="flat" cmpd="sng" algn="ctr">
                      <a:solidFill>
                        <a:srgbClr val="B5B7AD"/>
                      </a:solidFill>
                      <a:prstDash val="solid"/>
                      <a:round/>
                      <a:headEnd type="none" w="med" len="med"/>
                      <a:tailEnd type="none" w="med" len="med"/>
                    </a:lnR>
                    <a:lnT w="12700" cap="flat" cmpd="sng" algn="ctr">
                      <a:solidFill>
                        <a:srgbClr val="C3C5BB"/>
                      </a:solidFill>
                      <a:prstDash val="solid"/>
                      <a:round/>
                      <a:headEnd type="none" w="med" len="med"/>
                      <a:tailEnd type="none" w="med" len="med"/>
                    </a:lnT>
                    <a:lnB w="12700" cap="flat" cmpd="sng" algn="ctr">
                      <a:solidFill>
                        <a:srgbClr val="B5B7AD"/>
                      </a:solidFill>
                      <a:prstDash val="solid"/>
                      <a:round/>
                      <a:headEnd type="none" w="med" len="med"/>
                      <a:tailEnd type="none" w="med" len="med"/>
                    </a:lnB>
                    <a:solidFill>
                      <a:srgbClr val="E2E5D9"/>
                    </a:solidFill>
                  </a:tcPr>
                </a:tc>
                <a:tc>
                  <a:txBody>
                    <a:bodyPr/>
                    <a:lstStyle/>
                    <a:p>
                      <a:pPr indent="0" marL="0">
                        <a:lnSpc>
                          <a:spcPts val="1680"/>
                        </a:lnSpc>
                        <a:buNone/>
                      </a:pPr>
                      <a:r>
                        <a:rPr lang="en-US" sz="1200" b="1" dirty="0">
                          <a:solidFill>
                            <a:srgbClr val="151B2D"/>
                          </a:solidFill>
                          <a:latin typeface="Inter" pitchFamily="34" charset="0"/>
                          <a:ea typeface="Inter" pitchFamily="34" charset="-122"/>
                          <a:cs typeface="Inter" pitchFamily="34" charset="-120"/>
                        </a:rPr>
                        <a:t>Module</a:t>
                      </a:r>
                      <a:endParaRPr lang="en-US" sz="1200" dirty="0">
                        <a:latin typeface="Inter" charset="0"/>
                        <a:ea typeface="Inter" charset="0"/>
                        <a:cs typeface="Inter" charset="0"/>
                      </a:endParaRPr>
                    </a:p>
                  </a:txBody>
                  <a:tcPr marL="101600" marR="101600" marT="127000" marB="127000" anchor="t">
                    <a:lnL w="12700" cap="flat" cmpd="sng" algn="ctr">
                      <a:solidFill>
                        <a:srgbClr val="B5B7AD"/>
                      </a:solidFill>
                      <a:prstDash val="solid"/>
                      <a:round/>
                      <a:headEnd type="none" w="med" len="med"/>
                      <a:tailEnd type="none" w="med" len="med"/>
                    </a:lnL>
                    <a:lnR w="12700" cap="flat" cmpd="sng" algn="ctr">
                      <a:solidFill>
                        <a:srgbClr val="B5B7AD"/>
                      </a:solidFill>
                      <a:prstDash val="solid"/>
                      <a:round/>
                      <a:headEnd type="none" w="med" len="med"/>
                      <a:tailEnd type="none" w="med" len="med"/>
                    </a:lnR>
                    <a:lnT w="12700" cap="flat" cmpd="sng" algn="ctr">
                      <a:solidFill>
                        <a:srgbClr val="C3C5BB"/>
                      </a:solidFill>
                      <a:prstDash val="solid"/>
                      <a:round/>
                      <a:headEnd type="none" w="med" len="med"/>
                      <a:tailEnd type="none" w="med" len="med"/>
                    </a:lnT>
                    <a:lnB w="12700" cap="flat" cmpd="sng" algn="ctr">
                      <a:solidFill>
                        <a:srgbClr val="B5B7AD"/>
                      </a:solidFill>
                      <a:prstDash val="solid"/>
                      <a:round/>
                      <a:headEnd type="none" w="med" len="med"/>
                      <a:tailEnd type="none" w="med" len="med"/>
                    </a:lnB>
                    <a:solidFill>
                      <a:srgbClr val="E2E5D9"/>
                    </a:solidFill>
                  </a:tcPr>
                </a:tc>
                <a:tc>
                  <a:txBody>
                    <a:bodyPr/>
                    <a:lstStyle/>
                    <a:p>
                      <a:pPr indent="0" marL="0">
                        <a:lnSpc>
                          <a:spcPts val="1680"/>
                        </a:lnSpc>
                        <a:buNone/>
                      </a:pPr>
                      <a:r>
                        <a:rPr lang="en-US" sz="1200" b="1" dirty="0">
                          <a:solidFill>
                            <a:srgbClr val="151B2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101600" marR="101600" marT="127000" marB="127000" anchor="t">
                    <a:lnL w="12700" cap="flat" cmpd="sng" algn="ctr">
                      <a:solidFill>
                        <a:srgbClr val="B5B7AD"/>
                      </a:solidFill>
                      <a:prstDash val="solid"/>
                      <a:round/>
                      <a:headEnd type="none" w="med" len="med"/>
                      <a:tailEnd type="none" w="med" len="med"/>
                    </a:lnL>
                    <a:lnR w="12700" cap="flat" cmpd="sng" algn="ctr">
                      <a:solidFill>
                        <a:srgbClr val="B5B7AD"/>
                      </a:solidFill>
                      <a:prstDash val="solid"/>
                      <a:round/>
                      <a:headEnd type="none" w="med" len="med"/>
                      <a:tailEnd type="none" w="med" len="med"/>
                    </a:lnR>
                    <a:lnT w="12700" cap="flat" cmpd="sng" algn="ctr">
                      <a:solidFill>
                        <a:srgbClr val="C3C5BB"/>
                      </a:solidFill>
                      <a:prstDash val="solid"/>
                      <a:round/>
                      <a:headEnd type="none" w="med" len="med"/>
                      <a:tailEnd type="none" w="med" len="med"/>
                    </a:lnT>
                    <a:lnB w="12700" cap="flat" cmpd="sng" algn="ctr">
                      <a:solidFill>
                        <a:srgbClr val="B5B7AD"/>
                      </a:solidFill>
                      <a:prstDash val="solid"/>
                      <a:round/>
                      <a:headEnd type="none" w="med" len="med"/>
                      <a:tailEnd type="none" w="med" len="med"/>
                    </a:lnB>
                    <a:solidFill>
                      <a:srgbClr val="E2E5D9"/>
                    </a:solidFill>
                  </a:tcPr>
                </a:tc>
              </a:tr>
              <a:tr h="669449">
                <a:tc>
                  <a:txBody>
                    <a:bodyPr/>
                    <a:lstStyle/>
                    <a:p>
                      <a:pPr indent="0" marL="0">
                        <a:lnSpc>
                          <a:spcPts val="1680"/>
                        </a:lnSpc>
                        <a:buNone/>
                      </a:pPr>
                      <a:r>
                        <a:rPr lang="en-US" sz="1200" dirty="0">
                          <a:solidFill>
                            <a:srgbClr val="151B2D"/>
                          </a:solidFill>
                          <a:latin typeface="Inter" pitchFamily="34" charset="0"/>
                          <a:ea typeface="Inter" pitchFamily="34" charset="-122"/>
                          <a:cs typeface="Inter" pitchFamily="34" charset="-120"/>
                        </a:rPr>
                        <a:t>Financing-option matching</a:t>
                      </a:r>
                      <a:endParaRPr lang="en-US" sz="1200" dirty="0">
                        <a:latin typeface="Inter" charset="0"/>
                        <a:ea typeface="Inter" charset="0"/>
                        <a:cs typeface="Inter" charset="0"/>
                      </a:endParaRPr>
                    </a:p>
                  </a:txBody>
                  <a:tcPr marL="101600" marR="101600" marT="127000" marB="127000" anchor="t">
                    <a:lnL w="12700" cap="flat" cmpd="sng" algn="ctr">
                      <a:solidFill>
                        <a:srgbClr val="C3C5BB"/>
                      </a:solidFill>
                      <a:prstDash val="solid"/>
                      <a:round/>
                      <a:headEnd type="none" w="med" len="med"/>
                      <a:tailEnd type="none" w="med" len="med"/>
                    </a:lnL>
                    <a:lnR w="12700" cap="flat" cmpd="sng" algn="ctr">
                      <a:solidFill>
                        <a:srgbClr val="C3C5BB"/>
                      </a:solidFill>
                      <a:prstDash val="solid"/>
                      <a:round/>
                      <a:headEnd type="none" w="med" len="med"/>
                      <a:tailEnd type="none" w="med" len="med"/>
                    </a:lnR>
                    <a:lnT w="12700" cap="flat" cmpd="sng" algn="ctr">
                      <a:solidFill>
                        <a:srgbClr val="B5B7AD"/>
                      </a:solidFill>
                      <a:prstDash val="solid"/>
                      <a:round/>
                      <a:headEnd type="none" w="med" len="med"/>
                      <a:tailEnd type="none" w="med" len="med"/>
                    </a:lnT>
                    <a:lnB w="12700" cap="flat" cmpd="sng" algn="ctr">
                      <a:solidFill>
                        <a:srgbClr val="C3C5BB"/>
                      </a:solidFill>
                      <a:prstDash val="solid"/>
                      <a:round/>
                      <a:headEnd type="none" w="med" len="med"/>
                      <a:tailEnd type="none" w="med" len="med"/>
                    </a:lnB>
                  </a:tcPr>
                </a:tc>
                <a:tc>
                  <a:txBody>
                    <a:bodyPr/>
                    <a:lstStyle/>
                    <a:p>
                      <a:pPr indent="0" marL="0">
                        <a:lnSpc>
                          <a:spcPts val="1680"/>
                        </a:lnSpc>
                        <a:buNone/>
                      </a:pPr>
                      <a:r>
                        <a:rPr lang="en-US" sz="1200" dirty="0">
                          <a:solidFill>
                            <a:srgbClr val="151B2D"/>
                          </a:solidFill>
                          <a:latin typeface="Inter" pitchFamily="34" charset="0"/>
                          <a:ea typeface="Inter" pitchFamily="34" charset="-122"/>
                          <a:cs typeface="Inter" pitchFamily="34" charset="-120"/>
                        </a:rPr>
                        <a:t>Three ordered screens (creditworthiness, funding speed, collateral), then ranking by effective APR</a:t>
                      </a:r>
                      <a:endParaRPr lang="en-US" sz="1200" dirty="0">
                        <a:latin typeface="Inter" charset="0"/>
                        <a:ea typeface="Inter" charset="0"/>
                        <a:cs typeface="Inter" charset="0"/>
                      </a:endParaRPr>
                    </a:p>
                  </a:txBody>
                  <a:tcPr marL="101600" marR="101600" marT="127000" marB="127000" anchor="t">
                    <a:lnL w="12700" cap="flat" cmpd="sng" algn="ctr">
                      <a:solidFill>
                        <a:srgbClr val="C3C5BB"/>
                      </a:solidFill>
                      <a:prstDash val="solid"/>
                      <a:round/>
                      <a:headEnd type="none" w="med" len="med"/>
                      <a:tailEnd type="none" w="med" len="med"/>
                    </a:lnL>
                    <a:lnR w="12700" cap="flat" cmpd="sng" algn="ctr">
                      <a:solidFill>
                        <a:srgbClr val="C3C5BB"/>
                      </a:solidFill>
                      <a:prstDash val="solid"/>
                      <a:round/>
                      <a:headEnd type="none" w="med" len="med"/>
                      <a:tailEnd type="none" w="med" len="med"/>
                    </a:lnR>
                    <a:lnT w="12700" cap="flat" cmpd="sng" algn="ctr">
                      <a:solidFill>
                        <a:srgbClr val="B5B7AD"/>
                      </a:solidFill>
                      <a:prstDash val="solid"/>
                      <a:round/>
                      <a:headEnd type="none" w="med" len="med"/>
                      <a:tailEnd type="none" w="med" len="med"/>
                    </a:lnT>
                    <a:lnB w="12700" cap="flat" cmpd="sng" algn="ctr">
                      <a:solidFill>
                        <a:srgbClr val="C3C5BB"/>
                      </a:solidFill>
                      <a:prstDash val="solid"/>
                      <a:round/>
                      <a:headEnd type="none" w="med" len="med"/>
                      <a:tailEnd type="none" w="med" len="med"/>
                    </a:lnB>
                  </a:tcPr>
                </a:tc>
                <a:tc>
                  <a:txBody>
                    <a:bodyPr/>
                    <a:lstStyle/>
                    <a:p>
                      <a:pPr indent="0" marL="0">
                        <a:lnSpc>
                          <a:spcPts val="1680"/>
                        </a:lnSpc>
                        <a:buNone/>
                      </a:pPr>
                      <a:r>
                        <a:rPr lang="en-US" sz="1200" dirty="0">
                          <a:solidFill>
                            <a:srgbClr val="151B2D"/>
                          </a:solidFill>
                          <a:latin typeface="Inter" pitchFamily="34" charset="0"/>
                          <a:ea typeface="Inter" pitchFamily="34" charset="-122"/>
                          <a:cs typeface="Inter" pitchFamily="34" charset="-120"/>
                        </a:rPr>
                        <a:t>financing_ranker.py</a:t>
                      </a:r>
                      <a:endParaRPr lang="en-US" sz="1200" dirty="0">
                        <a:latin typeface="Inter" charset="0"/>
                        <a:ea typeface="Inter" charset="0"/>
                        <a:cs typeface="Inter" charset="0"/>
                      </a:endParaRPr>
                    </a:p>
                  </a:txBody>
                  <a:tcPr marL="101600" marR="101600" marT="127000" marB="127000" anchor="t">
                    <a:lnL w="12700" cap="flat" cmpd="sng" algn="ctr">
                      <a:solidFill>
                        <a:srgbClr val="C3C5BB"/>
                      </a:solidFill>
                      <a:prstDash val="solid"/>
                      <a:round/>
                      <a:headEnd type="none" w="med" len="med"/>
                      <a:tailEnd type="none" w="med" len="med"/>
                    </a:lnL>
                    <a:lnR w="12700" cap="flat" cmpd="sng" algn="ctr">
                      <a:solidFill>
                        <a:srgbClr val="C3C5BB"/>
                      </a:solidFill>
                      <a:prstDash val="solid"/>
                      <a:round/>
                      <a:headEnd type="none" w="med" len="med"/>
                      <a:tailEnd type="none" w="med" len="med"/>
                    </a:lnR>
                    <a:lnT w="12700" cap="flat" cmpd="sng" algn="ctr">
                      <a:solidFill>
                        <a:srgbClr val="B5B7AD"/>
                      </a:solidFill>
                      <a:prstDash val="solid"/>
                      <a:round/>
                      <a:headEnd type="none" w="med" len="med"/>
                      <a:tailEnd type="none" w="med" len="med"/>
                    </a:lnT>
                    <a:lnB w="12700" cap="flat" cmpd="sng" algn="ctr">
                      <a:solidFill>
                        <a:srgbClr val="C3C5BB"/>
                      </a:solidFill>
                      <a:prstDash val="solid"/>
                      <a:round/>
                      <a:headEnd type="none" w="med" len="med"/>
                      <a:tailEnd type="none" w="med" len="med"/>
                    </a:lnB>
                  </a:tcPr>
                </a:tc>
                <a:tc>
                  <a:txBody>
                    <a:bodyPr/>
                    <a:lstStyle/>
                    <a:p>
                      <a:pPr indent="0" marL="0">
                        <a:lnSpc>
                          <a:spcPts val="1680"/>
                        </a:lnSpc>
                        <a:buNone/>
                      </a:pPr>
                      <a:r>
                        <a:rPr lang="en-US" sz="1200" dirty="0">
                          <a:solidFill>
                            <a:srgbClr val="151B2D"/>
                          </a:solidFill>
                          <a:latin typeface="Inter" pitchFamily="34" charset="0"/>
                          <a:ea typeface="Inter" pitchFamily="34" charset="-122"/>
                          <a:cs typeface="Inter" pitchFamily="34" charset="-120"/>
                        </a:rPr>
                        <a:t>Built, sandbox</a:t>
                      </a:r>
                      <a:endParaRPr lang="en-US" sz="1200" dirty="0">
                        <a:latin typeface="Inter" charset="0"/>
                        <a:ea typeface="Inter" charset="0"/>
                        <a:cs typeface="Inter" charset="0"/>
                      </a:endParaRPr>
                    </a:p>
                  </a:txBody>
                  <a:tcPr marL="101600" marR="101600" marT="127000" marB="127000" anchor="t">
                    <a:lnL w="12700" cap="flat" cmpd="sng" algn="ctr">
                      <a:solidFill>
                        <a:srgbClr val="C3C5BB"/>
                      </a:solidFill>
                      <a:prstDash val="solid"/>
                      <a:round/>
                      <a:headEnd type="none" w="med" len="med"/>
                      <a:tailEnd type="none" w="med" len="med"/>
                    </a:lnL>
                    <a:lnR w="12700" cap="flat" cmpd="sng" algn="ctr">
                      <a:solidFill>
                        <a:srgbClr val="C3C5BB"/>
                      </a:solidFill>
                      <a:prstDash val="solid"/>
                      <a:round/>
                      <a:headEnd type="none" w="med" len="med"/>
                      <a:tailEnd type="none" w="med" len="med"/>
                    </a:lnR>
                    <a:lnT w="12700" cap="flat" cmpd="sng" algn="ctr">
                      <a:solidFill>
                        <a:srgbClr val="B5B7AD"/>
                      </a:solidFill>
                      <a:prstDash val="solid"/>
                      <a:round/>
                      <a:headEnd type="none" w="med" len="med"/>
                      <a:tailEnd type="none" w="med" len="med"/>
                    </a:lnT>
                    <a:lnB w="12700" cap="flat" cmpd="sng" algn="ctr">
                      <a:solidFill>
                        <a:srgbClr val="C3C5BB"/>
                      </a:solidFill>
                      <a:prstDash val="solid"/>
                      <a:round/>
                      <a:headEnd type="none" w="med" len="med"/>
                      <a:tailEnd type="none" w="med" len="med"/>
                    </a:lnB>
                  </a:tcPr>
                </a:tc>
              </a:tr>
              <a:tr h="669449">
                <a:tc>
                  <a:txBody>
                    <a:bodyPr/>
                    <a:lstStyle/>
                    <a:p>
                      <a:pPr indent="0" marL="0">
                        <a:lnSpc>
                          <a:spcPts val="1680"/>
                        </a:lnSpc>
                        <a:buNone/>
                      </a:pPr>
                      <a:r>
                        <a:rPr lang="en-US" sz="1200" dirty="0">
                          <a:solidFill>
                            <a:srgbClr val="151B2D"/>
                          </a:solidFill>
                          <a:latin typeface="Inter" pitchFamily="34" charset="0"/>
                          <a:ea typeface="Inter" pitchFamily="34" charset="-122"/>
                          <a:cs typeface="Inter" pitchFamily="34" charset="-120"/>
                        </a:rPr>
                        <a:t>Cash-flow management with alerts</a:t>
                      </a:r>
                      <a:endParaRPr lang="en-US" sz="1200" dirty="0">
                        <a:latin typeface="Inter" charset="0"/>
                        <a:ea typeface="Inter" charset="0"/>
                        <a:cs typeface="Inter" charset="0"/>
                      </a:endParaRPr>
                    </a:p>
                  </a:txBody>
                  <a:tcPr marL="101600" marR="101600" marT="127000" marB="127000" anchor="t">
                    <a:lnL w="12700" cap="flat" cmpd="sng" algn="ctr">
                      <a:solidFill>
                        <a:srgbClr val="C3C5BB"/>
                      </a:solidFill>
                      <a:prstDash val="solid"/>
                      <a:round/>
                      <a:headEnd type="none" w="med" len="med"/>
                      <a:tailEnd type="none" w="med" len="med"/>
                    </a:lnL>
                    <a:lnR w="12700" cap="flat" cmpd="sng" algn="ctr">
                      <a:solidFill>
                        <a:srgbClr val="C3C5BB"/>
                      </a:solidFill>
                      <a:prstDash val="solid"/>
                      <a:round/>
                      <a:headEnd type="none" w="med" len="med"/>
                      <a:tailEnd type="none" w="med" len="med"/>
                    </a:lnR>
                    <a:lnT w="12700" cap="flat" cmpd="sng" algn="ctr">
                      <a:solidFill>
                        <a:srgbClr val="C3C5BB"/>
                      </a:solidFill>
                      <a:prstDash val="solid"/>
                      <a:round/>
                      <a:headEnd type="none" w="med" len="med"/>
                      <a:tailEnd type="none" w="med" len="med"/>
                    </a:lnT>
                    <a:lnB w="12700" cap="flat" cmpd="sng" algn="ctr">
                      <a:solidFill>
                        <a:srgbClr val="C3C5BB"/>
                      </a:solidFill>
                      <a:prstDash val="solid"/>
                      <a:round/>
                      <a:headEnd type="none" w="med" len="med"/>
                      <a:tailEnd type="none" w="med" len="med"/>
                    </a:lnB>
                  </a:tcPr>
                </a:tc>
                <a:tc>
                  <a:txBody>
                    <a:bodyPr/>
                    <a:lstStyle/>
                    <a:p>
                      <a:pPr indent="0" marL="0">
                        <a:lnSpc>
                          <a:spcPts val="1680"/>
                        </a:lnSpc>
                        <a:buNone/>
                      </a:pPr>
                      <a:r>
                        <a:rPr lang="en-US" sz="1200" dirty="0">
                          <a:solidFill>
                            <a:srgbClr val="151B2D"/>
                          </a:solidFill>
                          <a:latin typeface="Inter" pitchFamily="34" charset="0"/>
                          <a:ea typeface="Inter" pitchFamily="34" charset="-122"/>
                          <a:cs typeface="Inter" pitchFamily="34" charset="-120"/>
                        </a:rPr>
                        <a:t>30-day Monte Carlo forecast: first shortfall day, P10 buffer gap, decision day; Radar tab on the dashboard</a:t>
                      </a:r>
                      <a:endParaRPr lang="en-US" sz="1200" dirty="0">
                        <a:latin typeface="Inter" charset="0"/>
                        <a:ea typeface="Inter" charset="0"/>
                        <a:cs typeface="Inter" charset="0"/>
                      </a:endParaRPr>
                    </a:p>
                  </a:txBody>
                  <a:tcPr marL="101600" marR="101600" marT="127000" marB="127000" anchor="t">
                    <a:lnL w="12700" cap="flat" cmpd="sng" algn="ctr">
                      <a:solidFill>
                        <a:srgbClr val="C3C5BB"/>
                      </a:solidFill>
                      <a:prstDash val="solid"/>
                      <a:round/>
                      <a:headEnd type="none" w="med" len="med"/>
                      <a:tailEnd type="none" w="med" len="med"/>
                    </a:lnL>
                    <a:lnR w="12700" cap="flat" cmpd="sng" algn="ctr">
                      <a:solidFill>
                        <a:srgbClr val="C3C5BB"/>
                      </a:solidFill>
                      <a:prstDash val="solid"/>
                      <a:round/>
                      <a:headEnd type="none" w="med" len="med"/>
                      <a:tailEnd type="none" w="med" len="med"/>
                    </a:lnR>
                    <a:lnT w="12700" cap="flat" cmpd="sng" algn="ctr">
                      <a:solidFill>
                        <a:srgbClr val="C3C5BB"/>
                      </a:solidFill>
                      <a:prstDash val="solid"/>
                      <a:round/>
                      <a:headEnd type="none" w="med" len="med"/>
                      <a:tailEnd type="none" w="med" len="med"/>
                    </a:lnT>
                    <a:lnB w="12700" cap="flat" cmpd="sng" algn="ctr">
                      <a:solidFill>
                        <a:srgbClr val="C3C5BB"/>
                      </a:solidFill>
                      <a:prstDash val="solid"/>
                      <a:round/>
                      <a:headEnd type="none" w="med" len="med"/>
                      <a:tailEnd type="none" w="med" len="med"/>
                    </a:lnB>
                  </a:tcPr>
                </a:tc>
                <a:tc>
                  <a:txBody>
                    <a:bodyPr/>
                    <a:lstStyle/>
                    <a:p>
                      <a:pPr indent="0" marL="0">
                        <a:lnSpc>
                          <a:spcPts val="1680"/>
                        </a:lnSpc>
                        <a:buNone/>
                      </a:pPr>
                      <a:r>
                        <a:rPr lang="en-US" sz="1200" dirty="0">
                          <a:solidFill>
                            <a:srgbClr val="151B2D"/>
                          </a:solidFill>
                          <a:latin typeface="Inter" pitchFamily="34" charset="0"/>
                          <a:ea typeface="Inter" pitchFamily="34" charset="-122"/>
                          <a:cs typeface="Inter" pitchFamily="34" charset="-120"/>
                        </a:rPr>
                        <a:t>forecaster.py, Radar tab</a:t>
                      </a:r>
                      <a:endParaRPr lang="en-US" sz="1200" dirty="0">
                        <a:latin typeface="Inter" charset="0"/>
                        <a:ea typeface="Inter" charset="0"/>
                        <a:cs typeface="Inter" charset="0"/>
                      </a:endParaRPr>
                    </a:p>
                  </a:txBody>
                  <a:tcPr marL="101600" marR="101600" marT="127000" marB="127000" anchor="t">
                    <a:lnL w="12700" cap="flat" cmpd="sng" algn="ctr">
                      <a:solidFill>
                        <a:srgbClr val="C3C5BB"/>
                      </a:solidFill>
                      <a:prstDash val="solid"/>
                      <a:round/>
                      <a:headEnd type="none" w="med" len="med"/>
                      <a:tailEnd type="none" w="med" len="med"/>
                    </a:lnL>
                    <a:lnR w="12700" cap="flat" cmpd="sng" algn="ctr">
                      <a:solidFill>
                        <a:srgbClr val="C3C5BB"/>
                      </a:solidFill>
                      <a:prstDash val="solid"/>
                      <a:round/>
                      <a:headEnd type="none" w="med" len="med"/>
                      <a:tailEnd type="none" w="med" len="med"/>
                    </a:lnR>
                    <a:lnT w="12700" cap="flat" cmpd="sng" algn="ctr">
                      <a:solidFill>
                        <a:srgbClr val="C3C5BB"/>
                      </a:solidFill>
                      <a:prstDash val="solid"/>
                      <a:round/>
                      <a:headEnd type="none" w="med" len="med"/>
                      <a:tailEnd type="none" w="med" len="med"/>
                    </a:lnT>
                    <a:lnB w="12700" cap="flat" cmpd="sng" algn="ctr">
                      <a:solidFill>
                        <a:srgbClr val="C3C5BB"/>
                      </a:solidFill>
                      <a:prstDash val="solid"/>
                      <a:round/>
                      <a:headEnd type="none" w="med" len="med"/>
                      <a:tailEnd type="none" w="med" len="med"/>
                    </a:lnB>
                  </a:tcPr>
                </a:tc>
                <a:tc>
                  <a:txBody>
                    <a:bodyPr/>
                    <a:lstStyle/>
                    <a:p>
                      <a:pPr indent="0" marL="0">
                        <a:lnSpc>
                          <a:spcPts val="1680"/>
                        </a:lnSpc>
                        <a:buNone/>
                      </a:pPr>
                      <a:r>
                        <a:rPr lang="en-US" sz="1200" dirty="0">
                          <a:solidFill>
                            <a:srgbClr val="151B2D"/>
                          </a:solidFill>
                          <a:latin typeface="Inter" pitchFamily="34" charset="0"/>
                          <a:ea typeface="Inter" pitchFamily="34" charset="-122"/>
                          <a:cs typeface="Inter" pitchFamily="34" charset="-120"/>
                        </a:rPr>
                        <a:t>Forecast built; alerts TBD</a:t>
                      </a:r>
                      <a:endParaRPr lang="en-US" sz="1200" dirty="0">
                        <a:latin typeface="Inter" charset="0"/>
                        <a:ea typeface="Inter" charset="0"/>
                        <a:cs typeface="Inter" charset="0"/>
                      </a:endParaRPr>
                    </a:p>
                  </a:txBody>
                  <a:tcPr marL="101600" marR="101600" marT="127000" marB="127000" anchor="t">
                    <a:lnL w="12700" cap="flat" cmpd="sng" algn="ctr">
                      <a:solidFill>
                        <a:srgbClr val="C3C5BB"/>
                      </a:solidFill>
                      <a:prstDash val="solid"/>
                      <a:round/>
                      <a:headEnd type="none" w="med" len="med"/>
                      <a:tailEnd type="none" w="med" len="med"/>
                    </a:lnL>
                    <a:lnR w="12700" cap="flat" cmpd="sng" algn="ctr">
                      <a:solidFill>
                        <a:srgbClr val="C3C5BB"/>
                      </a:solidFill>
                      <a:prstDash val="solid"/>
                      <a:round/>
                      <a:headEnd type="none" w="med" len="med"/>
                      <a:tailEnd type="none" w="med" len="med"/>
                    </a:lnR>
                    <a:lnT w="12700" cap="flat" cmpd="sng" algn="ctr">
                      <a:solidFill>
                        <a:srgbClr val="C3C5BB"/>
                      </a:solidFill>
                      <a:prstDash val="solid"/>
                      <a:round/>
                      <a:headEnd type="none" w="med" len="med"/>
                      <a:tailEnd type="none" w="med" len="med"/>
                    </a:lnT>
                    <a:lnB w="12700" cap="flat" cmpd="sng" algn="ctr">
                      <a:solidFill>
                        <a:srgbClr val="C3C5BB"/>
                      </a:solidFill>
                      <a:prstDash val="solid"/>
                      <a:round/>
                      <a:headEnd type="none" w="med" len="med"/>
                      <a:tailEnd type="none" w="med" len="med"/>
                    </a:lnB>
                  </a:tcPr>
                </a:tc>
              </a:tr>
              <a:tr h="872093">
                <a:tc>
                  <a:txBody>
                    <a:bodyPr/>
                    <a:lstStyle/>
                    <a:p>
                      <a:pPr indent="0" marL="0">
                        <a:lnSpc>
                          <a:spcPts val="1680"/>
                        </a:lnSpc>
                        <a:buNone/>
                      </a:pPr>
                      <a:r>
                        <a:rPr lang="en-US" sz="1200" dirty="0">
                          <a:solidFill>
                            <a:srgbClr val="151B2D"/>
                          </a:solidFill>
                          <a:latin typeface="Inter" pitchFamily="34" charset="0"/>
                          <a:ea typeface="Inter" pitchFamily="34" charset="-122"/>
                          <a:cs typeface="Inter" pitchFamily="34" charset="-120"/>
                        </a:rPr>
                        <a:t>Business financial analysis</a:t>
                      </a:r>
                      <a:endParaRPr lang="en-US" sz="1200" dirty="0">
                        <a:latin typeface="Inter" charset="0"/>
                        <a:ea typeface="Inter" charset="0"/>
                        <a:cs typeface="Inter" charset="0"/>
                      </a:endParaRPr>
                    </a:p>
                  </a:txBody>
                  <a:tcPr marL="101600" marR="101600" marT="127000" marB="127000" anchor="t">
                    <a:lnL w="12700" cap="flat" cmpd="sng" algn="ctr">
                      <a:solidFill>
                        <a:srgbClr val="C3C5BB"/>
                      </a:solidFill>
                      <a:prstDash val="solid"/>
                      <a:round/>
                      <a:headEnd type="none" w="med" len="med"/>
                      <a:tailEnd type="none" w="med" len="med"/>
                    </a:lnL>
                    <a:lnR w="12700" cap="flat" cmpd="sng" algn="ctr">
                      <a:solidFill>
                        <a:srgbClr val="C3C5BB"/>
                      </a:solidFill>
                      <a:prstDash val="solid"/>
                      <a:round/>
                      <a:headEnd type="none" w="med" len="med"/>
                      <a:tailEnd type="none" w="med" len="med"/>
                    </a:lnR>
                    <a:lnT w="12700" cap="flat" cmpd="sng" algn="ctr">
                      <a:solidFill>
                        <a:srgbClr val="C3C5BB"/>
                      </a:solidFill>
                      <a:prstDash val="solid"/>
                      <a:round/>
                      <a:headEnd type="none" w="med" len="med"/>
                      <a:tailEnd type="none" w="med" len="med"/>
                    </a:lnT>
                    <a:lnB w="12700" cap="flat" cmpd="sng" algn="ctr">
                      <a:solidFill>
                        <a:srgbClr val="C3C5BB"/>
                      </a:solidFill>
                      <a:prstDash val="solid"/>
                      <a:round/>
                      <a:headEnd type="none" w="med" len="med"/>
                      <a:tailEnd type="none" w="med" len="med"/>
                    </a:lnB>
                  </a:tcPr>
                </a:tc>
                <a:tc>
                  <a:txBody>
                    <a:bodyPr/>
                    <a:lstStyle/>
                    <a:p>
                      <a:pPr indent="0" marL="0">
                        <a:lnSpc>
                          <a:spcPts val="1680"/>
                        </a:lnSpc>
                        <a:buNone/>
                      </a:pPr>
                      <a:r>
                        <a:rPr lang="en-US" sz="1200" dirty="0">
                          <a:solidFill>
                            <a:srgbClr val="151B2D"/>
                          </a:solidFill>
                          <a:latin typeface="Inter" pitchFamily="34" charset="0"/>
                          <a:ea typeface="Inter" pitchFamily="34" charset="-122"/>
                          <a:cs typeface="Inter" pitchFamily="34" charset="-120"/>
                        </a:rPr>
                        <a:t>Ledger-derived state (accounts, receivables, payables, facilities) and recovery optimiser with two counterfactual baselines</a:t>
                      </a:r>
                      <a:endParaRPr lang="en-US" sz="1200" dirty="0">
                        <a:latin typeface="Inter" charset="0"/>
                        <a:ea typeface="Inter" charset="0"/>
                        <a:cs typeface="Inter" charset="0"/>
                      </a:endParaRPr>
                    </a:p>
                  </a:txBody>
                  <a:tcPr marL="101600" marR="101600" marT="127000" marB="127000" anchor="t">
                    <a:lnL w="12700" cap="flat" cmpd="sng" algn="ctr">
                      <a:solidFill>
                        <a:srgbClr val="C3C5BB"/>
                      </a:solidFill>
                      <a:prstDash val="solid"/>
                      <a:round/>
                      <a:headEnd type="none" w="med" len="med"/>
                      <a:tailEnd type="none" w="med" len="med"/>
                    </a:lnL>
                    <a:lnR w="12700" cap="flat" cmpd="sng" algn="ctr">
                      <a:solidFill>
                        <a:srgbClr val="C3C5BB"/>
                      </a:solidFill>
                      <a:prstDash val="solid"/>
                      <a:round/>
                      <a:headEnd type="none" w="med" len="med"/>
                      <a:tailEnd type="none" w="med" len="med"/>
                    </a:lnR>
                    <a:lnT w="12700" cap="flat" cmpd="sng" algn="ctr">
                      <a:solidFill>
                        <a:srgbClr val="C3C5BB"/>
                      </a:solidFill>
                      <a:prstDash val="solid"/>
                      <a:round/>
                      <a:headEnd type="none" w="med" len="med"/>
                      <a:tailEnd type="none" w="med" len="med"/>
                    </a:lnT>
                    <a:lnB w="12700" cap="flat" cmpd="sng" algn="ctr">
                      <a:solidFill>
                        <a:srgbClr val="C3C5BB"/>
                      </a:solidFill>
                      <a:prstDash val="solid"/>
                      <a:round/>
                      <a:headEnd type="none" w="med" len="med"/>
                      <a:tailEnd type="none" w="med" len="med"/>
                    </a:lnB>
                  </a:tcPr>
                </a:tc>
                <a:tc>
                  <a:txBody>
                    <a:bodyPr/>
                    <a:lstStyle/>
                    <a:p>
                      <a:pPr indent="0" marL="0">
                        <a:lnSpc>
                          <a:spcPts val="1680"/>
                        </a:lnSpc>
                        <a:buNone/>
                      </a:pPr>
                      <a:r>
                        <a:rPr lang="en-US" sz="1200" dirty="0">
                          <a:solidFill>
                            <a:srgbClr val="151B2D"/>
                          </a:solidFill>
                          <a:latin typeface="Inter" pitchFamily="34" charset="0"/>
                          <a:ea typeface="Inter" pitchFamily="34" charset="-122"/>
                          <a:cs typeface="Inter" pitchFamily="34" charset="-120"/>
                        </a:rPr>
                        <a:t>company-state.ts, optimizer.py</a:t>
                      </a:r>
                      <a:endParaRPr lang="en-US" sz="1200" dirty="0">
                        <a:latin typeface="Inter" charset="0"/>
                        <a:ea typeface="Inter" charset="0"/>
                        <a:cs typeface="Inter" charset="0"/>
                      </a:endParaRPr>
                    </a:p>
                  </a:txBody>
                  <a:tcPr marL="101600" marR="101600" marT="127000" marB="127000" anchor="t">
                    <a:lnL w="12700" cap="flat" cmpd="sng" algn="ctr">
                      <a:solidFill>
                        <a:srgbClr val="C3C5BB"/>
                      </a:solidFill>
                      <a:prstDash val="solid"/>
                      <a:round/>
                      <a:headEnd type="none" w="med" len="med"/>
                      <a:tailEnd type="none" w="med" len="med"/>
                    </a:lnL>
                    <a:lnR w="12700" cap="flat" cmpd="sng" algn="ctr">
                      <a:solidFill>
                        <a:srgbClr val="C3C5BB"/>
                      </a:solidFill>
                      <a:prstDash val="solid"/>
                      <a:round/>
                      <a:headEnd type="none" w="med" len="med"/>
                      <a:tailEnd type="none" w="med" len="med"/>
                    </a:lnR>
                    <a:lnT w="12700" cap="flat" cmpd="sng" algn="ctr">
                      <a:solidFill>
                        <a:srgbClr val="C3C5BB"/>
                      </a:solidFill>
                      <a:prstDash val="solid"/>
                      <a:round/>
                      <a:headEnd type="none" w="med" len="med"/>
                      <a:tailEnd type="none" w="med" len="med"/>
                    </a:lnT>
                    <a:lnB w="12700" cap="flat" cmpd="sng" algn="ctr">
                      <a:solidFill>
                        <a:srgbClr val="C3C5BB"/>
                      </a:solidFill>
                      <a:prstDash val="solid"/>
                      <a:round/>
                      <a:headEnd type="none" w="med" len="med"/>
                      <a:tailEnd type="none" w="med" len="med"/>
                    </a:lnB>
                  </a:tcPr>
                </a:tc>
                <a:tc>
                  <a:txBody>
                    <a:bodyPr/>
                    <a:lstStyle/>
                    <a:p>
                      <a:pPr indent="0" marL="0">
                        <a:lnSpc>
                          <a:spcPts val="1680"/>
                        </a:lnSpc>
                        <a:buNone/>
                      </a:pPr>
                      <a:r>
                        <a:rPr lang="en-US" sz="1200" dirty="0">
                          <a:solidFill>
                            <a:srgbClr val="151B2D"/>
                          </a:solidFill>
                          <a:latin typeface="Inter" pitchFamily="34" charset="0"/>
                          <a:ea typeface="Inter" pitchFamily="34" charset="-122"/>
                          <a:cs typeface="Inter" pitchFamily="34" charset="-120"/>
                        </a:rPr>
                        <a:t>Built, sandbox</a:t>
                      </a:r>
                      <a:endParaRPr lang="en-US" sz="1200" dirty="0">
                        <a:latin typeface="Inter" charset="0"/>
                        <a:ea typeface="Inter" charset="0"/>
                        <a:cs typeface="Inter" charset="0"/>
                      </a:endParaRPr>
                    </a:p>
                  </a:txBody>
                  <a:tcPr marL="101600" marR="101600" marT="127000" marB="127000" anchor="t">
                    <a:lnL w="12700" cap="flat" cmpd="sng" algn="ctr">
                      <a:solidFill>
                        <a:srgbClr val="C3C5BB"/>
                      </a:solidFill>
                      <a:prstDash val="solid"/>
                      <a:round/>
                      <a:headEnd type="none" w="med" len="med"/>
                      <a:tailEnd type="none" w="med" len="med"/>
                    </a:lnL>
                    <a:lnR w="12700" cap="flat" cmpd="sng" algn="ctr">
                      <a:solidFill>
                        <a:srgbClr val="C3C5BB"/>
                      </a:solidFill>
                      <a:prstDash val="solid"/>
                      <a:round/>
                      <a:headEnd type="none" w="med" len="med"/>
                      <a:tailEnd type="none" w="med" len="med"/>
                    </a:lnR>
                    <a:lnT w="12700" cap="flat" cmpd="sng" algn="ctr">
                      <a:solidFill>
                        <a:srgbClr val="C3C5BB"/>
                      </a:solidFill>
                      <a:prstDash val="solid"/>
                      <a:round/>
                      <a:headEnd type="none" w="med" len="med"/>
                      <a:tailEnd type="none" w="med" len="med"/>
                    </a:lnT>
                    <a:lnB w="12700" cap="flat" cmpd="sng" algn="ctr">
                      <a:solidFill>
                        <a:srgbClr val="C3C5BB"/>
                      </a:solidFill>
                      <a:prstDash val="solid"/>
                      <a:round/>
                      <a:headEnd type="none" w="med" len="med"/>
                      <a:tailEnd type="none" w="med" len="med"/>
                    </a:lnB>
                  </a:tcPr>
                </a:tc>
              </a:tr>
            </a:tbl>
          </a:graphicData>
        </a:graphic>
      </p:graphicFrame>
      <p:sp>
        <p:nvSpPr>
          <p:cNvPr id="4" name="Text 1"/>
          <p:cNvSpPr/>
          <p:nvPr/>
        </p:nvSpPr>
        <p:spPr>
          <a:xfrm>
            <a:off x="812800" y="4927124"/>
            <a:ext cx="11379200" cy="228044"/>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4A5263"/>
                </a:solidFill>
                <a:latin typeface="Inter" pitchFamily="34" charset="0"/>
                <a:ea typeface="Inter" pitchFamily="34" charset="-122"/>
                <a:cs typeface="Inter" pitchFamily="34" charset="-120"/>
              </a:rPr>
              <a:t>Built means described in the technical document with a named module. Not independently re-run for this deck. Real bank integration is not built.</a:t>
            </a:r>
            <a:endParaRPr lang="en-US" sz="1200" dirty="0"/>
          </a:p>
        </p:txBody>
      </p:sp>
      <p:sp>
        <p:nvSpPr>
          <p:cNvPr id="5" name="Text 2"/>
          <p:cNvSpPr/>
          <p:nvPr/>
        </p:nvSpPr>
        <p:spPr>
          <a:xfrm>
            <a:off x="812800" y="6248955"/>
            <a:ext cx="3502724" cy="228044"/>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4A5263"/>
                </a:solidFill>
                <a:latin typeface="Inter" pitchFamily="34" charset="0"/>
                <a:ea typeface="Inter" pitchFamily="34" charset="-122"/>
                <a:cs typeface="Inter" pitchFamily="34" charset="-120"/>
              </a:rPr>
              <a:t>Vantora AI · Topic E · FinTechathon 2026</a:t>
            </a:r>
            <a:endParaRPr lang="en-US" sz="1200" dirty="0"/>
          </a:p>
        </p:txBody>
      </p:sp>
      <p:sp>
        <p:nvSpPr>
          <p:cNvPr id="6" name="Text 3"/>
          <p:cNvSpPr/>
          <p:nvPr/>
        </p:nvSpPr>
        <p:spPr>
          <a:xfrm>
            <a:off x="10906284" y="6248955"/>
            <a:ext cx="472916" cy="228044"/>
          </a:xfrm>
          <a:prstGeom prst="rect">
            <a:avLst/>
          </a:prstGeom>
          <a:noFill/>
          <a:ln/>
        </p:spPr>
        <p:txBody>
          <a:bodyPr wrap="square" lIns="0" tIns="0" rIns="0" bIns="0" rtlCol="0" anchor="t">
            <a:normAutofit/>
          </a:bodyPr>
          <a:lstStyle/>
          <a:p>
            <a:pPr algn="r" indent="0" marL="0">
              <a:lnSpc>
                <a:spcPts val="1596"/>
              </a:lnSpc>
              <a:buNone/>
            </a:pPr>
            <a:r>
              <a:rPr lang="en-US" sz="1200" dirty="0">
                <a:solidFill>
                  <a:srgbClr val="4A5263"/>
                </a:solidFill>
                <a:latin typeface="Inter" pitchFamily="34" charset="0"/>
                <a:ea typeface="Inter" pitchFamily="34" charset="-122"/>
                <a:cs typeface="Inter" pitchFamily="34" charset="-120"/>
              </a:rPr>
              <a:t>4 / 12</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43769"/>
          </a:xfrm>
          <a:prstGeom prst="rect">
            <a:avLst/>
          </a:prstGeom>
          <a:noFill/>
          <a:ln/>
        </p:spPr>
        <p:txBody>
          <a:bodyPr wrap="square" lIns="0" tIns="0" rIns="0" bIns="0" rtlCol="0" anchor="t">
            <a:normAutofit/>
          </a:bodyPr>
          <a:lstStyle/>
          <a:p>
            <a:pPr algn="l" indent="0" marL="0">
              <a:lnSpc>
                <a:spcPts val="3616"/>
              </a:lnSpc>
              <a:buNone/>
            </a:pPr>
            <a:r>
              <a:rPr lang="en-US" sz="3200" b="1" i="0" dirty="0">
                <a:solidFill>
                  <a:srgbClr val="151B2D"/>
                </a:solidFill>
                <a:latin typeface="Space Grotesk" pitchFamily="34" charset="0"/>
                <a:ea typeface="Space Grotesk" pitchFamily="34" charset="-122"/>
                <a:cs typeface="Space Grotesk" pitchFamily="34" charset="-120"/>
              </a:rPr>
              <a:t>Five planes; only the quantitative plane originates figures</a:t>
            </a:r>
            <a:endParaRPr lang="en-US" sz="3200" dirty="0"/>
          </a:p>
        </p:txBody>
      </p:sp>
      <p:sp>
        <p:nvSpPr>
          <p:cNvPr id="3" name="Shape 1"/>
          <p:cNvSpPr/>
          <p:nvPr/>
        </p:nvSpPr>
        <p:spPr>
          <a:xfrm>
            <a:off x="812800" y="2035969"/>
            <a:ext cx="1813877" cy="1739106"/>
          </a:xfrm>
          <a:prstGeom prst="roundRect">
            <a:avLst>
              <a:gd name="adj" fmla="val 5842"/>
            </a:avLst>
          </a:prstGeom>
          <a:solidFill>
            <a:srgbClr val="FFFFFF"/>
          </a:solidFill>
          <a:ln/>
        </p:spPr>
      </p:sp>
      <p:sp>
        <p:nvSpPr>
          <p:cNvPr id="4" name="Shape 2"/>
          <p:cNvSpPr/>
          <p:nvPr/>
        </p:nvSpPr>
        <p:spPr>
          <a:xfrm>
            <a:off x="812800" y="2035969"/>
            <a:ext cx="1813877" cy="1739106"/>
          </a:xfrm>
          <a:custGeom>
            <a:avLst/>
            <a:gdLst/>
            <a:ahLst/>
            <a:cxnLst/>
            <a:rect l="l" t="t" r="r" b="b"/>
            <a:pathLst>
              <a:path w="1813877" h="1739106">
                <a:moveTo>
                  <a:pt x="0" y="101600"/>
                </a:moveTo>
                <a:lnTo>
                  <a:pt x="0" y="101600"/>
                </a:lnTo>
                <a:arcTo hR="101600" wR="101600" stAng="10800000" swAng="5400000"/>
                <a:lnTo>
                  <a:pt x="1712277" y="0"/>
                </a:lnTo>
                <a:arcTo hR="101600" wR="101600" stAng="16200000" swAng="5400000"/>
                <a:lnTo>
                  <a:pt x="1813877" y="101600"/>
                </a:lnTo>
                <a:arcTo hR="50800" wR="101600" stAng="0" swAng="-5400000"/>
                <a:lnTo>
                  <a:pt x="101600" y="50800"/>
                </a:lnTo>
                <a:arcTo hR="50800" wR="101600" stAng="16200000" swAng="-5400000"/>
                <a:close/>
              </a:path>
            </a:pathLst>
          </a:custGeom>
          <a:solidFill>
            <a:srgbClr val="151B2D"/>
          </a:solidFill>
          <a:ln/>
        </p:spPr>
      </p:sp>
      <p:sp>
        <p:nvSpPr>
          <p:cNvPr id="5" name="Text 3"/>
          <p:cNvSpPr/>
          <p:nvPr/>
        </p:nvSpPr>
        <p:spPr>
          <a:xfrm>
            <a:off x="990600" y="2264569"/>
            <a:ext cx="1509078" cy="254714"/>
          </a:xfrm>
          <a:prstGeom prst="rect">
            <a:avLst/>
          </a:prstGeom>
          <a:noFill/>
          <a:ln/>
        </p:spPr>
        <p:txBody>
          <a:bodyPr wrap="square" lIns="0" tIns="0" rIns="0" bIns="0" rtlCol="0" anchor="t">
            <a:normAutofit/>
          </a:bodyPr>
          <a:lstStyle/>
          <a:p>
            <a:pPr algn="l" indent="0" marL="0">
              <a:lnSpc>
                <a:spcPts val="1806"/>
              </a:lnSpc>
              <a:buNone/>
            </a:pPr>
            <a:r>
              <a:rPr lang="en-US" sz="1400" b="1" dirty="0">
                <a:solidFill>
                  <a:srgbClr val="151B2D"/>
                </a:solidFill>
                <a:latin typeface="Space Grotesk" pitchFamily="34" charset="0"/>
                <a:ea typeface="Space Grotesk" pitchFamily="34" charset="-122"/>
                <a:cs typeface="Space Grotesk" pitchFamily="34" charset="-120"/>
              </a:rPr>
              <a:t>Dashboard</a:t>
            </a:r>
            <a:endParaRPr lang="en-US" sz="1400" dirty="0"/>
          </a:p>
        </p:txBody>
      </p:sp>
      <p:sp>
        <p:nvSpPr>
          <p:cNvPr id="6" name="Text 4"/>
          <p:cNvSpPr/>
          <p:nvPr/>
        </p:nvSpPr>
        <p:spPr>
          <a:xfrm>
            <a:off x="990600" y="2557385"/>
            <a:ext cx="1509078" cy="633333"/>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4A5263"/>
                </a:solidFill>
                <a:latin typeface="Inter" pitchFamily="34" charset="0"/>
                <a:ea typeface="Inter" pitchFamily="34" charset="-122"/>
                <a:cs typeface="Inter" pitchFamily="34" charset="-120"/>
              </a:rPr>
              <a:t>Next.js 16 · Radar, Optimizer, Action Center, Ledger</a:t>
            </a:r>
            <a:endParaRPr lang="en-US" sz="1200" dirty="0"/>
          </a:p>
        </p:txBody>
      </p:sp>
      <p:sp>
        <p:nvSpPr>
          <p:cNvPr id="7" name="Text 5"/>
          <p:cNvSpPr/>
          <p:nvPr/>
        </p:nvSpPr>
        <p:spPr>
          <a:xfrm>
            <a:off x="2702877" y="2778680"/>
            <a:ext cx="279400" cy="279083"/>
          </a:xfrm>
          <a:prstGeom prst="rect">
            <a:avLst/>
          </a:prstGeom>
          <a:noFill/>
          <a:ln/>
        </p:spPr>
        <p:txBody>
          <a:bodyPr wrap="square" lIns="0" tIns="0" rIns="0" bIns="0" rtlCol="0" anchor="t">
            <a:normAutofit/>
          </a:bodyPr>
          <a:lstStyle/>
          <a:p>
            <a:pPr algn="l" indent="0" marL="0">
              <a:lnSpc>
                <a:spcPts val="1998"/>
              </a:lnSpc>
              <a:buNone/>
            </a:pPr>
            <a:r>
              <a:rPr lang="en-US" sz="1800" dirty="0">
                <a:solidFill>
                  <a:srgbClr val="151B2D"/>
                </a:solidFill>
                <a:latin typeface="Inter" pitchFamily="34" charset="0"/>
                <a:ea typeface="Inter" pitchFamily="34" charset="-122"/>
                <a:cs typeface="Inter" pitchFamily="34" charset="-120"/>
              </a:rPr>
              <a:t>→</a:t>
            </a:r>
            <a:endParaRPr lang="en-US" sz="1800" dirty="0"/>
          </a:p>
        </p:txBody>
      </p:sp>
      <p:sp>
        <p:nvSpPr>
          <p:cNvPr id="8" name="Shape 6"/>
          <p:cNvSpPr/>
          <p:nvPr/>
        </p:nvSpPr>
        <p:spPr>
          <a:xfrm>
            <a:off x="3007677" y="2035969"/>
            <a:ext cx="1813877" cy="1739106"/>
          </a:xfrm>
          <a:prstGeom prst="roundRect">
            <a:avLst>
              <a:gd name="adj" fmla="val 5842"/>
            </a:avLst>
          </a:prstGeom>
          <a:solidFill>
            <a:srgbClr val="FFFFFF"/>
          </a:solidFill>
          <a:ln/>
        </p:spPr>
      </p:sp>
      <p:sp>
        <p:nvSpPr>
          <p:cNvPr id="9" name="Shape 7"/>
          <p:cNvSpPr/>
          <p:nvPr/>
        </p:nvSpPr>
        <p:spPr>
          <a:xfrm>
            <a:off x="3007677" y="2035969"/>
            <a:ext cx="1813877" cy="1739106"/>
          </a:xfrm>
          <a:custGeom>
            <a:avLst/>
            <a:gdLst/>
            <a:ahLst/>
            <a:cxnLst/>
            <a:rect l="l" t="t" r="r" b="b"/>
            <a:pathLst>
              <a:path w="1813877" h="1739106">
                <a:moveTo>
                  <a:pt x="0" y="101600"/>
                </a:moveTo>
                <a:lnTo>
                  <a:pt x="0" y="101600"/>
                </a:lnTo>
                <a:arcTo hR="101600" wR="101600" stAng="10800000" swAng="5400000"/>
                <a:lnTo>
                  <a:pt x="1712277" y="0"/>
                </a:lnTo>
                <a:arcTo hR="101600" wR="101600" stAng="16200000" swAng="5400000"/>
                <a:lnTo>
                  <a:pt x="1813877" y="101600"/>
                </a:lnTo>
                <a:arcTo hR="50800" wR="101600" stAng="0" swAng="-5400000"/>
                <a:lnTo>
                  <a:pt x="101600" y="50800"/>
                </a:lnTo>
                <a:arcTo hR="50800" wR="101600" stAng="16200000" swAng="-5400000"/>
                <a:close/>
              </a:path>
            </a:pathLst>
          </a:custGeom>
          <a:solidFill>
            <a:srgbClr val="151B2D"/>
          </a:solidFill>
          <a:ln/>
        </p:spPr>
      </p:sp>
      <p:sp>
        <p:nvSpPr>
          <p:cNvPr id="10" name="Text 8"/>
          <p:cNvSpPr/>
          <p:nvPr/>
        </p:nvSpPr>
        <p:spPr>
          <a:xfrm>
            <a:off x="3185477" y="2264569"/>
            <a:ext cx="1509078" cy="254714"/>
          </a:xfrm>
          <a:prstGeom prst="rect">
            <a:avLst/>
          </a:prstGeom>
          <a:noFill/>
          <a:ln/>
        </p:spPr>
        <p:txBody>
          <a:bodyPr wrap="square" lIns="0" tIns="0" rIns="0" bIns="0" rtlCol="0" anchor="t">
            <a:normAutofit/>
          </a:bodyPr>
          <a:lstStyle/>
          <a:p>
            <a:pPr algn="l" indent="0" marL="0">
              <a:lnSpc>
                <a:spcPts val="1806"/>
              </a:lnSpc>
              <a:buNone/>
            </a:pPr>
            <a:r>
              <a:rPr lang="en-US" sz="1400" b="1" dirty="0">
                <a:solidFill>
                  <a:srgbClr val="151B2D"/>
                </a:solidFill>
                <a:latin typeface="Space Grotesk" pitchFamily="34" charset="0"/>
                <a:ea typeface="Space Grotesk" pitchFamily="34" charset="-122"/>
                <a:cs typeface="Space Grotesk" pitchFamily="34" charset="-120"/>
              </a:rPr>
              <a:t>AI orchestration</a:t>
            </a:r>
            <a:endParaRPr lang="en-US" sz="1400" dirty="0"/>
          </a:p>
        </p:txBody>
      </p:sp>
      <p:sp>
        <p:nvSpPr>
          <p:cNvPr id="11" name="Text 9"/>
          <p:cNvSpPr/>
          <p:nvPr/>
        </p:nvSpPr>
        <p:spPr>
          <a:xfrm>
            <a:off x="3185477" y="2557385"/>
            <a:ext cx="1509078" cy="633333"/>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4A5263"/>
                </a:solidFill>
                <a:latin typeface="Inter" pitchFamily="34" charset="0"/>
                <a:ea typeface="Inter" pitchFamily="34" charset="-122"/>
                <a:cs typeface="Inter" pitchFamily="34" charset="-120"/>
              </a:rPr>
              <a:t>Function calls · 10 gated tools · bounded tool loop</a:t>
            </a:r>
            <a:endParaRPr lang="en-US" sz="1200" dirty="0"/>
          </a:p>
        </p:txBody>
      </p:sp>
      <p:sp>
        <p:nvSpPr>
          <p:cNvPr id="12" name="Text 10"/>
          <p:cNvSpPr/>
          <p:nvPr/>
        </p:nvSpPr>
        <p:spPr>
          <a:xfrm>
            <a:off x="4897755" y="2778680"/>
            <a:ext cx="279400" cy="279083"/>
          </a:xfrm>
          <a:prstGeom prst="rect">
            <a:avLst/>
          </a:prstGeom>
          <a:noFill/>
          <a:ln/>
        </p:spPr>
        <p:txBody>
          <a:bodyPr wrap="square" lIns="0" tIns="0" rIns="0" bIns="0" rtlCol="0" anchor="t">
            <a:normAutofit/>
          </a:bodyPr>
          <a:lstStyle/>
          <a:p>
            <a:pPr algn="l" indent="0" marL="0">
              <a:lnSpc>
                <a:spcPts val="1998"/>
              </a:lnSpc>
              <a:buNone/>
            </a:pPr>
            <a:r>
              <a:rPr lang="en-US" sz="1800" dirty="0">
                <a:solidFill>
                  <a:srgbClr val="151B2D"/>
                </a:solidFill>
                <a:latin typeface="Inter" pitchFamily="34" charset="0"/>
                <a:ea typeface="Inter" pitchFamily="34" charset="-122"/>
                <a:cs typeface="Inter" pitchFamily="34" charset="-120"/>
              </a:rPr>
              <a:t>→</a:t>
            </a:r>
            <a:endParaRPr lang="en-US" sz="1800" dirty="0"/>
          </a:p>
        </p:txBody>
      </p:sp>
      <p:sp>
        <p:nvSpPr>
          <p:cNvPr id="13" name="Shape 11"/>
          <p:cNvSpPr/>
          <p:nvPr/>
        </p:nvSpPr>
        <p:spPr>
          <a:xfrm>
            <a:off x="5202555" y="2035969"/>
            <a:ext cx="1813877" cy="1739106"/>
          </a:xfrm>
          <a:prstGeom prst="roundRect">
            <a:avLst>
              <a:gd name="adj" fmla="val 5842"/>
            </a:avLst>
          </a:prstGeom>
          <a:solidFill>
            <a:srgbClr val="FFFFFF"/>
          </a:solidFill>
          <a:ln/>
        </p:spPr>
      </p:sp>
      <p:sp>
        <p:nvSpPr>
          <p:cNvPr id="14" name="Shape 12"/>
          <p:cNvSpPr/>
          <p:nvPr/>
        </p:nvSpPr>
        <p:spPr>
          <a:xfrm>
            <a:off x="5202555" y="2035969"/>
            <a:ext cx="1813877" cy="1739106"/>
          </a:xfrm>
          <a:custGeom>
            <a:avLst/>
            <a:gdLst/>
            <a:ahLst/>
            <a:cxnLst/>
            <a:rect l="l" t="t" r="r" b="b"/>
            <a:pathLst>
              <a:path w="1813877" h="1739106">
                <a:moveTo>
                  <a:pt x="0" y="101600"/>
                </a:moveTo>
                <a:lnTo>
                  <a:pt x="0" y="101600"/>
                </a:lnTo>
                <a:arcTo hR="101600" wR="101600" stAng="10800000" swAng="5400000"/>
                <a:lnTo>
                  <a:pt x="1712277" y="0"/>
                </a:lnTo>
                <a:arcTo hR="101600" wR="101600" stAng="16200000" swAng="5400000"/>
                <a:lnTo>
                  <a:pt x="1813877" y="101600"/>
                </a:lnTo>
                <a:arcTo hR="50800" wR="101600" stAng="0" swAng="-5400000"/>
                <a:lnTo>
                  <a:pt x="101600" y="50800"/>
                </a:lnTo>
                <a:arcTo hR="50800" wR="101600" stAng="16200000" swAng="-5400000"/>
                <a:close/>
              </a:path>
            </a:pathLst>
          </a:custGeom>
          <a:solidFill>
            <a:srgbClr val="151B2D"/>
          </a:solidFill>
          <a:ln/>
        </p:spPr>
      </p:sp>
      <p:sp>
        <p:nvSpPr>
          <p:cNvPr id="15" name="Text 13"/>
          <p:cNvSpPr/>
          <p:nvPr/>
        </p:nvSpPr>
        <p:spPr>
          <a:xfrm>
            <a:off x="5380355" y="2264569"/>
            <a:ext cx="1509078" cy="254714"/>
          </a:xfrm>
          <a:prstGeom prst="rect">
            <a:avLst/>
          </a:prstGeom>
          <a:noFill/>
          <a:ln/>
        </p:spPr>
        <p:txBody>
          <a:bodyPr wrap="square" lIns="0" tIns="0" rIns="0" bIns="0" rtlCol="0" anchor="t">
            <a:normAutofit/>
          </a:bodyPr>
          <a:lstStyle/>
          <a:p>
            <a:pPr algn="l" indent="0" marL="0">
              <a:lnSpc>
                <a:spcPts val="1806"/>
              </a:lnSpc>
              <a:buNone/>
            </a:pPr>
            <a:r>
              <a:rPr lang="en-US" sz="1400" b="1" dirty="0">
                <a:solidFill>
                  <a:srgbClr val="151B2D"/>
                </a:solidFill>
                <a:latin typeface="Space Grotesk" pitchFamily="34" charset="0"/>
                <a:ea typeface="Space Grotesk" pitchFamily="34" charset="-122"/>
                <a:cs typeface="Space Grotesk" pitchFamily="34" charset="-120"/>
              </a:rPr>
              <a:t>Security kernel</a:t>
            </a:r>
            <a:endParaRPr lang="en-US" sz="1400" dirty="0"/>
          </a:p>
        </p:txBody>
      </p:sp>
      <p:sp>
        <p:nvSpPr>
          <p:cNvPr id="16" name="Text 14"/>
          <p:cNvSpPr/>
          <p:nvPr/>
        </p:nvSpPr>
        <p:spPr>
          <a:xfrm>
            <a:off x="5380355" y="2557385"/>
            <a:ext cx="1509078" cy="835978"/>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4A5263"/>
                </a:solidFill>
                <a:latin typeface="Inter" pitchFamily="34" charset="0"/>
                <a:ea typeface="Inter" pitchFamily="34" charset="-122"/>
                <a:cs typeface="Inter" pitchFamily="34" charset="-120"/>
              </a:rPr>
              <a:t>Injection screen, tier check, attestation, approval, log</a:t>
            </a:r>
            <a:endParaRPr lang="en-US" sz="1200" dirty="0"/>
          </a:p>
        </p:txBody>
      </p:sp>
      <p:sp>
        <p:nvSpPr>
          <p:cNvPr id="17" name="Text 15"/>
          <p:cNvSpPr/>
          <p:nvPr/>
        </p:nvSpPr>
        <p:spPr>
          <a:xfrm>
            <a:off x="7092633" y="2778680"/>
            <a:ext cx="279400" cy="279083"/>
          </a:xfrm>
          <a:prstGeom prst="rect">
            <a:avLst/>
          </a:prstGeom>
          <a:noFill/>
          <a:ln/>
        </p:spPr>
        <p:txBody>
          <a:bodyPr wrap="square" lIns="0" tIns="0" rIns="0" bIns="0" rtlCol="0" anchor="t">
            <a:normAutofit/>
          </a:bodyPr>
          <a:lstStyle/>
          <a:p>
            <a:pPr algn="l" indent="0" marL="0">
              <a:lnSpc>
                <a:spcPts val="1998"/>
              </a:lnSpc>
              <a:buNone/>
            </a:pPr>
            <a:r>
              <a:rPr lang="en-US" sz="1800" dirty="0">
                <a:solidFill>
                  <a:srgbClr val="151B2D"/>
                </a:solidFill>
                <a:latin typeface="Inter" pitchFamily="34" charset="0"/>
                <a:ea typeface="Inter" pitchFamily="34" charset="-122"/>
                <a:cs typeface="Inter" pitchFamily="34" charset="-120"/>
              </a:rPr>
              <a:t>→</a:t>
            </a:r>
            <a:endParaRPr lang="en-US" sz="1800" dirty="0"/>
          </a:p>
        </p:txBody>
      </p:sp>
      <p:sp>
        <p:nvSpPr>
          <p:cNvPr id="18" name="Shape 16"/>
          <p:cNvSpPr/>
          <p:nvPr/>
        </p:nvSpPr>
        <p:spPr>
          <a:xfrm>
            <a:off x="7397433" y="2035969"/>
            <a:ext cx="1813877" cy="1739106"/>
          </a:xfrm>
          <a:prstGeom prst="roundRect">
            <a:avLst>
              <a:gd name="adj" fmla="val 5842"/>
            </a:avLst>
          </a:prstGeom>
          <a:solidFill>
            <a:srgbClr val="C6F432"/>
          </a:solidFill>
          <a:ln/>
        </p:spPr>
      </p:sp>
      <p:sp>
        <p:nvSpPr>
          <p:cNvPr id="19" name="Shape 17"/>
          <p:cNvSpPr/>
          <p:nvPr/>
        </p:nvSpPr>
        <p:spPr>
          <a:xfrm>
            <a:off x="7397433" y="2035969"/>
            <a:ext cx="1813877" cy="1739106"/>
          </a:xfrm>
          <a:custGeom>
            <a:avLst/>
            <a:gdLst/>
            <a:ahLst/>
            <a:cxnLst/>
            <a:rect l="l" t="t" r="r" b="b"/>
            <a:pathLst>
              <a:path w="1813877" h="1739106">
                <a:moveTo>
                  <a:pt x="0" y="101600"/>
                </a:moveTo>
                <a:lnTo>
                  <a:pt x="0" y="101600"/>
                </a:lnTo>
                <a:arcTo hR="101600" wR="101600" stAng="10800000" swAng="5400000"/>
                <a:lnTo>
                  <a:pt x="1712277" y="0"/>
                </a:lnTo>
                <a:arcTo hR="101600" wR="101600" stAng="16200000" swAng="5400000"/>
                <a:lnTo>
                  <a:pt x="1813877" y="101600"/>
                </a:lnTo>
                <a:arcTo hR="50800" wR="101600" stAng="0" swAng="-5400000"/>
                <a:lnTo>
                  <a:pt x="101600" y="50800"/>
                </a:lnTo>
                <a:arcTo hR="50800" wR="101600" stAng="16200000" swAng="-5400000"/>
                <a:close/>
              </a:path>
            </a:pathLst>
          </a:custGeom>
          <a:solidFill>
            <a:srgbClr val="151B2D"/>
          </a:solidFill>
          <a:ln/>
        </p:spPr>
      </p:sp>
      <p:sp>
        <p:nvSpPr>
          <p:cNvPr id="20" name="Text 18"/>
          <p:cNvSpPr/>
          <p:nvPr/>
        </p:nvSpPr>
        <p:spPr>
          <a:xfrm>
            <a:off x="7575233" y="2264569"/>
            <a:ext cx="1509078" cy="484029"/>
          </a:xfrm>
          <a:prstGeom prst="rect">
            <a:avLst/>
          </a:prstGeom>
          <a:noFill/>
          <a:ln/>
        </p:spPr>
        <p:txBody>
          <a:bodyPr wrap="square" lIns="0" tIns="0" rIns="0" bIns="0" rtlCol="0" anchor="t">
            <a:normAutofit/>
          </a:bodyPr>
          <a:lstStyle/>
          <a:p>
            <a:pPr algn="l" indent="0" marL="0">
              <a:lnSpc>
                <a:spcPts val="1806"/>
              </a:lnSpc>
              <a:buNone/>
            </a:pPr>
            <a:r>
              <a:rPr lang="en-US" sz="1400" b="1" dirty="0">
                <a:solidFill>
                  <a:srgbClr val="151B2D"/>
                </a:solidFill>
                <a:latin typeface="Space Grotesk" pitchFamily="34" charset="0"/>
                <a:ea typeface="Space Grotesk" pitchFamily="34" charset="-122"/>
                <a:cs typeface="Space Grotesk" pitchFamily="34" charset="-120"/>
              </a:rPr>
              <a:t>Quantitative plane</a:t>
            </a:r>
            <a:endParaRPr lang="en-US" sz="1400" dirty="0"/>
          </a:p>
        </p:txBody>
      </p:sp>
      <p:sp>
        <p:nvSpPr>
          <p:cNvPr id="21" name="Text 19"/>
          <p:cNvSpPr/>
          <p:nvPr/>
        </p:nvSpPr>
        <p:spPr>
          <a:xfrm>
            <a:off x="7575233" y="2786698"/>
            <a:ext cx="1509078" cy="835978"/>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151B2D"/>
                </a:solidFill>
                <a:latin typeface="Inter" pitchFamily="34" charset="0"/>
                <a:ea typeface="Inter" pitchFamily="34" charset="-122"/>
                <a:cs typeface="Inter" pitchFamily="34" charset="-120"/>
              </a:rPr>
              <a:t>FastAPI · NumPy, SciPy, PuLP with HiGHS · sole source of figures</a:t>
            </a:r>
            <a:endParaRPr lang="en-US" sz="1200" dirty="0"/>
          </a:p>
        </p:txBody>
      </p:sp>
      <p:sp>
        <p:nvSpPr>
          <p:cNvPr id="22" name="Text 20"/>
          <p:cNvSpPr/>
          <p:nvPr/>
        </p:nvSpPr>
        <p:spPr>
          <a:xfrm>
            <a:off x="9287510" y="2778680"/>
            <a:ext cx="252413" cy="279083"/>
          </a:xfrm>
          <a:prstGeom prst="rect">
            <a:avLst/>
          </a:prstGeom>
          <a:noFill/>
          <a:ln/>
        </p:spPr>
        <p:txBody>
          <a:bodyPr wrap="square" lIns="0" tIns="0" rIns="0" bIns="0" rtlCol="0" anchor="t">
            <a:normAutofit/>
          </a:bodyPr>
          <a:lstStyle/>
          <a:p>
            <a:pPr algn="l" indent="0" marL="0">
              <a:lnSpc>
                <a:spcPts val="1998"/>
              </a:lnSpc>
              <a:buNone/>
            </a:pPr>
            <a:r>
              <a:rPr lang="en-US" sz="1800" dirty="0">
                <a:solidFill>
                  <a:srgbClr val="151B2D"/>
                </a:solidFill>
                <a:latin typeface="Inter" pitchFamily="34" charset="0"/>
                <a:ea typeface="Inter" pitchFamily="34" charset="-122"/>
                <a:cs typeface="Inter" pitchFamily="34" charset="-120"/>
              </a:rPr>
              <a:t>⇢</a:t>
            </a:r>
            <a:endParaRPr lang="en-US" sz="1800" dirty="0"/>
          </a:p>
        </p:txBody>
      </p:sp>
      <p:sp>
        <p:nvSpPr>
          <p:cNvPr id="23" name="Shape 21"/>
          <p:cNvSpPr/>
          <p:nvPr/>
        </p:nvSpPr>
        <p:spPr>
          <a:xfrm>
            <a:off x="9565322" y="2035969"/>
            <a:ext cx="1813877" cy="1739106"/>
          </a:xfrm>
          <a:prstGeom prst="roundRect">
            <a:avLst>
              <a:gd name="adj" fmla="val 5842"/>
            </a:avLst>
          </a:prstGeom>
          <a:solidFill>
            <a:srgbClr val="FFFFFF"/>
          </a:solidFill>
          <a:ln/>
        </p:spPr>
      </p:sp>
      <p:sp>
        <p:nvSpPr>
          <p:cNvPr id="24" name="Shape 22"/>
          <p:cNvSpPr/>
          <p:nvPr/>
        </p:nvSpPr>
        <p:spPr>
          <a:xfrm>
            <a:off x="9565322" y="2035969"/>
            <a:ext cx="1813877" cy="1739106"/>
          </a:xfrm>
          <a:custGeom>
            <a:avLst/>
            <a:gdLst/>
            <a:ahLst/>
            <a:cxnLst/>
            <a:rect l="l" t="t" r="r" b="b"/>
            <a:pathLst>
              <a:path w="1813877" h="1739106">
                <a:moveTo>
                  <a:pt x="0" y="101600"/>
                </a:moveTo>
                <a:lnTo>
                  <a:pt x="0" y="101600"/>
                </a:lnTo>
                <a:arcTo hR="101600" wR="101600" stAng="10800000" swAng="5400000"/>
                <a:lnTo>
                  <a:pt x="1712277" y="0"/>
                </a:lnTo>
                <a:arcTo hR="101600" wR="101600" stAng="16200000" swAng="5400000"/>
                <a:lnTo>
                  <a:pt x="1813877" y="101600"/>
                </a:lnTo>
                <a:arcTo hR="50800" wR="101600" stAng="0" swAng="-5400000"/>
                <a:lnTo>
                  <a:pt x="101600" y="50800"/>
                </a:lnTo>
                <a:arcTo hR="50800" wR="101600" stAng="16200000" swAng="-5400000"/>
                <a:close/>
              </a:path>
            </a:pathLst>
          </a:custGeom>
          <a:solidFill>
            <a:srgbClr val="151B2D"/>
          </a:solidFill>
          <a:ln/>
        </p:spPr>
      </p:sp>
      <p:sp>
        <p:nvSpPr>
          <p:cNvPr id="25" name="Text 23"/>
          <p:cNvSpPr/>
          <p:nvPr/>
        </p:nvSpPr>
        <p:spPr>
          <a:xfrm>
            <a:off x="9743122" y="2264569"/>
            <a:ext cx="1509078" cy="254714"/>
          </a:xfrm>
          <a:prstGeom prst="rect">
            <a:avLst/>
          </a:prstGeom>
          <a:noFill/>
          <a:ln/>
        </p:spPr>
        <p:txBody>
          <a:bodyPr wrap="square" lIns="0" tIns="0" rIns="0" bIns="0" rtlCol="0" anchor="t">
            <a:normAutofit/>
          </a:bodyPr>
          <a:lstStyle/>
          <a:p>
            <a:pPr algn="l" indent="0" marL="0">
              <a:lnSpc>
                <a:spcPts val="1806"/>
              </a:lnSpc>
              <a:buNone/>
            </a:pPr>
            <a:r>
              <a:rPr lang="en-US" sz="1400" b="1" dirty="0">
                <a:solidFill>
                  <a:srgbClr val="151B2D"/>
                </a:solidFill>
                <a:latin typeface="Space Grotesk" pitchFamily="34" charset="0"/>
                <a:ea typeface="Space Grotesk" pitchFamily="34" charset="-122"/>
                <a:cs typeface="Space Grotesk" pitchFamily="34" charset="-120"/>
              </a:rPr>
              <a:t>Persistence</a:t>
            </a:r>
            <a:endParaRPr lang="en-US" sz="1400" dirty="0"/>
          </a:p>
        </p:txBody>
      </p:sp>
      <p:sp>
        <p:nvSpPr>
          <p:cNvPr id="26" name="Text 24"/>
          <p:cNvSpPr/>
          <p:nvPr/>
        </p:nvSpPr>
        <p:spPr>
          <a:xfrm>
            <a:off x="9743122" y="2557385"/>
            <a:ext cx="1509078" cy="1038622"/>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4A5263"/>
                </a:solidFill>
                <a:latin typeface="Inter" pitchFamily="34" charset="0"/>
                <a:ea typeface="Inter" pitchFamily="34" charset="-122"/>
                <a:cs typeface="Inter" pitchFamily="34" charset="-120"/>
              </a:rPr>
              <a:t>SQLite for identity and approvals · PostgreSQL ledger mirror · SHA-256 chain</a:t>
            </a:r>
            <a:endParaRPr lang="en-US" sz="1200" dirty="0"/>
          </a:p>
        </p:txBody>
      </p:sp>
      <p:sp>
        <p:nvSpPr>
          <p:cNvPr id="27" name="Shape 25"/>
          <p:cNvSpPr/>
          <p:nvPr/>
        </p:nvSpPr>
        <p:spPr>
          <a:xfrm>
            <a:off x="812800" y="4079875"/>
            <a:ext cx="5181600" cy="1762125"/>
          </a:xfrm>
          <a:prstGeom prst="roundRect">
            <a:avLst>
              <a:gd name="adj" fmla="val 5766"/>
            </a:avLst>
          </a:prstGeom>
          <a:solidFill>
            <a:srgbClr val="151B2D"/>
          </a:solidFill>
          <a:ln/>
        </p:spPr>
      </p:sp>
      <p:sp>
        <p:nvSpPr>
          <p:cNvPr id="28" name="Text 26"/>
          <p:cNvSpPr/>
          <p:nvPr/>
        </p:nvSpPr>
        <p:spPr>
          <a:xfrm>
            <a:off x="1066800" y="4333875"/>
            <a:ext cx="4813808" cy="273447"/>
          </a:xfrm>
          <a:prstGeom prst="rect">
            <a:avLst/>
          </a:prstGeom>
          <a:noFill/>
          <a:ln/>
        </p:spPr>
        <p:txBody>
          <a:bodyPr wrap="square" lIns="0" tIns="0" rIns="0" bIns="0" rtlCol="0" anchor="t">
            <a:normAutofit/>
          </a:bodyPr>
          <a:lstStyle/>
          <a:p>
            <a:pPr algn="l" indent="0" marL="0">
              <a:lnSpc>
                <a:spcPts val="1970"/>
              </a:lnSpc>
              <a:buNone/>
            </a:pPr>
            <a:r>
              <a:rPr lang="en-US" sz="1614" b="1" dirty="0">
                <a:solidFill>
                  <a:srgbClr val="C6F432"/>
                </a:solidFill>
                <a:latin typeface="Space Grotesk" pitchFamily="34" charset="0"/>
                <a:ea typeface="Space Grotesk" pitchFamily="34" charset="-122"/>
                <a:cs typeface="Space Grotesk" pitchFamily="34" charset="-120"/>
              </a:rPr>
              <a:t>Company isolation</a:t>
            </a:r>
            <a:endParaRPr lang="en-US" sz="1614" dirty="0"/>
          </a:p>
        </p:txBody>
      </p:sp>
      <p:sp>
        <p:nvSpPr>
          <p:cNvPr id="29" name="Text 27"/>
          <p:cNvSpPr/>
          <p:nvPr/>
        </p:nvSpPr>
        <p:spPr>
          <a:xfrm>
            <a:off x="1066800" y="4683522"/>
            <a:ext cx="4813808" cy="929878"/>
          </a:xfrm>
          <a:prstGeom prst="rect">
            <a:avLst/>
          </a:prstGeom>
          <a:noFill/>
          <a:ln/>
        </p:spPr>
        <p:txBody>
          <a:bodyPr wrap="square" lIns="0" tIns="0" rIns="0" bIns="0" rtlCol="0" anchor="t">
            <a:normAutofit/>
          </a:bodyPr>
          <a:lstStyle/>
          <a:p>
            <a:pPr algn="l" indent="0" marL="0">
              <a:lnSpc>
                <a:spcPts val="1846"/>
              </a:lnSpc>
              <a:buNone/>
            </a:pPr>
            <a:r>
              <a:rPr lang="en-US" sz="1291" dirty="0">
                <a:solidFill>
                  <a:srgbClr val="F4F7EA"/>
                </a:solidFill>
                <a:latin typeface="Inter" pitchFamily="34" charset="0"/>
                <a:ea typeface="Inter" pitchFamily="34" charset="-122"/>
                <a:cs typeface="Inter" pitchFamily="34" charset="-120"/>
              </a:rPr>
              <a:t>The company comes from the user's membership rows, never from the request. Roles are re-read from the database on every request. Cross-company access returns 403.</a:t>
            </a:r>
            <a:endParaRPr lang="en-US" sz="1291" dirty="0"/>
          </a:p>
        </p:txBody>
      </p:sp>
      <p:sp>
        <p:nvSpPr>
          <p:cNvPr id="30" name="Shape 28"/>
          <p:cNvSpPr/>
          <p:nvPr/>
        </p:nvSpPr>
        <p:spPr>
          <a:xfrm>
            <a:off x="6197600" y="4079875"/>
            <a:ext cx="5181600" cy="1762125"/>
          </a:xfrm>
          <a:prstGeom prst="roundRect">
            <a:avLst>
              <a:gd name="adj" fmla="val 5766"/>
            </a:avLst>
          </a:prstGeom>
          <a:solidFill>
            <a:srgbClr val="FFFFFF"/>
          </a:solidFill>
          <a:ln/>
        </p:spPr>
      </p:sp>
      <p:sp>
        <p:nvSpPr>
          <p:cNvPr id="31" name="Text 29"/>
          <p:cNvSpPr/>
          <p:nvPr/>
        </p:nvSpPr>
        <p:spPr>
          <a:xfrm>
            <a:off x="6451600" y="4333875"/>
            <a:ext cx="4813808" cy="304244"/>
          </a:xfrm>
          <a:prstGeom prst="rect">
            <a:avLst/>
          </a:prstGeom>
          <a:noFill/>
          <a:ln/>
        </p:spPr>
        <p:txBody>
          <a:bodyPr wrap="square" lIns="0" tIns="0" rIns="0" bIns="0" rtlCol="0" anchor="t">
            <a:normAutofit/>
          </a:bodyPr>
          <a:lstStyle/>
          <a:p>
            <a:pPr algn="l" indent="0" marL="0">
              <a:lnSpc>
                <a:spcPts val="2196"/>
              </a:lnSpc>
              <a:buNone/>
            </a:pPr>
            <a:r>
              <a:rPr lang="en-US" sz="1800" b="1" dirty="0">
                <a:solidFill>
                  <a:srgbClr val="151B2D"/>
                </a:solidFill>
                <a:latin typeface="Space Grotesk" pitchFamily="34" charset="0"/>
                <a:ea typeface="Space Grotesk" pitchFamily="34" charset="-122"/>
                <a:cs typeface="Space Grotesk" pitchFamily="34" charset="-120"/>
              </a:rPr>
              <a:t>Control path</a:t>
            </a:r>
            <a:endParaRPr lang="en-US" sz="1800" dirty="0"/>
          </a:p>
        </p:txBody>
      </p:sp>
      <p:sp>
        <p:nvSpPr>
          <p:cNvPr id="32" name="Text 30"/>
          <p:cNvSpPr/>
          <p:nvPr/>
        </p:nvSpPr>
        <p:spPr>
          <a:xfrm>
            <a:off x="6451600" y="4714320"/>
            <a:ext cx="4813808" cy="788114"/>
          </a:xfrm>
          <a:prstGeom prst="rect">
            <a:avLst/>
          </a:prstGeom>
          <a:noFill/>
          <a:ln/>
        </p:spPr>
        <p:txBody>
          <a:bodyPr wrap="square" lIns="0" tIns="0" rIns="0" bIns="0" rtlCol="0" anchor="t">
            <a:normAutofit/>
          </a:bodyPr>
          <a:lstStyle/>
          <a:p>
            <a:pPr algn="l" indent="0" marL="0">
              <a:lnSpc>
                <a:spcPts val="2002"/>
              </a:lnSpc>
              <a:buNone/>
            </a:pPr>
            <a:r>
              <a:rPr lang="en-US" sz="1400" dirty="0">
                <a:solidFill>
                  <a:srgbClr val="151B2D"/>
                </a:solidFill>
                <a:latin typeface="Inter" pitchFamily="34" charset="0"/>
                <a:ea typeface="Inter" pitchFamily="34" charset="-122"/>
                <a:cs typeface="Inter" pitchFamily="34" charset="-120"/>
              </a:rPr>
              <a:t>Every AI tool call passes the security kernel before any effect. Figures come only from the quantitative plane. Allow and deny decisions are both logged.</a:t>
            </a:r>
            <a:endParaRPr lang="en-US" sz="1400" dirty="0"/>
          </a:p>
        </p:txBody>
      </p:sp>
      <p:sp>
        <p:nvSpPr>
          <p:cNvPr id="33" name="Text 31"/>
          <p:cNvSpPr/>
          <p:nvPr/>
        </p:nvSpPr>
        <p:spPr>
          <a:xfrm>
            <a:off x="812800" y="6248955"/>
            <a:ext cx="7496651" cy="228044"/>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4A5263"/>
                </a:solidFill>
                <a:latin typeface="Inter" pitchFamily="34" charset="0"/>
                <a:ea typeface="Inter" pitchFamily="34" charset="-122"/>
                <a:cs typeface="Inter" pitchFamily="34" charset="-120"/>
              </a:rPr>
              <a:t>Vantora AI · Topic E · FinTechathon 2026 · Source: Technical Documentation, chapter 2</a:t>
            </a:r>
            <a:endParaRPr lang="en-US" sz="1200" dirty="0"/>
          </a:p>
        </p:txBody>
      </p:sp>
      <p:sp>
        <p:nvSpPr>
          <p:cNvPr id="34" name="Text 32"/>
          <p:cNvSpPr/>
          <p:nvPr/>
        </p:nvSpPr>
        <p:spPr>
          <a:xfrm>
            <a:off x="10915999" y="6248955"/>
            <a:ext cx="463201" cy="228044"/>
          </a:xfrm>
          <a:prstGeom prst="rect">
            <a:avLst/>
          </a:prstGeom>
          <a:noFill/>
          <a:ln/>
        </p:spPr>
        <p:txBody>
          <a:bodyPr wrap="square" lIns="0" tIns="0" rIns="0" bIns="0" rtlCol="0" anchor="t">
            <a:normAutofit/>
          </a:bodyPr>
          <a:lstStyle/>
          <a:p>
            <a:pPr algn="r" indent="0" marL="0">
              <a:lnSpc>
                <a:spcPts val="1596"/>
              </a:lnSpc>
              <a:buNone/>
            </a:pPr>
            <a:r>
              <a:rPr lang="en-US" sz="1200" dirty="0">
                <a:solidFill>
                  <a:srgbClr val="4A5263"/>
                </a:solidFill>
                <a:latin typeface="Inter" pitchFamily="34" charset="0"/>
                <a:ea typeface="Inter" pitchFamily="34" charset="-122"/>
                <a:cs typeface="Inter" pitchFamily="34" charset="-120"/>
              </a:rPr>
              <a:t>5 / 12</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43769"/>
          </a:xfrm>
          <a:prstGeom prst="rect">
            <a:avLst/>
          </a:prstGeom>
          <a:noFill/>
          <a:ln/>
        </p:spPr>
        <p:txBody>
          <a:bodyPr wrap="square" lIns="0" tIns="0" rIns="0" bIns="0" rtlCol="0" anchor="t">
            <a:normAutofit/>
          </a:bodyPr>
          <a:lstStyle/>
          <a:p>
            <a:pPr algn="l" indent="0" marL="0">
              <a:lnSpc>
                <a:spcPts val="3616"/>
              </a:lnSpc>
              <a:buNone/>
            </a:pPr>
            <a:r>
              <a:rPr lang="en-US" sz="3200" b="1" i="0" dirty="0">
                <a:solidFill>
                  <a:srgbClr val="151B2D"/>
                </a:solidFill>
                <a:latin typeface="Space Grotesk" pitchFamily="34" charset="0"/>
                <a:ea typeface="Space Grotesk" pitchFamily="34" charset="-122"/>
                <a:cs typeface="Space Grotesk" pitchFamily="34" charset="-120"/>
              </a:rPr>
              <a:t>One task in six steps: the owner approves the exact action</a:t>
            </a:r>
            <a:endParaRPr lang="en-US" sz="3200" dirty="0"/>
          </a:p>
        </p:txBody>
      </p:sp>
      <p:sp>
        <p:nvSpPr>
          <p:cNvPr id="3" name="Shape 1"/>
          <p:cNvSpPr/>
          <p:nvPr/>
        </p:nvSpPr>
        <p:spPr>
          <a:xfrm>
            <a:off x="812800" y="1985169"/>
            <a:ext cx="3386614" cy="1826816"/>
          </a:xfrm>
          <a:prstGeom prst="roundRect">
            <a:avLst>
              <a:gd name="adj" fmla="val 5562"/>
            </a:avLst>
          </a:prstGeom>
          <a:solidFill>
            <a:srgbClr val="FFFFFF"/>
          </a:solidFill>
          <a:ln/>
        </p:spPr>
      </p:sp>
      <p:sp>
        <p:nvSpPr>
          <p:cNvPr id="4" name="Text 2"/>
          <p:cNvSpPr/>
          <p:nvPr/>
        </p:nvSpPr>
        <p:spPr>
          <a:xfrm>
            <a:off x="1016000" y="2188369"/>
            <a:ext cx="251381" cy="269161"/>
          </a:xfrm>
          <a:prstGeom prst="roundRect">
            <a:avLst>
              <a:gd name="adj" fmla="val 20208"/>
            </a:avLst>
          </a:prstGeom>
          <a:solidFill>
            <a:srgbClr val="C6F432"/>
          </a:solidFill>
          <a:ln/>
        </p:spPr>
        <p:txBody>
          <a:bodyPr wrap="none" lIns="0" tIns="0" rIns="0" bIns="0" rtlCol="0" anchor="ctr">
            <a:normAutofit/>
          </a:bodyPr>
          <a:lstStyle/>
          <a:p>
            <a:pPr algn="ctr" indent="0" marL="0">
              <a:lnSpc>
                <a:spcPts val="1921"/>
              </a:lnSpc>
              <a:buNone/>
            </a:pPr>
            <a:r>
              <a:rPr lang="en-US" sz="1343" b="1" dirty="0">
                <a:solidFill>
                  <a:srgbClr val="151B2D"/>
                </a:solidFill>
                <a:latin typeface="Inter" pitchFamily="34" charset="0"/>
                <a:ea typeface="Inter" pitchFamily="34" charset="-122"/>
                <a:cs typeface="Inter" pitchFamily="34" charset="-120"/>
              </a:rPr>
              <a:t>1</a:t>
            </a:r>
            <a:endParaRPr lang="en-US" sz="1343" dirty="0"/>
          </a:p>
        </p:txBody>
      </p:sp>
      <p:sp>
        <p:nvSpPr>
          <p:cNvPr id="5" name="Text 3"/>
          <p:cNvSpPr/>
          <p:nvPr/>
        </p:nvSpPr>
        <p:spPr>
          <a:xfrm>
            <a:off x="1016000" y="2533731"/>
            <a:ext cx="3069620" cy="292814"/>
          </a:xfrm>
          <a:prstGeom prst="rect">
            <a:avLst/>
          </a:prstGeom>
          <a:noFill/>
          <a:ln/>
        </p:spPr>
        <p:txBody>
          <a:bodyPr wrap="square" lIns="0" tIns="0" rIns="0" bIns="0" rtlCol="0" anchor="t">
            <a:normAutofit/>
          </a:bodyPr>
          <a:lstStyle/>
          <a:p>
            <a:pPr algn="l" indent="0" marL="0">
              <a:lnSpc>
                <a:spcPts val="2121"/>
              </a:lnSpc>
              <a:buNone/>
            </a:pPr>
            <a:r>
              <a:rPr lang="en-US" sz="1738" b="1" dirty="0">
                <a:solidFill>
                  <a:srgbClr val="151B2D"/>
                </a:solidFill>
                <a:latin typeface="Space Grotesk" pitchFamily="34" charset="0"/>
                <a:ea typeface="Space Grotesk" pitchFamily="34" charset="-122"/>
                <a:cs typeface="Space Grotesk" pitchFamily="34" charset="-120"/>
              </a:rPr>
              <a:t>Observe</a:t>
            </a:r>
            <a:endParaRPr lang="en-US" sz="1738" dirty="0"/>
          </a:p>
        </p:txBody>
      </p:sp>
      <p:sp>
        <p:nvSpPr>
          <p:cNvPr id="6" name="Text 4"/>
          <p:cNvSpPr/>
          <p:nvPr/>
        </p:nvSpPr>
        <p:spPr>
          <a:xfrm>
            <a:off x="1016000" y="2877344"/>
            <a:ext cx="3069620" cy="756841"/>
          </a:xfrm>
          <a:prstGeom prst="rect">
            <a:avLst/>
          </a:prstGeom>
          <a:noFill/>
          <a:ln/>
        </p:spPr>
        <p:txBody>
          <a:bodyPr wrap="square" lIns="0" tIns="0" rIns="0" bIns="0" rtlCol="0" anchor="t">
            <a:normAutofit/>
          </a:bodyPr>
          <a:lstStyle/>
          <a:p>
            <a:pPr algn="l" indent="0" marL="0">
              <a:lnSpc>
                <a:spcPts val="1921"/>
              </a:lnSpc>
              <a:buNone/>
            </a:pPr>
            <a:r>
              <a:rPr lang="en-US" sz="1343" dirty="0">
                <a:solidFill>
                  <a:srgbClr val="151B2D"/>
                </a:solidFill>
                <a:latin typeface="Inter" pitchFamily="34" charset="0"/>
                <a:ea typeface="Inter" pitchFamily="34" charset="-122"/>
                <a:cs typeface="Inter" pitchFamily="34" charset="-120"/>
              </a:rPr>
              <a:t>Read ledger and financing state. Gaps appear as typed coverage notes.</a:t>
            </a:r>
            <a:endParaRPr lang="en-US" sz="1343" dirty="0"/>
          </a:p>
        </p:txBody>
      </p:sp>
      <p:sp>
        <p:nvSpPr>
          <p:cNvPr id="7" name="Shape 5"/>
          <p:cNvSpPr/>
          <p:nvPr/>
        </p:nvSpPr>
        <p:spPr>
          <a:xfrm>
            <a:off x="4402614" y="1985169"/>
            <a:ext cx="3386693" cy="1826816"/>
          </a:xfrm>
          <a:prstGeom prst="roundRect">
            <a:avLst>
              <a:gd name="adj" fmla="val 5562"/>
            </a:avLst>
          </a:prstGeom>
          <a:solidFill>
            <a:srgbClr val="FFFFFF"/>
          </a:solidFill>
          <a:ln/>
        </p:spPr>
      </p:sp>
      <p:sp>
        <p:nvSpPr>
          <p:cNvPr id="8" name="Text 6"/>
          <p:cNvSpPr/>
          <p:nvPr/>
        </p:nvSpPr>
        <p:spPr>
          <a:xfrm>
            <a:off x="4605814" y="2188369"/>
            <a:ext cx="289798" cy="279638"/>
          </a:xfrm>
          <a:prstGeom prst="roundRect">
            <a:avLst>
              <a:gd name="adj" fmla="val 18166"/>
            </a:avLst>
          </a:prstGeom>
          <a:solidFill>
            <a:srgbClr val="C6F432"/>
          </a:solidFill>
          <a:ln/>
        </p:spPr>
        <p:txBody>
          <a:bodyPr wrap="none" lIns="0" tIns="0" rIns="0" bIns="0" rtlCol="0" anchor="ctr">
            <a:normAutofit/>
          </a:bodyPr>
          <a:lstStyle/>
          <a:p>
            <a:pPr algn="ctr" indent="0" marL="0">
              <a:lnSpc>
                <a:spcPts val="2002"/>
              </a:lnSpc>
              <a:buNone/>
            </a:pPr>
            <a:r>
              <a:rPr lang="en-US" sz="1400" b="1" dirty="0">
                <a:solidFill>
                  <a:srgbClr val="151B2D"/>
                </a:solidFill>
                <a:latin typeface="Inter" pitchFamily="34" charset="0"/>
                <a:ea typeface="Inter" pitchFamily="34" charset="-122"/>
                <a:cs typeface="Inter" pitchFamily="34" charset="-120"/>
              </a:rPr>
              <a:t>2</a:t>
            </a:r>
            <a:endParaRPr lang="en-US" sz="1400" dirty="0"/>
          </a:p>
        </p:txBody>
      </p:sp>
      <p:sp>
        <p:nvSpPr>
          <p:cNvPr id="9" name="Text 7"/>
          <p:cNvSpPr/>
          <p:nvPr/>
        </p:nvSpPr>
        <p:spPr>
          <a:xfrm>
            <a:off x="4605814" y="2544207"/>
            <a:ext cx="3069702" cy="304244"/>
          </a:xfrm>
          <a:prstGeom prst="rect">
            <a:avLst/>
          </a:prstGeom>
          <a:noFill/>
          <a:ln/>
        </p:spPr>
        <p:txBody>
          <a:bodyPr wrap="square" lIns="0" tIns="0" rIns="0" bIns="0" rtlCol="0" anchor="t">
            <a:normAutofit/>
          </a:bodyPr>
          <a:lstStyle/>
          <a:p>
            <a:pPr algn="l" indent="0" marL="0">
              <a:lnSpc>
                <a:spcPts val="2196"/>
              </a:lnSpc>
              <a:buNone/>
            </a:pPr>
            <a:r>
              <a:rPr lang="en-US" sz="1800" b="1" dirty="0">
                <a:solidFill>
                  <a:srgbClr val="151B2D"/>
                </a:solidFill>
                <a:latin typeface="Space Grotesk" pitchFamily="34" charset="0"/>
                <a:ea typeface="Space Grotesk" pitchFamily="34" charset="-122"/>
                <a:cs typeface="Space Grotesk" pitchFamily="34" charset="-120"/>
              </a:rPr>
              <a:t>Choose tools</a:t>
            </a:r>
            <a:endParaRPr lang="en-US" sz="1800" dirty="0"/>
          </a:p>
        </p:txBody>
      </p:sp>
      <p:sp>
        <p:nvSpPr>
          <p:cNvPr id="10" name="Text 8"/>
          <p:cNvSpPr/>
          <p:nvPr/>
        </p:nvSpPr>
        <p:spPr>
          <a:xfrm>
            <a:off x="4605814" y="2899252"/>
            <a:ext cx="3069702" cy="533876"/>
          </a:xfrm>
          <a:prstGeom prst="rect">
            <a:avLst/>
          </a:prstGeom>
          <a:noFill/>
          <a:ln/>
        </p:spPr>
        <p:txBody>
          <a:bodyPr wrap="square" lIns="0" tIns="0" rIns="0" bIns="0" rtlCol="0" anchor="t">
            <a:normAutofit/>
          </a:bodyPr>
          <a:lstStyle/>
          <a:p>
            <a:pPr algn="l" indent="0" marL="0">
              <a:lnSpc>
                <a:spcPts val="2002"/>
              </a:lnSpc>
              <a:buNone/>
            </a:pPr>
            <a:r>
              <a:rPr lang="en-US" sz="1400" dirty="0">
                <a:solidFill>
                  <a:srgbClr val="151B2D"/>
                </a:solidFill>
                <a:latin typeface="Inter" pitchFamily="34" charset="0"/>
                <a:ea typeface="Inter" pitchFamily="34" charset="-122"/>
                <a:cs typeface="Inter" pitchFamily="34" charset="-120"/>
              </a:rPr>
              <a:t>The model picks from ten gated tools inside a bounded tool loop.</a:t>
            </a:r>
            <a:endParaRPr lang="en-US" sz="1400" dirty="0"/>
          </a:p>
        </p:txBody>
      </p:sp>
      <p:sp>
        <p:nvSpPr>
          <p:cNvPr id="11" name="Shape 9"/>
          <p:cNvSpPr/>
          <p:nvPr/>
        </p:nvSpPr>
        <p:spPr>
          <a:xfrm>
            <a:off x="7992507" y="1985169"/>
            <a:ext cx="3386693" cy="1826816"/>
          </a:xfrm>
          <a:prstGeom prst="roundRect">
            <a:avLst>
              <a:gd name="adj" fmla="val 5562"/>
            </a:avLst>
          </a:prstGeom>
          <a:solidFill>
            <a:srgbClr val="FFFFFF"/>
          </a:solidFill>
          <a:ln/>
        </p:spPr>
      </p:sp>
      <p:sp>
        <p:nvSpPr>
          <p:cNvPr id="12" name="Text 10"/>
          <p:cNvSpPr/>
          <p:nvPr/>
        </p:nvSpPr>
        <p:spPr>
          <a:xfrm>
            <a:off x="8195707" y="2188369"/>
            <a:ext cx="287893" cy="269161"/>
          </a:xfrm>
          <a:prstGeom prst="roundRect">
            <a:avLst>
              <a:gd name="adj" fmla="val 18873"/>
            </a:avLst>
          </a:prstGeom>
          <a:solidFill>
            <a:srgbClr val="C6F432"/>
          </a:solidFill>
          <a:ln/>
        </p:spPr>
        <p:txBody>
          <a:bodyPr wrap="none" lIns="0" tIns="0" rIns="0" bIns="0" rtlCol="0" anchor="ctr">
            <a:normAutofit/>
          </a:bodyPr>
          <a:lstStyle/>
          <a:p>
            <a:pPr algn="ctr" indent="0" marL="0">
              <a:lnSpc>
                <a:spcPts val="1921"/>
              </a:lnSpc>
              <a:buNone/>
            </a:pPr>
            <a:r>
              <a:rPr lang="en-US" sz="1343" b="1" dirty="0">
                <a:solidFill>
                  <a:srgbClr val="151B2D"/>
                </a:solidFill>
                <a:latin typeface="Inter" pitchFamily="34" charset="0"/>
                <a:ea typeface="Inter" pitchFamily="34" charset="-122"/>
                <a:cs typeface="Inter" pitchFamily="34" charset="-120"/>
              </a:rPr>
              <a:t>3</a:t>
            </a:r>
            <a:endParaRPr lang="en-US" sz="1343" dirty="0"/>
          </a:p>
        </p:txBody>
      </p:sp>
      <p:sp>
        <p:nvSpPr>
          <p:cNvPr id="13" name="Text 11"/>
          <p:cNvSpPr/>
          <p:nvPr/>
        </p:nvSpPr>
        <p:spPr>
          <a:xfrm>
            <a:off x="8195707" y="2533731"/>
            <a:ext cx="3069702" cy="292814"/>
          </a:xfrm>
          <a:prstGeom prst="rect">
            <a:avLst/>
          </a:prstGeom>
          <a:noFill/>
          <a:ln/>
        </p:spPr>
        <p:txBody>
          <a:bodyPr wrap="square" lIns="0" tIns="0" rIns="0" bIns="0" rtlCol="0" anchor="t">
            <a:normAutofit/>
          </a:bodyPr>
          <a:lstStyle/>
          <a:p>
            <a:pPr algn="l" indent="0" marL="0">
              <a:lnSpc>
                <a:spcPts val="2121"/>
              </a:lnSpc>
              <a:buNone/>
            </a:pPr>
            <a:r>
              <a:rPr lang="en-US" sz="1738" b="1" dirty="0">
                <a:solidFill>
                  <a:srgbClr val="151B2D"/>
                </a:solidFill>
                <a:latin typeface="Space Grotesk" pitchFamily="34" charset="0"/>
                <a:ea typeface="Space Grotesk" pitchFamily="34" charset="-122"/>
                <a:cs typeface="Space Grotesk" pitchFamily="34" charset="-120"/>
              </a:rPr>
              <a:t>Compute</a:t>
            </a:r>
            <a:endParaRPr lang="en-US" sz="1738" dirty="0"/>
          </a:p>
        </p:txBody>
      </p:sp>
      <p:sp>
        <p:nvSpPr>
          <p:cNvPr id="14" name="Text 12"/>
          <p:cNvSpPr/>
          <p:nvPr/>
        </p:nvSpPr>
        <p:spPr>
          <a:xfrm>
            <a:off x="8195707" y="2877344"/>
            <a:ext cx="3069702" cy="756841"/>
          </a:xfrm>
          <a:prstGeom prst="rect">
            <a:avLst/>
          </a:prstGeom>
          <a:noFill/>
          <a:ln/>
        </p:spPr>
        <p:txBody>
          <a:bodyPr wrap="square" lIns="0" tIns="0" rIns="0" bIns="0" rtlCol="0" anchor="t">
            <a:normAutofit/>
          </a:bodyPr>
          <a:lstStyle/>
          <a:p>
            <a:pPr algn="l" indent="0" marL="0">
              <a:lnSpc>
                <a:spcPts val="1921"/>
              </a:lnSpc>
              <a:buNone/>
            </a:pPr>
            <a:r>
              <a:rPr lang="en-US" sz="1343" dirty="0">
                <a:solidFill>
                  <a:srgbClr val="151B2D"/>
                </a:solidFill>
                <a:latin typeface="Inter" pitchFamily="34" charset="0"/>
                <a:ea typeface="Inter" pitchFamily="34" charset="-122"/>
                <a:cs typeface="Inter" pitchFamily="34" charset="-120"/>
              </a:rPr>
              <a:t>The engine runs forecast, screens and optimizer. The model computes nothing.</a:t>
            </a:r>
            <a:endParaRPr lang="en-US" sz="1343" dirty="0"/>
          </a:p>
        </p:txBody>
      </p:sp>
      <p:sp>
        <p:nvSpPr>
          <p:cNvPr id="15" name="Shape 13"/>
          <p:cNvSpPr/>
          <p:nvPr/>
        </p:nvSpPr>
        <p:spPr>
          <a:xfrm>
            <a:off x="812800" y="4015184"/>
            <a:ext cx="3386614" cy="1826816"/>
          </a:xfrm>
          <a:prstGeom prst="roundRect">
            <a:avLst>
              <a:gd name="adj" fmla="val 5562"/>
            </a:avLst>
          </a:prstGeom>
          <a:solidFill>
            <a:srgbClr val="FFFFFF"/>
          </a:solidFill>
          <a:ln/>
        </p:spPr>
      </p:sp>
      <p:sp>
        <p:nvSpPr>
          <p:cNvPr id="16" name="Text 14"/>
          <p:cNvSpPr/>
          <p:nvPr/>
        </p:nvSpPr>
        <p:spPr>
          <a:xfrm>
            <a:off x="1016000" y="4218384"/>
            <a:ext cx="298053" cy="279638"/>
          </a:xfrm>
          <a:prstGeom prst="roundRect">
            <a:avLst>
              <a:gd name="adj" fmla="val 18166"/>
            </a:avLst>
          </a:prstGeom>
          <a:solidFill>
            <a:srgbClr val="C6F432"/>
          </a:solidFill>
          <a:ln/>
        </p:spPr>
        <p:txBody>
          <a:bodyPr wrap="none" lIns="0" tIns="0" rIns="0" bIns="0" rtlCol="0" anchor="ctr">
            <a:normAutofit/>
          </a:bodyPr>
          <a:lstStyle/>
          <a:p>
            <a:pPr algn="ctr" indent="0" marL="0">
              <a:lnSpc>
                <a:spcPts val="2002"/>
              </a:lnSpc>
              <a:buNone/>
            </a:pPr>
            <a:r>
              <a:rPr lang="en-US" sz="1400" b="1" dirty="0">
                <a:solidFill>
                  <a:srgbClr val="151B2D"/>
                </a:solidFill>
                <a:latin typeface="Inter" pitchFamily="34" charset="0"/>
                <a:ea typeface="Inter" pitchFamily="34" charset="-122"/>
                <a:cs typeface="Inter" pitchFamily="34" charset="-120"/>
              </a:rPr>
              <a:t>4</a:t>
            </a:r>
            <a:endParaRPr lang="en-US" sz="1400" dirty="0"/>
          </a:p>
        </p:txBody>
      </p:sp>
      <p:sp>
        <p:nvSpPr>
          <p:cNvPr id="17" name="Text 15"/>
          <p:cNvSpPr/>
          <p:nvPr/>
        </p:nvSpPr>
        <p:spPr>
          <a:xfrm>
            <a:off x="1016000" y="4574223"/>
            <a:ext cx="3069620" cy="304244"/>
          </a:xfrm>
          <a:prstGeom prst="rect">
            <a:avLst/>
          </a:prstGeom>
          <a:noFill/>
          <a:ln/>
        </p:spPr>
        <p:txBody>
          <a:bodyPr wrap="square" lIns="0" tIns="0" rIns="0" bIns="0" rtlCol="0" anchor="t">
            <a:normAutofit/>
          </a:bodyPr>
          <a:lstStyle/>
          <a:p>
            <a:pPr algn="l" indent="0" marL="0">
              <a:lnSpc>
                <a:spcPts val="2196"/>
              </a:lnSpc>
              <a:buNone/>
            </a:pPr>
            <a:r>
              <a:rPr lang="en-US" sz="1800" b="1" dirty="0">
                <a:solidFill>
                  <a:srgbClr val="151B2D"/>
                </a:solidFill>
                <a:latin typeface="Space Grotesk" pitchFamily="34" charset="0"/>
                <a:ea typeface="Space Grotesk" pitchFamily="34" charset="-122"/>
                <a:cs typeface="Space Grotesk" pitchFamily="34" charset="-120"/>
              </a:rPr>
              <a:t>Draft</a:t>
            </a:r>
            <a:endParaRPr lang="en-US" sz="1800" dirty="0"/>
          </a:p>
        </p:txBody>
      </p:sp>
      <p:sp>
        <p:nvSpPr>
          <p:cNvPr id="18" name="Text 16"/>
          <p:cNvSpPr/>
          <p:nvPr/>
        </p:nvSpPr>
        <p:spPr>
          <a:xfrm>
            <a:off x="1016000" y="4929268"/>
            <a:ext cx="3069620" cy="533876"/>
          </a:xfrm>
          <a:prstGeom prst="rect">
            <a:avLst/>
          </a:prstGeom>
          <a:noFill/>
          <a:ln/>
        </p:spPr>
        <p:txBody>
          <a:bodyPr wrap="square" lIns="0" tIns="0" rIns="0" bIns="0" rtlCol="0" anchor="t">
            <a:normAutofit/>
          </a:bodyPr>
          <a:lstStyle/>
          <a:p>
            <a:pPr algn="l" indent="0" marL="0">
              <a:lnSpc>
                <a:spcPts val="2002"/>
              </a:lnSpc>
              <a:buNone/>
            </a:pPr>
            <a:r>
              <a:rPr lang="en-US" sz="1400" dirty="0">
                <a:solidFill>
                  <a:srgbClr val="151B2D"/>
                </a:solidFill>
                <a:latin typeface="Inter" pitchFamily="34" charset="0"/>
                <a:ea typeface="Inter" pitchFamily="34" charset="-122"/>
                <a:cs typeface="Inter" pitchFamily="34" charset="-120"/>
              </a:rPr>
              <a:t>Plan summary or offer drafted. No side effect (Tier 1).</a:t>
            </a:r>
            <a:endParaRPr lang="en-US" sz="1400" dirty="0"/>
          </a:p>
        </p:txBody>
      </p:sp>
      <p:sp>
        <p:nvSpPr>
          <p:cNvPr id="19" name="Shape 17"/>
          <p:cNvSpPr/>
          <p:nvPr/>
        </p:nvSpPr>
        <p:spPr>
          <a:xfrm>
            <a:off x="4402614" y="4015184"/>
            <a:ext cx="3386693" cy="1826816"/>
          </a:xfrm>
          <a:prstGeom prst="roundRect">
            <a:avLst>
              <a:gd name="adj" fmla="val 5562"/>
            </a:avLst>
          </a:prstGeom>
          <a:solidFill>
            <a:srgbClr val="151B2D"/>
          </a:solidFill>
          <a:ln/>
        </p:spPr>
      </p:sp>
      <p:sp>
        <p:nvSpPr>
          <p:cNvPr id="20" name="Text 18"/>
          <p:cNvSpPr/>
          <p:nvPr/>
        </p:nvSpPr>
        <p:spPr>
          <a:xfrm>
            <a:off x="4605814" y="4218384"/>
            <a:ext cx="267335" cy="229235"/>
          </a:xfrm>
          <a:prstGeom prst="roundRect">
            <a:avLst>
              <a:gd name="adj" fmla="val 22161"/>
            </a:avLst>
          </a:prstGeom>
          <a:solidFill>
            <a:srgbClr val="C6F432"/>
          </a:solidFill>
          <a:ln/>
        </p:spPr>
        <p:txBody>
          <a:bodyPr wrap="none" lIns="0" tIns="0" rIns="0" bIns="0" rtlCol="0" anchor="ctr">
            <a:normAutofit/>
          </a:bodyPr>
          <a:lstStyle/>
          <a:p>
            <a:pPr algn="ctr" indent="0" marL="0">
              <a:lnSpc>
                <a:spcPts val="1620"/>
              </a:lnSpc>
              <a:buNone/>
            </a:pPr>
            <a:r>
              <a:rPr lang="en-US" sz="1133" b="1" dirty="0">
                <a:solidFill>
                  <a:srgbClr val="151B2D"/>
                </a:solidFill>
                <a:latin typeface="Inter" pitchFamily="34" charset="0"/>
                <a:ea typeface="Inter" pitchFamily="34" charset="-122"/>
                <a:cs typeface="Inter" pitchFamily="34" charset="-120"/>
              </a:rPr>
              <a:t>5</a:t>
            </a:r>
            <a:endParaRPr lang="en-US" sz="1133" dirty="0"/>
          </a:p>
        </p:txBody>
      </p:sp>
      <p:sp>
        <p:nvSpPr>
          <p:cNvPr id="21" name="Text 19"/>
          <p:cNvSpPr/>
          <p:nvPr/>
        </p:nvSpPr>
        <p:spPr>
          <a:xfrm>
            <a:off x="4605814" y="4523820"/>
            <a:ext cx="3069702" cy="248920"/>
          </a:xfrm>
          <a:prstGeom prst="rect">
            <a:avLst/>
          </a:prstGeom>
          <a:noFill/>
          <a:ln/>
        </p:spPr>
        <p:txBody>
          <a:bodyPr wrap="square" lIns="0" tIns="0" rIns="0" bIns="0" rtlCol="0" anchor="t">
            <a:normAutofit/>
          </a:bodyPr>
          <a:lstStyle/>
          <a:p>
            <a:pPr algn="l" indent="0" marL="0">
              <a:lnSpc>
                <a:spcPts val="1771"/>
              </a:lnSpc>
              <a:buNone/>
            </a:pPr>
            <a:r>
              <a:rPr lang="en-US" sz="1451" b="1" dirty="0">
                <a:solidFill>
                  <a:srgbClr val="C6F432"/>
                </a:solidFill>
                <a:latin typeface="Space Grotesk" pitchFamily="34" charset="0"/>
                <a:ea typeface="Space Grotesk" pitchFamily="34" charset="-122"/>
                <a:cs typeface="Space Grotesk" pitchFamily="34" charset="-120"/>
              </a:rPr>
              <a:t>Approve</a:t>
            </a:r>
            <a:endParaRPr lang="en-US" sz="1451" dirty="0"/>
          </a:p>
        </p:txBody>
      </p:sp>
      <p:sp>
        <p:nvSpPr>
          <p:cNvPr id="22" name="Text 20"/>
          <p:cNvSpPr/>
          <p:nvPr/>
        </p:nvSpPr>
        <p:spPr>
          <a:xfrm>
            <a:off x="4605814" y="4823541"/>
            <a:ext cx="3069702" cy="840661"/>
          </a:xfrm>
          <a:prstGeom prst="rect">
            <a:avLst/>
          </a:prstGeom>
          <a:noFill/>
          <a:ln/>
        </p:spPr>
        <p:txBody>
          <a:bodyPr wrap="square" lIns="0" tIns="0" rIns="0" bIns="0" rtlCol="0" anchor="t">
            <a:normAutofit/>
          </a:bodyPr>
          <a:lstStyle/>
          <a:p>
            <a:pPr algn="l" indent="0" marL="0">
              <a:lnSpc>
                <a:spcPts val="1939"/>
              </a:lnSpc>
              <a:buNone/>
            </a:pPr>
            <a:r>
              <a:rPr lang="en-US" sz="1356" dirty="0">
                <a:solidFill>
                  <a:srgbClr val="F4F7EA"/>
                </a:solidFill>
                <a:latin typeface="Inter" pitchFamily="34" charset="0"/>
                <a:ea typeface="Inter" pitchFamily="34" charset="-122"/>
                <a:cs typeface="Inter" pitchFamily="34" charset="-120"/>
              </a:rPr>
              <a:t>Owner checks exact vendor, amount and fee, types the key figure, and issues a single-use approval.</a:t>
            </a:r>
            <a:endParaRPr lang="en-US" sz="1356" dirty="0"/>
          </a:p>
        </p:txBody>
      </p:sp>
      <p:sp>
        <p:nvSpPr>
          <p:cNvPr id="23" name="Shape 21"/>
          <p:cNvSpPr/>
          <p:nvPr/>
        </p:nvSpPr>
        <p:spPr>
          <a:xfrm>
            <a:off x="7992507" y="4015184"/>
            <a:ext cx="3386693" cy="1826816"/>
          </a:xfrm>
          <a:prstGeom prst="roundRect">
            <a:avLst>
              <a:gd name="adj" fmla="val 5562"/>
            </a:avLst>
          </a:prstGeom>
          <a:solidFill>
            <a:srgbClr val="FFFFFF"/>
          </a:solidFill>
          <a:ln/>
        </p:spPr>
      </p:sp>
      <p:sp>
        <p:nvSpPr>
          <p:cNvPr id="24" name="Text 22"/>
          <p:cNvSpPr/>
          <p:nvPr/>
        </p:nvSpPr>
        <p:spPr>
          <a:xfrm>
            <a:off x="8195707" y="4218384"/>
            <a:ext cx="288608" cy="269161"/>
          </a:xfrm>
          <a:prstGeom prst="roundRect">
            <a:avLst>
              <a:gd name="adj" fmla="val 18873"/>
            </a:avLst>
          </a:prstGeom>
          <a:solidFill>
            <a:srgbClr val="C6F432"/>
          </a:solidFill>
          <a:ln/>
        </p:spPr>
        <p:txBody>
          <a:bodyPr wrap="none" lIns="0" tIns="0" rIns="0" bIns="0" rtlCol="0" anchor="ctr">
            <a:normAutofit/>
          </a:bodyPr>
          <a:lstStyle/>
          <a:p>
            <a:pPr algn="ctr" indent="0" marL="0">
              <a:lnSpc>
                <a:spcPts val="1921"/>
              </a:lnSpc>
              <a:buNone/>
            </a:pPr>
            <a:r>
              <a:rPr lang="en-US" sz="1343" b="1" dirty="0">
                <a:solidFill>
                  <a:srgbClr val="151B2D"/>
                </a:solidFill>
                <a:latin typeface="Inter" pitchFamily="34" charset="0"/>
                <a:ea typeface="Inter" pitchFamily="34" charset="-122"/>
                <a:cs typeface="Inter" pitchFamily="34" charset="-120"/>
              </a:rPr>
              <a:t>6</a:t>
            </a:r>
            <a:endParaRPr lang="en-US" sz="1343" dirty="0"/>
          </a:p>
        </p:txBody>
      </p:sp>
      <p:sp>
        <p:nvSpPr>
          <p:cNvPr id="25" name="Text 23"/>
          <p:cNvSpPr/>
          <p:nvPr/>
        </p:nvSpPr>
        <p:spPr>
          <a:xfrm>
            <a:off x="8195707" y="4563746"/>
            <a:ext cx="3069702" cy="292814"/>
          </a:xfrm>
          <a:prstGeom prst="rect">
            <a:avLst/>
          </a:prstGeom>
          <a:noFill/>
          <a:ln/>
        </p:spPr>
        <p:txBody>
          <a:bodyPr wrap="square" lIns="0" tIns="0" rIns="0" bIns="0" rtlCol="0" anchor="t">
            <a:normAutofit/>
          </a:bodyPr>
          <a:lstStyle/>
          <a:p>
            <a:pPr algn="l" indent="0" marL="0">
              <a:lnSpc>
                <a:spcPts val="2121"/>
              </a:lnSpc>
              <a:buNone/>
            </a:pPr>
            <a:r>
              <a:rPr lang="en-US" sz="1738" b="1" dirty="0">
                <a:solidFill>
                  <a:srgbClr val="151B2D"/>
                </a:solidFill>
                <a:latin typeface="Space Grotesk" pitchFamily="34" charset="0"/>
                <a:ea typeface="Space Grotesk" pitchFamily="34" charset="-122"/>
                <a:cs typeface="Space Grotesk" pitchFamily="34" charset="-120"/>
              </a:rPr>
              <a:t>Record</a:t>
            </a:r>
            <a:endParaRPr lang="en-US" sz="1738" dirty="0"/>
          </a:p>
        </p:txBody>
      </p:sp>
      <p:sp>
        <p:nvSpPr>
          <p:cNvPr id="26" name="Text 24"/>
          <p:cNvSpPr/>
          <p:nvPr/>
        </p:nvSpPr>
        <p:spPr>
          <a:xfrm>
            <a:off x="8195707" y="4907359"/>
            <a:ext cx="3069702" cy="756841"/>
          </a:xfrm>
          <a:prstGeom prst="rect">
            <a:avLst/>
          </a:prstGeom>
          <a:noFill/>
          <a:ln/>
        </p:spPr>
        <p:txBody>
          <a:bodyPr wrap="square" lIns="0" tIns="0" rIns="0" bIns="0" rtlCol="0" anchor="t">
            <a:normAutofit/>
          </a:bodyPr>
          <a:lstStyle/>
          <a:p>
            <a:pPr algn="l" indent="0" marL="0">
              <a:lnSpc>
                <a:spcPts val="1921"/>
              </a:lnSpc>
              <a:buNone/>
            </a:pPr>
            <a:r>
              <a:rPr lang="en-US" sz="1343" dirty="0">
                <a:solidFill>
                  <a:srgbClr val="151B2D"/>
                </a:solidFill>
                <a:latin typeface="Inter" pitchFamily="34" charset="0"/>
                <a:ea typeface="Inter" pitchFamily="34" charset="-122"/>
                <a:cs typeface="Inter" pitchFamily="34" charset="-120"/>
              </a:rPr>
              <a:t>Gateway executes atomically, consumes the nonce, and appends a SHA-256 receipt.</a:t>
            </a:r>
            <a:endParaRPr lang="en-US" sz="1343" dirty="0"/>
          </a:p>
        </p:txBody>
      </p:sp>
      <p:sp>
        <p:nvSpPr>
          <p:cNvPr id="27" name="Text 25"/>
          <p:cNvSpPr/>
          <p:nvPr/>
        </p:nvSpPr>
        <p:spPr>
          <a:xfrm>
            <a:off x="812800" y="6248955"/>
            <a:ext cx="7203948" cy="228044"/>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4A5263"/>
                </a:solidFill>
                <a:latin typeface="Inter" pitchFamily="34" charset="0"/>
                <a:ea typeface="Inter" pitchFamily="34" charset="-122"/>
                <a:cs typeface="Inter" pitchFamily="34" charset="-120"/>
              </a:rPr>
              <a:t>Every allow or deny decision is appended to the audit ledger before control returns.</a:t>
            </a:r>
            <a:endParaRPr lang="en-US" sz="1200" dirty="0"/>
          </a:p>
        </p:txBody>
      </p:sp>
      <p:sp>
        <p:nvSpPr>
          <p:cNvPr id="28" name="Text 26"/>
          <p:cNvSpPr/>
          <p:nvPr/>
        </p:nvSpPr>
        <p:spPr>
          <a:xfrm>
            <a:off x="10911046" y="6248955"/>
            <a:ext cx="468154" cy="228044"/>
          </a:xfrm>
          <a:prstGeom prst="rect">
            <a:avLst/>
          </a:prstGeom>
          <a:noFill/>
          <a:ln/>
        </p:spPr>
        <p:txBody>
          <a:bodyPr wrap="square" lIns="0" tIns="0" rIns="0" bIns="0" rtlCol="0" anchor="t">
            <a:normAutofit/>
          </a:bodyPr>
          <a:lstStyle/>
          <a:p>
            <a:pPr algn="r" indent="0" marL="0">
              <a:lnSpc>
                <a:spcPts val="1596"/>
              </a:lnSpc>
              <a:buNone/>
            </a:pPr>
            <a:r>
              <a:rPr lang="en-US" sz="1200" dirty="0">
                <a:solidFill>
                  <a:srgbClr val="4A5263"/>
                </a:solidFill>
                <a:latin typeface="Inter" pitchFamily="34" charset="0"/>
                <a:ea typeface="Inter" pitchFamily="34" charset="-122"/>
                <a:cs typeface="Inter" pitchFamily="34" charset="-120"/>
              </a:rPr>
              <a:t>6 / 12</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43769"/>
          </a:xfrm>
          <a:prstGeom prst="rect">
            <a:avLst/>
          </a:prstGeom>
          <a:noFill/>
          <a:ln/>
        </p:spPr>
        <p:txBody>
          <a:bodyPr wrap="square" lIns="0" tIns="0" rIns="0" bIns="0" rtlCol="0" anchor="t">
            <a:normAutofit/>
          </a:bodyPr>
          <a:lstStyle/>
          <a:p>
            <a:pPr algn="l" indent="0" marL="0">
              <a:lnSpc>
                <a:spcPts val="3616"/>
              </a:lnSpc>
              <a:buNone/>
            </a:pPr>
            <a:r>
              <a:rPr lang="en-US" sz="3200" b="1" i="0" dirty="0">
                <a:solidFill>
                  <a:srgbClr val="151B2D"/>
                </a:solidFill>
                <a:latin typeface="Space Grotesk" pitchFamily="34" charset="0"/>
                <a:ea typeface="Space Grotesk" pitchFamily="34" charset="-122"/>
                <a:cs typeface="Space Grotesk" pitchFamily="34" charset="-120"/>
              </a:rPr>
              <a:t>Four deterministic algorithms; the model never sets a number</a:t>
            </a:r>
            <a:endParaRPr lang="en-US" sz="3200" dirty="0"/>
          </a:p>
        </p:txBody>
      </p:sp>
      <p:sp>
        <p:nvSpPr>
          <p:cNvPr id="3" name="Shape 1"/>
          <p:cNvSpPr/>
          <p:nvPr/>
        </p:nvSpPr>
        <p:spPr>
          <a:xfrm>
            <a:off x="812800" y="1934369"/>
            <a:ext cx="5207000" cy="1319609"/>
          </a:xfrm>
          <a:prstGeom prst="roundRect">
            <a:avLst>
              <a:gd name="adj" fmla="val 7699"/>
            </a:avLst>
          </a:prstGeom>
          <a:solidFill>
            <a:srgbClr val="FFFFFF"/>
          </a:solidFill>
          <a:ln/>
        </p:spPr>
      </p:sp>
      <p:sp>
        <p:nvSpPr>
          <p:cNvPr id="4" name="Text 2"/>
          <p:cNvSpPr/>
          <p:nvPr/>
        </p:nvSpPr>
        <p:spPr>
          <a:xfrm>
            <a:off x="1041400" y="2112169"/>
            <a:ext cx="4892294" cy="266462"/>
          </a:xfrm>
          <a:prstGeom prst="rect">
            <a:avLst/>
          </a:prstGeom>
          <a:noFill/>
          <a:ln/>
        </p:spPr>
        <p:txBody>
          <a:bodyPr wrap="square" lIns="0" tIns="0" rIns="0" bIns="0" rtlCol="0" anchor="t">
            <a:normAutofit/>
          </a:bodyPr>
          <a:lstStyle/>
          <a:p>
            <a:pPr algn="l" indent="0" marL="0">
              <a:lnSpc>
                <a:spcPts val="1922"/>
              </a:lnSpc>
              <a:buNone/>
            </a:pPr>
            <a:r>
              <a:rPr lang="en-US" sz="1575" b="1" dirty="0">
                <a:solidFill>
                  <a:srgbClr val="151B2D"/>
                </a:solidFill>
                <a:latin typeface="Space Grotesk" pitchFamily="34" charset="0"/>
                <a:ea typeface="Space Grotesk" pitchFamily="34" charset="-122"/>
                <a:cs typeface="Space Grotesk" pitchFamily="34" charset="-120"/>
              </a:rPr>
              <a:t>Forecast</a:t>
            </a:r>
            <a:endParaRPr lang="en-US" sz="1575" dirty="0"/>
          </a:p>
        </p:txBody>
      </p:sp>
      <p:sp>
        <p:nvSpPr>
          <p:cNvPr id="5" name="Text 3"/>
          <p:cNvSpPr/>
          <p:nvPr/>
        </p:nvSpPr>
        <p:spPr>
          <a:xfrm>
            <a:off x="1041400" y="2416730"/>
            <a:ext cx="4892294" cy="684847"/>
          </a:xfrm>
          <a:prstGeom prst="rect">
            <a:avLst/>
          </a:prstGeom>
          <a:noFill/>
          <a:ln/>
        </p:spPr>
        <p:txBody>
          <a:bodyPr wrap="square" lIns="0" tIns="0" rIns="0" bIns="0" rtlCol="0" anchor="t">
            <a:normAutofit/>
          </a:bodyPr>
          <a:lstStyle/>
          <a:p>
            <a:pPr algn="l" indent="0" marL="0">
              <a:lnSpc>
                <a:spcPts val="1858"/>
              </a:lnSpc>
              <a:buNone/>
            </a:pPr>
            <a:r>
              <a:rPr lang="en-US" sz="1299" dirty="0">
                <a:solidFill>
                  <a:srgbClr val="151B2D"/>
                </a:solidFill>
                <a:latin typeface="Inter" pitchFamily="34" charset="0"/>
                <a:ea typeface="Inter" pitchFamily="34" charset="-122"/>
                <a:cs typeface="Inter" pitchFamily="34" charset="-120"/>
              </a:rPr>
              <a:t>1,000 seeded Monte Carlo runs, 30 days. Arrival = due date plus a truncated-normal delay, with a log-normal dispute tail.</a:t>
            </a:r>
            <a:endParaRPr lang="en-US" sz="1299" dirty="0"/>
          </a:p>
        </p:txBody>
      </p:sp>
      <p:sp>
        <p:nvSpPr>
          <p:cNvPr id="6" name="Shape 4"/>
          <p:cNvSpPr/>
          <p:nvPr/>
        </p:nvSpPr>
        <p:spPr>
          <a:xfrm>
            <a:off x="6172200" y="1934369"/>
            <a:ext cx="5207000" cy="1319609"/>
          </a:xfrm>
          <a:prstGeom prst="roundRect">
            <a:avLst>
              <a:gd name="adj" fmla="val 7699"/>
            </a:avLst>
          </a:prstGeom>
          <a:solidFill>
            <a:srgbClr val="FFFFFF"/>
          </a:solidFill>
          <a:ln/>
        </p:spPr>
      </p:sp>
      <p:sp>
        <p:nvSpPr>
          <p:cNvPr id="7" name="Text 5"/>
          <p:cNvSpPr/>
          <p:nvPr/>
        </p:nvSpPr>
        <p:spPr>
          <a:xfrm>
            <a:off x="6400800" y="2112169"/>
            <a:ext cx="4892294" cy="266462"/>
          </a:xfrm>
          <a:prstGeom prst="rect">
            <a:avLst/>
          </a:prstGeom>
          <a:noFill/>
          <a:ln/>
        </p:spPr>
        <p:txBody>
          <a:bodyPr wrap="square" lIns="0" tIns="0" rIns="0" bIns="0" rtlCol="0" anchor="t">
            <a:normAutofit/>
          </a:bodyPr>
          <a:lstStyle/>
          <a:p>
            <a:pPr algn="l" indent="0" marL="0">
              <a:lnSpc>
                <a:spcPts val="1922"/>
              </a:lnSpc>
              <a:buNone/>
            </a:pPr>
            <a:r>
              <a:rPr lang="en-US" sz="1575" b="1" dirty="0">
                <a:solidFill>
                  <a:srgbClr val="151B2D"/>
                </a:solidFill>
                <a:latin typeface="Space Grotesk" pitchFamily="34" charset="0"/>
                <a:ea typeface="Space Grotesk" pitchFamily="34" charset="-122"/>
                <a:cs typeface="Space Grotesk" pitchFamily="34" charset="-120"/>
              </a:rPr>
              <a:t>Option ranking</a:t>
            </a:r>
            <a:endParaRPr lang="en-US" sz="1575" dirty="0"/>
          </a:p>
        </p:txBody>
      </p:sp>
      <p:sp>
        <p:nvSpPr>
          <p:cNvPr id="8" name="Text 6"/>
          <p:cNvSpPr/>
          <p:nvPr/>
        </p:nvSpPr>
        <p:spPr>
          <a:xfrm>
            <a:off x="6400800" y="2416730"/>
            <a:ext cx="4892294" cy="684847"/>
          </a:xfrm>
          <a:prstGeom prst="rect">
            <a:avLst/>
          </a:prstGeom>
          <a:noFill/>
          <a:ln/>
        </p:spPr>
        <p:txBody>
          <a:bodyPr wrap="square" lIns="0" tIns="0" rIns="0" bIns="0" rtlCol="0" anchor="t">
            <a:normAutofit/>
          </a:bodyPr>
          <a:lstStyle/>
          <a:p>
            <a:pPr algn="l" indent="0" marL="0">
              <a:lnSpc>
                <a:spcPts val="1739"/>
              </a:lnSpc>
              <a:buNone/>
            </a:pPr>
            <a:r>
              <a:rPr lang="en-US" sz="1216" dirty="0">
                <a:solidFill>
                  <a:srgbClr val="151B2D"/>
                </a:solidFill>
                <a:latin typeface="Inter" pitchFamily="34" charset="0"/>
                <a:ea typeface="Inter" pitchFamily="34" charset="-122"/>
                <a:cs typeface="Inter" pitchFamily="34" charset="-120"/>
              </a:rPr>
              <a:t>Three ordered screens run first. Effective APR = (cost ÷ amount) × 365 ÷ 30 days. Example: 14.0% quoted plus 2.0% fee gives 38.3%.</a:t>
            </a:r>
            <a:endParaRPr lang="en-US" sz="1216" dirty="0"/>
          </a:p>
        </p:txBody>
      </p:sp>
      <p:sp>
        <p:nvSpPr>
          <p:cNvPr id="9" name="Shape 7"/>
          <p:cNvSpPr/>
          <p:nvPr/>
        </p:nvSpPr>
        <p:spPr>
          <a:xfrm>
            <a:off x="812800" y="3406378"/>
            <a:ext cx="5207000" cy="1319689"/>
          </a:xfrm>
          <a:prstGeom prst="roundRect">
            <a:avLst>
              <a:gd name="adj" fmla="val 7699"/>
            </a:avLst>
          </a:prstGeom>
          <a:solidFill>
            <a:srgbClr val="FFFFFF"/>
          </a:solidFill>
          <a:ln/>
        </p:spPr>
      </p:sp>
      <p:sp>
        <p:nvSpPr>
          <p:cNvPr id="10" name="Text 8"/>
          <p:cNvSpPr/>
          <p:nvPr/>
        </p:nvSpPr>
        <p:spPr>
          <a:xfrm>
            <a:off x="1041400" y="3584178"/>
            <a:ext cx="4892294" cy="266541"/>
          </a:xfrm>
          <a:prstGeom prst="rect">
            <a:avLst/>
          </a:prstGeom>
          <a:noFill/>
          <a:ln/>
        </p:spPr>
        <p:txBody>
          <a:bodyPr wrap="square" lIns="0" tIns="0" rIns="0" bIns="0" rtlCol="0" anchor="t">
            <a:normAutofit/>
          </a:bodyPr>
          <a:lstStyle/>
          <a:p>
            <a:pPr algn="l" indent="0" marL="0">
              <a:lnSpc>
                <a:spcPts val="1922"/>
              </a:lnSpc>
              <a:buNone/>
            </a:pPr>
            <a:r>
              <a:rPr lang="en-US" sz="1575" b="1" dirty="0">
                <a:solidFill>
                  <a:srgbClr val="151B2D"/>
                </a:solidFill>
                <a:latin typeface="Space Grotesk" pitchFamily="34" charset="0"/>
                <a:ea typeface="Space Grotesk" pitchFamily="34" charset="-122"/>
                <a:cs typeface="Space Grotesk" pitchFamily="34" charset="-120"/>
              </a:rPr>
              <a:t>Numerical verification</a:t>
            </a:r>
            <a:endParaRPr lang="en-US" sz="1575" dirty="0"/>
          </a:p>
        </p:txBody>
      </p:sp>
      <p:sp>
        <p:nvSpPr>
          <p:cNvPr id="11" name="Text 9"/>
          <p:cNvSpPr/>
          <p:nvPr/>
        </p:nvSpPr>
        <p:spPr>
          <a:xfrm>
            <a:off x="1041400" y="3888820"/>
            <a:ext cx="4892294" cy="684847"/>
          </a:xfrm>
          <a:prstGeom prst="rect">
            <a:avLst/>
          </a:prstGeom>
          <a:noFill/>
          <a:ln/>
        </p:spPr>
        <p:txBody>
          <a:bodyPr wrap="square" lIns="0" tIns="0" rIns="0" bIns="0" rtlCol="0" anchor="t">
            <a:normAutofit/>
          </a:bodyPr>
          <a:lstStyle/>
          <a:p>
            <a:pPr algn="l" indent="0" marL="0">
              <a:lnSpc>
                <a:spcPts val="1739"/>
              </a:lnSpc>
              <a:buNone/>
            </a:pPr>
            <a:r>
              <a:rPr lang="en-US" sz="1216" dirty="0">
                <a:solidFill>
                  <a:srgbClr val="151B2D"/>
                </a:solidFill>
                <a:latin typeface="Inter" pitchFamily="34" charset="0"/>
                <a:ea typeface="Inter" pitchFamily="34" charset="-122"/>
                <a:cs typeface="Inter" pitchFamily="34" charset="-120"/>
              </a:rPr>
              <a:t>Each money figure in model text must match engine output within max($1, 0.5%); rates within 0.05 points. Signs are checked.</a:t>
            </a:r>
            <a:endParaRPr lang="en-US" sz="1216" dirty="0"/>
          </a:p>
        </p:txBody>
      </p:sp>
      <p:sp>
        <p:nvSpPr>
          <p:cNvPr id="12" name="Shape 10"/>
          <p:cNvSpPr/>
          <p:nvPr/>
        </p:nvSpPr>
        <p:spPr>
          <a:xfrm>
            <a:off x="6172200" y="3406378"/>
            <a:ext cx="5207000" cy="1319689"/>
          </a:xfrm>
          <a:prstGeom prst="roundRect">
            <a:avLst>
              <a:gd name="adj" fmla="val 7699"/>
            </a:avLst>
          </a:prstGeom>
          <a:solidFill>
            <a:srgbClr val="FFFFFF"/>
          </a:solidFill>
          <a:ln/>
        </p:spPr>
      </p:sp>
      <p:sp>
        <p:nvSpPr>
          <p:cNvPr id="13" name="Text 11"/>
          <p:cNvSpPr/>
          <p:nvPr/>
        </p:nvSpPr>
        <p:spPr>
          <a:xfrm>
            <a:off x="6400800" y="3584178"/>
            <a:ext cx="4892294" cy="304244"/>
          </a:xfrm>
          <a:prstGeom prst="rect">
            <a:avLst/>
          </a:prstGeom>
          <a:noFill/>
          <a:ln/>
        </p:spPr>
        <p:txBody>
          <a:bodyPr wrap="square" lIns="0" tIns="0" rIns="0" bIns="0" rtlCol="0" anchor="t">
            <a:normAutofit/>
          </a:bodyPr>
          <a:lstStyle/>
          <a:p>
            <a:pPr algn="l" indent="0" marL="0">
              <a:lnSpc>
                <a:spcPts val="2196"/>
              </a:lnSpc>
              <a:buNone/>
            </a:pPr>
            <a:r>
              <a:rPr lang="en-US" sz="1800" b="1" dirty="0">
                <a:solidFill>
                  <a:srgbClr val="151B2D"/>
                </a:solidFill>
                <a:latin typeface="Space Grotesk" pitchFamily="34" charset="0"/>
                <a:ea typeface="Space Grotesk" pitchFamily="34" charset="-122"/>
                <a:cs typeface="Space Grotesk" pitchFamily="34" charset="-120"/>
              </a:rPr>
              <a:t>Recovery optimizer (MILP)</a:t>
            </a:r>
            <a:endParaRPr lang="en-US" sz="1800" dirty="0"/>
          </a:p>
        </p:txBody>
      </p:sp>
      <p:sp>
        <p:nvSpPr>
          <p:cNvPr id="14" name="Text 12"/>
          <p:cNvSpPr/>
          <p:nvPr/>
        </p:nvSpPr>
        <p:spPr>
          <a:xfrm>
            <a:off x="6400800" y="3926523"/>
            <a:ext cx="4892294" cy="533876"/>
          </a:xfrm>
          <a:prstGeom prst="rect">
            <a:avLst/>
          </a:prstGeom>
          <a:noFill/>
          <a:ln/>
        </p:spPr>
        <p:txBody>
          <a:bodyPr wrap="square" lIns="0" tIns="0" rIns="0" bIns="0" rtlCol="0" anchor="t">
            <a:normAutofit/>
          </a:bodyPr>
          <a:lstStyle/>
          <a:p>
            <a:pPr algn="l" indent="0" marL="0">
              <a:lnSpc>
                <a:spcPts val="2002"/>
              </a:lnSpc>
              <a:buNone/>
            </a:pPr>
            <a:r>
              <a:rPr lang="en-US" sz="1400" dirty="0">
                <a:solidFill>
                  <a:srgbClr val="151B2D"/>
                </a:solidFill>
                <a:latin typeface="Inter" pitchFamily="34" charset="0"/>
                <a:ea typeface="Inter" pitchFamily="34" charset="-122"/>
                <a:cs typeface="Inter" pitchFamily="34" charset="-120"/>
              </a:rPr>
              <a:t>HiGHS solves a minimum-cost plan that restores the P10 buffer. Baselines: naive borrowing and do nothing.</a:t>
            </a:r>
            <a:endParaRPr lang="en-US" sz="1400" dirty="0"/>
          </a:p>
        </p:txBody>
      </p:sp>
      <p:sp>
        <p:nvSpPr>
          <p:cNvPr id="15" name="Shape 13"/>
          <p:cNvSpPr/>
          <p:nvPr/>
        </p:nvSpPr>
        <p:spPr>
          <a:xfrm>
            <a:off x="812800" y="4929268"/>
            <a:ext cx="10566400" cy="912733"/>
          </a:xfrm>
          <a:prstGeom prst="roundRect">
            <a:avLst>
              <a:gd name="adj" fmla="val 11131"/>
            </a:avLst>
          </a:prstGeom>
          <a:solidFill>
            <a:srgbClr val="151B2D"/>
          </a:solidFill>
          <a:ln/>
        </p:spPr>
      </p:sp>
      <p:sp>
        <p:nvSpPr>
          <p:cNvPr id="16" name="Text 14"/>
          <p:cNvSpPr/>
          <p:nvPr/>
        </p:nvSpPr>
        <p:spPr>
          <a:xfrm>
            <a:off x="1041400" y="5081668"/>
            <a:ext cx="10412476" cy="228044"/>
          </a:xfrm>
          <a:prstGeom prst="rect">
            <a:avLst/>
          </a:prstGeom>
          <a:noFill/>
          <a:ln/>
        </p:spPr>
        <p:txBody>
          <a:bodyPr wrap="square" lIns="0" tIns="0" rIns="0" bIns="0" rtlCol="0" anchor="t">
            <a:normAutofit/>
          </a:bodyPr>
          <a:lstStyle/>
          <a:p>
            <a:pPr algn="l" indent="0" marL="0">
              <a:lnSpc>
                <a:spcPts val="1596"/>
              </a:lnSpc>
              <a:buNone/>
            </a:pPr>
            <a:r>
              <a:rPr lang="en-US" sz="1200" b="1" dirty="0">
                <a:solidFill>
                  <a:srgbClr val="C6F432"/>
                </a:solidFill>
                <a:latin typeface="Inter" pitchFamily="34" charset="0"/>
                <a:ea typeface="Inter" pitchFamily="34" charset="-122"/>
                <a:cs typeface="Inter" pitchFamily="34" charset="-120"/>
              </a:rPr>
              <a:t>Currency:</a:t>
            </a:r>
            <a:endParaRPr lang="en-US" sz="1200" dirty="0"/>
          </a:p>
        </p:txBody>
      </p:sp>
      <p:sp>
        <p:nvSpPr>
          <p:cNvPr id="17" name="Text 15"/>
          <p:cNvSpPr/>
          <p:nvPr/>
        </p:nvSpPr>
        <p:spPr>
          <a:xfrm>
            <a:off x="1041400" y="5284313"/>
            <a:ext cx="10412476" cy="228044"/>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F4F7EA"/>
                </a:solidFill>
                <a:latin typeface="Inter" pitchFamily="34" charset="0"/>
                <a:ea typeface="Inter" pitchFamily="34" charset="-122"/>
                <a:cs typeface="Inter" pitchFamily="34" charset="-120"/>
              </a:rPr>
              <a:t>each company record carries a currency code, and approval payloads use integer cents. The sources describe no exchange-rate handling.</a:t>
            </a:r>
            <a:endParaRPr lang="en-US" sz="1200" dirty="0"/>
          </a:p>
        </p:txBody>
      </p:sp>
      <p:sp>
        <p:nvSpPr>
          <p:cNvPr id="18" name="Text 16"/>
          <p:cNvSpPr/>
          <p:nvPr/>
        </p:nvSpPr>
        <p:spPr>
          <a:xfrm>
            <a:off x="1041400" y="5486955"/>
            <a:ext cx="10412476" cy="228044"/>
          </a:xfrm>
          <a:prstGeom prst="rect">
            <a:avLst/>
          </a:prstGeom>
          <a:noFill/>
          <a:ln/>
        </p:spPr>
        <p:txBody>
          <a:bodyPr wrap="square" lIns="0" tIns="0" rIns="0" bIns="0" rtlCol="0" anchor="t">
            <a:normAutofit/>
          </a:bodyPr>
          <a:lstStyle/>
          <a:p>
            <a:pPr algn="l" indent="0" marL="0">
              <a:lnSpc>
                <a:spcPts val="1596"/>
              </a:lnSpc>
              <a:buNone/>
            </a:pPr>
            <a:r>
              <a:rPr lang="en-US" sz="1200" b="1" dirty="0">
                <a:solidFill>
                  <a:srgbClr val="C6F432"/>
                </a:solidFill>
                <a:latin typeface="Inter" pitchFamily="34" charset="0"/>
                <a:ea typeface="Inter" pitchFamily="34" charset="-122"/>
                <a:cs typeface="Inter" pitchFamily="34" charset="-120"/>
              </a:rPr>
              <a:t>TBD.</a:t>
            </a:r>
            <a:endParaRPr lang="en-US" sz="1200" dirty="0"/>
          </a:p>
        </p:txBody>
      </p:sp>
      <p:sp>
        <p:nvSpPr>
          <p:cNvPr id="19" name="Text 17"/>
          <p:cNvSpPr/>
          <p:nvPr/>
        </p:nvSpPr>
        <p:spPr>
          <a:xfrm>
            <a:off x="812800" y="6248955"/>
            <a:ext cx="7498080" cy="228044"/>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4A5263"/>
                </a:solidFill>
                <a:latin typeface="Inter" pitchFamily="34" charset="0"/>
                <a:ea typeface="Inter" pitchFamily="34" charset="-122"/>
                <a:cs typeface="Inter" pitchFamily="34" charset="-120"/>
              </a:rPr>
              <a:t>Vantora AI · Topic E · FinTechathon 2026 · Source: Technical Documentation, chapter 3</a:t>
            </a:r>
            <a:endParaRPr lang="en-US" sz="1200" dirty="0"/>
          </a:p>
        </p:txBody>
      </p:sp>
      <p:sp>
        <p:nvSpPr>
          <p:cNvPr id="20" name="Text 18"/>
          <p:cNvSpPr/>
          <p:nvPr/>
        </p:nvSpPr>
        <p:spPr>
          <a:xfrm>
            <a:off x="10920953" y="6248955"/>
            <a:ext cx="458248" cy="228044"/>
          </a:xfrm>
          <a:prstGeom prst="rect">
            <a:avLst/>
          </a:prstGeom>
          <a:noFill/>
          <a:ln/>
        </p:spPr>
        <p:txBody>
          <a:bodyPr wrap="square" lIns="0" tIns="0" rIns="0" bIns="0" rtlCol="0" anchor="t">
            <a:normAutofit/>
          </a:bodyPr>
          <a:lstStyle/>
          <a:p>
            <a:pPr algn="r" indent="0" marL="0">
              <a:lnSpc>
                <a:spcPts val="1596"/>
              </a:lnSpc>
              <a:buNone/>
            </a:pPr>
            <a:r>
              <a:rPr lang="en-US" sz="1200" dirty="0">
                <a:solidFill>
                  <a:srgbClr val="4A5263"/>
                </a:solidFill>
                <a:latin typeface="Inter" pitchFamily="34" charset="0"/>
                <a:ea typeface="Inter" pitchFamily="34" charset="-122"/>
                <a:cs typeface="Inter" pitchFamily="34" charset="-120"/>
              </a:rPr>
              <a:t>7 / 12</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43769"/>
          </a:xfrm>
          <a:prstGeom prst="rect">
            <a:avLst/>
          </a:prstGeom>
          <a:noFill/>
          <a:ln/>
        </p:spPr>
        <p:txBody>
          <a:bodyPr wrap="square" lIns="0" tIns="0" rIns="0" bIns="0" rtlCol="0" anchor="t">
            <a:normAutofit/>
          </a:bodyPr>
          <a:lstStyle/>
          <a:p>
            <a:pPr algn="l" indent="0" marL="0">
              <a:lnSpc>
                <a:spcPts val="3616"/>
              </a:lnSpc>
              <a:buNone/>
            </a:pPr>
            <a:r>
              <a:rPr lang="en-US" sz="3200" b="1" i="0" dirty="0">
                <a:solidFill>
                  <a:srgbClr val="151B2D"/>
                </a:solidFill>
                <a:latin typeface="Space Grotesk" pitchFamily="34" charset="0"/>
                <a:ea typeface="Space Grotesk" pitchFamily="34" charset="-122"/>
                <a:cs typeface="Space Grotesk" pitchFamily="34" charset="-120"/>
              </a:rPr>
              <a:t>Simulated results from the canonical demo; sandbox logs still to be captured</a:t>
            </a:r>
            <a:endParaRPr lang="en-US" sz="3200" dirty="0"/>
          </a:p>
        </p:txBody>
      </p:sp>
      <p:sp>
        <p:nvSpPr>
          <p:cNvPr id="3" name="Shape 1"/>
          <p:cNvSpPr/>
          <p:nvPr/>
        </p:nvSpPr>
        <p:spPr>
          <a:xfrm>
            <a:off x="812800" y="1985169"/>
            <a:ext cx="5166360" cy="3400187"/>
          </a:xfrm>
          <a:prstGeom prst="roundRect">
            <a:avLst>
              <a:gd name="adj" fmla="val 2988"/>
            </a:avLst>
          </a:prstGeom>
          <a:solidFill>
            <a:srgbClr val="FFFFFF"/>
          </a:solidFill>
          <a:ln/>
        </p:spPr>
      </p:sp>
      <p:sp>
        <p:nvSpPr>
          <p:cNvPr id="4" name="Text 2"/>
          <p:cNvSpPr/>
          <p:nvPr/>
        </p:nvSpPr>
        <p:spPr>
          <a:xfrm>
            <a:off x="1066800" y="2239169"/>
            <a:ext cx="4798111" cy="298688"/>
          </a:xfrm>
          <a:prstGeom prst="rect">
            <a:avLst/>
          </a:prstGeom>
          <a:noFill/>
          <a:ln/>
        </p:spPr>
        <p:txBody>
          <a:bodyPr wrap="square" lIns="0" tIns="0" rIns="0" bIns="0" rtlCol="0" anchor="t">
            <a:normAutofit/>
          </a:bodyPr>
          <a:lstStyle/>
          <a:p>
            <a:pPr algn="l" indent="0" marL="0">
              <a:lnSpc>
                <a:spcPts val="2169"/>
              </a:lnSpc>
              <a:buNone/>
            </a:pPr>
            <a:r>
              <a:rPr lang="en-US" sz="1778" b="1" dirty="0">
                <a:solidFill>
                  <a:srgbClr val="151B2D"/>
                </a:solidFill>
                <a:latin typeface="Space Grotesk" pitchFamily="34" charset="0"/>
                <a:ea typeface="Space Grotesk" pitchFamily="34" charset="-122"/>
                <a:cs typeface="Space Grotesk" pitchFamily="34" charset="-120"/>
              </a:rPr>
              <a:t>Simulated, from the technical document</a:t>
            </a:r>
            <a:endParaRPr lang="en-US" sz="1778" dirty="0"/>
          </a:p>
        </p:txBody>
      </p:sp>
      <p:sp>
        <p:nvSpPr>
          <p:cNvPr id="5" name="Text 3"/>
          <p:cNvSpPr/>
          <p:nvPr/>
        </p:nvSpPr>
        <p:spPr>
          <a:xfrm>
            <a:off x="1100815" y="2639457"/>
            <a:ext cx="4758000" cy="2517299"/>
          </a:xfrm>
          <a:prstGeom prst="rect">
            <a:avLst/>
          </a:prstGeom>
          <a:noFill/>
          <a:ln/>
        </p:spPr>
        <p:txBody>
          <a:bodyPr wrap="square" lIns="0" tIns="0" rIns="0" bIns="0" rtlCol="0" anchor="t">
            <a:normAutofit/>
          </a:bodyPr>
          <a:lstStyle/>
          <a:p>
            <a:pPr algn="l" marL="169185" indent="-169185">
              <a:lnSpc>
                <a:spcPts val="1958"/>
              </a:lnSpc>
              <a:buSzPct val="100000"/>
              <a:buChar char="•"/>
            </a:pPr>
            <a:r>
              <a:rPr lang="en-US" sz="1369" dirty="0">
                <a:solidFill>
                  <a:srgbClr val="151B2D"/>
                </a:solidFill>
                <a:latin typeface="Inter" pitchFamily="34" charset="0"/>
                <a:ea typeface="Inter" pitchFamily="34" charset="-122"/>
                <a:cs typeface="Inter" pitchFamily="34" charset="-120"/>
              </a:rPr>
              <a:t>Forecast: P10 cash on day 14 is −$49,700; shortfall in 100.0% of 1,000 trajectories</a:t>
            </a:r>
            <a:endParaRPr lang="en-US" sz="1369" dirty="0"/>
          </a:p>
          <a:p>
            <a:pPr algn="l" marL="169185" indent="-169185">
              <a:lnSpc>
                <a:spcPts val="1958"/>
              </a:lnSpc>
              <a:buSzPct val="100000"/>
              <a:buChar char="•"/>
            </a:pPr>
            <a:r>
              <a:rPr lang="en-US" sz="1369" dirty="0">
                <a:solidFill>
                  <a:srgbClr val="151B2D"/>
                </a:solidFill>
                <a:latin typeface="Inter" pitchFamily="34" charset="0"/>
                <a:ea typeface="Inter" pitchFamily="34" charset="-122"/>
                <a:cs typeface="Inter" pitchFamily="34" charset="-120"/>
              </a:rPr>
              <a:t>Decision day 11 against a first shortfall on day 14: a three-day margin</a:t>
            </a:r>
            <a:endParaRPr lang="en-US" sz="1369" dirty="0"/>
          </a:p>
          <a:p>
            <a:pPr algn="l" marL="169185" indent="-169185">
              <a:lnSpc>
                <a:spcPts val="1958"/>
              </a:lnSpc>
              <a:buSzPct val="100000"/>
              <a:buChar char="•"/>
            </a:pPr>
            <a:r>
              <a:rPr lang="en-US" sz="1369" dirty="0">
                <a:solidFill>
                  <a:srgbClr val="151B2D"/>
                </a:solidFill>
                <a:latin typeface="Inter" pitchFamily="34" charset="0"/>
                <a:ea typeface="Inter" pitchFamily="34" charset="-122"/>
                <a:cs typeface="Inter" pitchFamily="34" charset="-120"/>
              </a:rPr>
              <a:t>Heritage SBA (8.0% quoted) is rejected at Screen 2, because it cannot fund in time</a:t>
            </a:r>
            <a:endParaRPr lang="en-US" sz="1369" dirty="0"/>
          </a:p>
          <a:p>
            <a:pPr algn="l" marL="169185" indent="-169185">
              <a:lnSpc>
                <a:spcPts val="1958"/>
              </a:lnSpc>
              <a:buSzPct val="100000"/>
              <a:buChar char="•"/>
            </a:pPr>
            <a:r>
              <a:rPr lang="en-US" sz="1369" dirty="0">
                <a:solidFill>
                  <a:srgbClr val="151B2D"/>
                </a:solidFill>
                <a:latin typeface="Inter" pitchFamily="34" charset="0"/>
                <a:ea typeface="Inter" pitchFamily="34" charset="-122"/>
                <a:cs typeface="Inter" pitchFamily="34" charset="-120"/>
              </a:rPr>
              <a:t>Recovery plan closes the $74,700 gap for $1,368.88 total cost</a:t>
            </a:r>
            <a:endParaRPr lang="en-US" sz="1369" dirty="0"/>
          </a:p>
          <a:p>
            <a:pPr algn="l" marL="169185" indent="-169185">
              <a:lnSpc>
                <a:spcPts val="1958"/>
              </a:lnSpc>
              <a:buSzPct val="100000"/>
              <a:buChar char="•"/>
            </a:pPr>
            <a:r>
              <a:rPr lang="en-US" sz="1369" dirty="0">
                <a:solidFill>
                  <a:srgbClr val="151B2D"/>
                </a:solidFill>
                <a:latin typeface="Inter" pitchFamily="34" charset="0"/>
                <a:ea typeface="Inter" pitchFamily="34" charset="-122"/>
                <a:cs typeface="Inter" pitchFamily="34" charset="-120"/>
              </a:rPr>
              <a:t>Never more expensive than greedy over 216 scenarios; win count not stated: TBD</a:t>
            </a:r>
            <a:endParaRPr lang="en-US" sz="1369" dirty="0"/>
          </a:p>
        </p:txBody>
      </p:sp>
      <p:sp>
        <p:nvSpPr>
          <p:cNvPr id="6" name="Shape 4"/>
          <p:cNvSpPr/>
          <p:nvPr/>
        </p:nvSpPr>
        <p:spPr>
          <a:xfrm>
            <a:off x="6191885" y="1994694"/>
            <a:ext cx="5177790" cy="3381137"/>
          </a:xfrm>
          <a:prstGeom prst="roundRect">
            <a:avLst>
              <a:gd name="adj" fmla="val 2723"/>
            </a:avLst>
          </a:prstGeom>
          <a:solidFill>
            <a:srgbClr val="FFFFFF"/>
          </a:solidFill>
          <a:ln w="19050">
            <a:solidFill>
              <a:srgbClr val="151B2D"/>
            </a:solidFill>
            <a:prstDash val="dash"/>
          </a:ln>
        </p:spPr>
      </p:sp>
      <p:sp>
        <p:nvSpPr>
          <p:cNvPr id="7" name="Text 5"/>
          <p:cNvSpPr/>
          <p:nvPr/>
        </p:nvSpPr>
        <p:spPr>
          <a:xfrm>
            <a:off x="6451600" y="2807891"/>
            <a:ext cx="4798111" cy="304244"/>
          </a:xfrm>
          <a:prstGeom prst="rect">
            <a:avLst/>
          </a:prstGeom>
          <a:noFill/>
          <a:ln/>
        </p:spPr>
        <p:txBody>
          <a:bodyPr wrap="square" lIns="0" tIns="0" rIns="0" bIns="0" rtlCol="0" anchor="t">
            <a:normAutofit/>
          </a:bodyPr>
          <a:lstStyle/>
          <a:p>
            <a:pPr algn="l" indent="0" marL="0">
              <a:lnSpc>
                <a:spcPts val="2196"/>
              </a:lnSpc>
              <a:buNone/>
            </a:pPr>
            <a:r>
              <a:rPr lang="en-US" sz="1800" b="1" dirty="0">
                <a:solidFill>
                  <a:srgbClr val="151B2D"/>
                </a:solidFill>
                <a:latin typeface="Space Grotesk" pitchFamily="34" charset="0"/>
                <a:ea typeface="Space Grotesk" pitchFamily="34" charset="-122"/>
                <a:cs typeface="Space Grotesk" pitchFamily="34" charset="-120"/>
              </a:rPr>
              <a:t>Sandbox operation log</a:t>
            </a:r>
            <a:endParaRPr lang="en-US" sz="1800" dirty="0"/>
          </a:p>
        </p:txBody>
      </p:sp>
      <p:sp>
        <p:nvSpPr>
          <p:cNvPr id="8" name="Text 6"/>
          <p:cNvSpPr/>
          <p:nvPr/>
        </p:nvSpPr>
        <p:spPr>
          <a:xfrm>
            <a:off x="6451600" y="3213736"/>
            <a:ext cx="4798111" cy="484584"/>
          </a:xfrm>
          <a:prstGeom prst="rect">
            <a:avLst/>
          </a:prstGeom>
          <a:noFill/>
          <a:ln/>
        </p:spPr>
        <p:txBody>
          <a:bodyPr wrap="square" lIns="0" tIns="0" rIns="0" bIns="0" rtlCol="0" anchor="t">
            <a:normAutofit/>
          </a:bodyPr>
          <a:lstStyle/>
          <a:p>
            <a:pPr algn="l" indent="0" marL="0">
              <a:lnSpc>
                <a:spcPts val="3616"/>
              </a:lnSpc>
              <a:buNone/>
            </a:pPr>
            <a:r>
              <a:rPr lang="en-US" sz="3200" b="1" dirty="0">
                <a:solidFill>
                  <a:srgbClr val="151B2D"/>
                </a:solidFill>
                <a:latin typeface="Space Grotesk" pitchFamily="34" charset="0"/>
                <a:ea typeface="Space Grotesk" pitchFamily="34" charset="-122"/>
                <a:cs typeface="Space Grotesk" pitchFamily="34" charset="-120"/>
              </a:rPr>
              <a:t>TO BE CAPTURED</a:t>
            </a:r>
            <a:endParaRPr lang="en-US" sz="3200" dirty="0"/>
          </a:p>
        </p:txBody>
      </p:sp>
      <p:sp>
        <p:nvSpPr>
          <p:cNvPr id="9" name="Text 7"/>
          <p:cNvSpPr/>
          <p:nvPr/>
        </p:nvSpPr>
        <p:spPr>
          <a:xfrm>
            <a:off x="6451600" y="3799920"/>
            <a:ext cx="4798111" cy="788114"/>
          </a:xfrm>
          <a:prstGeom prst="rect">
            <a:avLst/>
          </a:prstGeom>
          <a:noFill/>
          <a:ln/>
        </p:spPr>
        <p:txBody>
          <a:bodyPr wrap="square" lIns="0" tIns="0" rIns="0" bIns="0" rtlCol="0" anchor="t">
            <a:normAutofit/>
          </a:bodyPr>
          <a:lstStyle/>
          <a:p>
            <a:pPr algn="l" indent="0" marL="0">
              <a:lnSpc>
                <a:spcPts val="2002"/>
              </a:lnSpc>
              <a:buNone/>
            </a:pPr>
            <a:r>
              <a:rPr lang="en-US" sz="1400" dirty="0">
                <a:solidFill>
                  <a:srgbClr val="151B2D"/>
                </a:solidFill>
                <a:latin typeface="Inter" pitchFamily="34" charset="0"/>
                <a:ea typeface="Inter" pitchFamily="34" charset="-122"/>
                <a:cs typeface="Inter" pitchFamily="34" charset="-120"/>
              </a:rPr>
              <a:t>One recorded run of approval-to-execution on the simulated account: timestamps, token outcome and hash-chain entries.</a:t>
            </a:r>
            <a:endParaRPr lang="en-US" sz="1400" dirty="0"/>
          </a:p>
        </p:txBody>
      </p:sp>
      <p:sp>
        <p:nvSpPr>
          <p:cNvPr id="10" name="Text 8"/>
          <p:cNvSpPr/>
          <p:nvPr/>
        </p:nvSpPr>
        <p:spPr>
          <a:xfrm>
            <a:off x="812800" y="5639358"/>
            <a:ext cx="10883392" cy="228044"/>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4A5263"/>
                </a:solidFill>
                <a:latin typeface="Inter" pitchFamily="34" charset="0"/>
                <a:ea typeface="Inter" pitchFamily="34" charset="-122"/>
                <a:cs typeface="Inter" pitchFamily="34" charset="-120"/>
              </a:rPr>
              <a:t>Tests reported in the technical document: 220 automated (186 TypeScript, 34 Python). Self-reported; to be re-run before submission.</a:t>
            </a:r>
            <a:endParaRPr lang="en-US" sz="1200" dirty="0"/>
          </a:p>
        </p:txBody>
      </p:sp>
      <p:sp>
        <p:nvSpPr>
          <p:cNvPr id="11" name="Text 9"/>
          <p:cNvSpPr/>
          <p:nvPr/>
        </p:nvSpPr>
        <p:spPr>
          <a:xfrm>
            <a:off x="812800" y="6248958"/>
            <a:ext cx="5677757" cy="228044"/>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4A5263"/>
                </a:solidFill>
                <a:latin typeface="Inter" pitchFamily="34" charset="0"/>
                <a:ea typeface="Inter" pitchFamily="34" charset="-122"/>
                <a:cs typeface="Inter" pitchFamily="34" charset="-120"/>
              </a:rPr>
              <a:t>Vantora AI · Topic E · FinTechathon 2026 · Simulated account only</a:t>
            </a:r>
            <a:endParaRPr lang="en-US" sz="1200" dirty="0"/>
          </a:p>
        </p:txBody>
      </p:sp>
      <p:sp>
        <p:nvSpPr>
          <p:cNvPr id="12" name="Text 10"/>
          <p:cNvSpPr/>
          <p:nvPr/>
        </p:nvSpPr>
        <p:spPr>
          <a:xfrm>
            <a:off x="10911332" y="6248958"/>
            <a:ext cx="467868" cy="228044"/>
          </a:xfrm>
          <a:prstGeom prst="rect">
            <a:avLst/>
          </a:prstGeom>
          <a:noFill/>
          <a:ln/>
        </p:spPr>
        <p:txBody>
          <a:bodyPr wrap="square" lIns="0" tIns="0" rIns="0" bIns="0" rtlCol="0" anchor="t">
            <a:normAutofit/>
          </a:bodyPr>
          <a:lstStyle/>
          <a:p>
            <a:pPr algn="r" indent="0" marL="0">
              <a:lnSpc>
                <a:spcPts val="1596"/>
              </a:lnSpc>
              <a:buNone/>
            </a:pPr>
            <a:r>
              <a:rPr lang="en-US" sz="1200" dirty="0">
                <a:solidFill>
                  <a:srgbClr val="4A5263"/>
                </a:solidFill>
                <a:latin typeface="Inter" pitchFamily="34" charset="0"/>
                <a:ea typeface="Inter" pitchFamily="34" charset="-122"/>
                <a:cs typeface="Inter" pitchFamily="34" charset="-120"/>
              </a:rPr>
              <a:t>8 / 12</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51B2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43769"/>
          </a:xfrm>
          <a:prstGeom prst="rect">
            <a:avLst/>
          </a:prstGeom>
          <a:noFill/>
          <a:ln/>
        </p:spPr>
        <p:txBody>
          <a:bodyPr wrap="square" lIns="0" tIns="0" rIns="0" bIns="0" rtlCol="0" anchor="t">
            <a:normAutofit/>
          </a:bodyPr>
          <a:lstStyle/>
          <a:p>
            <a:pPr algn="l" indent="0" marL="0">
              <a:lnSpc>
                <a:spcPts val="3616"/>
              </a:lnSpc>
              <a:buNone/>
            </a:pPr>
            <a:r>
              <a:rPr lang="en-US" sz="3200" b="1" i="0" dirty="0">
                <a:solidFill>
                  <a:srgbClr val="F4F7EA"/>
                </a:solidFill>
                <a:latin typeface="Space Grotesk" pitchFamily="34" charset="0"/>
                <a:ea typeface="Space Grotesk" pitchFamily="34" charset="-122"/>
                <a:cs typeface="Space Grotesk" pitchFamily="34" charset="-120"/>
              </a:rPr>
              <a:t>Security: a deterministic gate sits between the model and any effect</a:t>
            </a:r>
            <a:endParaRPr lang="en-US" sz="3200" dirty="0"/>
          </a:p>
        </p:txBody>
      </p:sp>
      <p:sp>
        <p:nvSpPr>
          <p:cNvPr id="3" name="Shape 1"/>
          <p:cNvSpPr/>
          <p:nvPr/>
        </p:nvSpPr>
        <p:spPr>
          <a:xfrm>
            <a:off x="812800" y="1985169"/>
            <a:ext cx="5410200" cy="3197543"/>
          </a:xfrm>
          <a:prstGeom prst="roundRect">
            <a:avLst>
              <a:gd name="adj" fmla="val 3177"/>
            </a:avLst>
          </a:prstGeom>
          <a:solidFill>
            <a:srgbClr val="1F2740"/>
          </a:solidFill>
          <a:ln/>
        </p:spPr>
      </p:sp>
      <p:sp>
        <p:nvSpPr>
          <p:cNvPr id="4" name="Text 2"/>
          <p:cNvSpPr/>
          <p:nvPr/>
        </p:nvSpPr>
        <p:spPr>
          <a:xfrm>
            <a:off x="1041400" y="2213769"/>
            <a:ext cx="5101590" cy="283289"/>
          </a:xfrm>
          <a:prstGeom prst="rect">
            <a:avLst/>
          </a:prstGeom>
          <a:noFill/>
          <a:ln/>
        </p:spPr>
        <p:txBody>
          <a:bodyPr wrap="square" lIns="0" tIns="0" rIns="0" bIns="0" rtlCol="0" anchor="t">
            <a:normAutofit/>
          </a:bodyPr>
          <a:lstStyle/>
          <a:p>
            <a:pPr algn="l" indent="0" marL="0">
              <a:lnSpc>
                <a:spcPts val="2072"/>
              </a:lnSpc>
              <a:buNone/>
            </a:pPr>
            <a:r>
              <a:rPr lang="en-US" sz="1699" b="1" dirty="0">
                <a:solidFill>
                  <a:srgbClr val="C6F432"/>
                </a:solidFill>
                <a:latin typeface="Space Grotesk" pitchFamily="34" charset="0"/>
                <a:ea typeface="Space Grotesk" pitchFamily="34" charset="-122"/>
                <a:cs typeface="Space Grotesk" pitchFamily="34" charset="-120"/>
              </a:rPr>
              <a:t>Permission tiers</a:t>
            </a:r>
            <a:endParaRPr lang="en-US" sz="1699" dirty="0"/>
          </a:p>
        </p:txBody>
      </p:sp>
      <p:sp>
        <p:nvSpPr>
          <p:cNvPr id="5" name="Shape 3"/>
          <p:cNvSpPr/>
          <p:nvPr/>
        </p:nvSpPr>
        <p:spPr>
          <a:xfrm>
            <a:off x="1041400" y="2878851"/>
            <a:ext cx="4953000" cy="0"/>
          </a:xfrm>
          <a:prstGeom prst="line">
            <a:avLst/>
          </a:prstGeom>
          <a:noFill/>
          <a:ln w="12700">
            <a:solidFill>
              <a:srgbClr val="34405E"/>
            </a:solidFill>
            <a:prstDash val="solid"/>
          </a:ln>
        </p:spPr>
      </p:sp>
      <p:sp>
        <p:nvSpPr>
          <p:cNvPr id="6" name="Text 4"/>
          <p:cNvSpPr/>
          <p:nvPr/>
        </p:nvSpPr>
        <p:spPr>
          <a:xfrm>
            <a:off x="1041400" y="2624057"/>
            <a:ext cx="1962150" cy="212884"/>
          </a:xfrm>
          <a:prstGeom prst="rect">
            <a:avLst/>
          </a:prstGeom>
          <a:noFill/>
          <a:ln/>
        </p:spPr>
        <p:txBody>
          <a:bodyPr wrap="square" lIns="0" tIns="0" rIns="0" bIns="0" rtlCol="0" anchor="t">
            <a:normAutofit/>
          </a:bodyPr>
          <a:lstStyle/>
          <a:p>
            <a:pPr algn="l" indent="0" marL="0">
              <a:lnSpc>
                <a:spcPts val="1596"/>
              </a:lnSpc>
              <a:buNone/>
            </a:pPr>
            <a:r>
              <a:rPr lang="en-US" sz="1200" b="1" dirty="0">
                <a:solidFill>
                  <a:srgbClr val="F4F7EA"/>
                </a:solidFill>
                <a:latin typeface="Inter" pitchFamily="34" charset="0"/>
                <a:ea typeface="Inter" pitchFamily="34" charset="-122"/>
                <a:cs typeface="Inter" pitchFamily="34" charset="-120"/>
              </a:rPr>
              <a:t>Tier 0 · AUTO_READ</a:t>
            </a:r>
            <a:endParaRPr lang="en-US" sz="1200" dirty="0"/>
          </a:p>
        </p:txBody>
      </p:sp>
      <p:sp>
        <p:nvSpPr>
          <p:cNvPr id="7" name="Text 5"/>
          <p:cNvSpPr/>
          <p:nvPr/>
        </p:nvSpPr>
        <p:spPr>
          <a:xfrm>
            <a:off x="3073400" y="2624057"/>
            <a:ext cx="2398967" cy="212884"/>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F4F7EA"/>
                </a:solidFill>
                <a:latin typeface="Inter" pitchFamily="34" charset="0"/>
                <a:ea typeface="Inter" pitchFamily="34" charset="-122"/>
                <a:cs typeface="Inter" pitchFamily="34" charset="-120"/>
              </a:rPr>
              <a:t>Read-only, runs unattended</a:t>
            </a:r>
            <a:endParaRPr lang="en-US" sz="1200" dirty="0"/>
          </a:p>
        </p:txBody>
      </p:sp>
      <p:sp>
        <p:nvSpPr>
          <p:cNvPr id="8" name="Shape 6"/>
          <p:cNvSpPr/>
          <p:nvPr/>
        </p:nvSpPr>
        <p:spPr>
          <a:xfrm>
            <a:off x="1041400" y="3292315"/>
            <a:ext cx="4953000" cy="0"/>
          </a:xfrm>
          <a:prstGeom prst="line">
            <a:avLst/>
          </a:prstGeom>
          <a:noFill/>
          <a:ln w="12700">
            <a:solidFill>
              <a:srgbClr val="34405E"/>
            </a:solidFill>
            <a:prstDash val="solid"/>
          </a:ln>
        </p:spPr>
      </p:sp>
      <p:sp>
        <p:nvSpPr>
          <p:cNvPr id="9" name="Text 7"/>
          <p:cNvSpPr/>
          <p:nvPr/>
        </p:nvSpPr>
        <p:spPr>
          <a:xfrm>
            <a:off x="1041400" y="3037601"/>
            <a:ext cx="1962150" cy="212804"/>
          </a:xfrm>
          <a:prstGeom prst="rect">
            <a:avLst/>
          </a:prstGeom>
          <a:noFill/>
          <a:ln/>
        </p:spPr>
        <p:txBody>
          <a:bodyPr wrap="square" lIns="0" tIns="0" rIns="0" bIns="0" rtlCol="0" anchor="t">
            <a:normAutofit/>
          </a:bodyPr>
          <a:lstStyle/>
          <a:p>
            <a:pPr algn="l" indent="0" marL="0">
              <a:lnSpc>
                <a:spcPts val="1596"/>
              </a:lnSpc>
              <a:buNone/>
            </a:pPr>
            <a:r>
              <a:rPr lang="en-US" sz="1200" b="1" dirty="0">
                <a:solidFill>
                  <a:srgbClr val="F4F7EA"/>
                </a:solidFill>
                <a:latin typeface="Inter" pitchFamily="34" charset="0"/>
                <a:ea typeface="Inter" pitchFamily="34" charset="-122"/>
                <a:cs typeface="Inter" pitchFamily="34" charset="-120"/>
              </a:rPr>
              <a:t>Tier 1 · DRAFT_ONLY</a:t>
            </a:r>
            <a:endParaRPr lang="en-US" sz="1200" dirty="0"/>
          </a:p>
        </p:txBody>
      </p:sp>
      <p:sp>
        <p:nvSpPr>
          <p:cNvPr id="10" name="Text 8"/>
          <p:cNvSpPr/>
          <p:nvPr/>
        </p:nvSpPr>
        <p:spPr>
          <a:xfrm>
            <a:off x="3073400" y="3037601"/>
            <a:ext cx="2063115" cy="212804"/>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F4F7EA"/>
                </a:solidFill>
                <a:latin typeface="Inter" pitchFamily="34" charset="0"/>
                <a:ea typeface="Inter" pitchFamily="34" charset="-122"/>
                <a:cs typeface="Inter" pitchFamily="34" charset="-120"/>
              </a:rPr>
              <a:t>Text only, no side effect</a:t>
            </a:r>
            <a:endParaRPr lang="en-US" sz="1200" dirty="0"/>
          </a:p>
        </p:txBody>
      </p:sp>
      <p:sp>
        <p:nvSpPr>
          <p:cNvPr id="11" name="Shape 9"/>
          <p:cNvSpPr/>
          <p:nvPr/>
        </p:nvSpPr>
        <p:spPr>
          <a:xfrm>
            <a:off x="1041400" y="3893268"/>
            <a:ext cx="4953000" cy="0"/>
          </a:xfrm>
          <a:prstGeom prst="line">
            <a:avLst/>
          </a:prstGeom>
          <a:noFill/>
          <a:ln w="12700">
            <a:solidFill>
              <a:srgbClr val="34405E"/>
            </a:solidFill>
            <a:prstDash val="solid"/>
          </a:ln>
        </p:spPr>
      </p:sp>
      <p:sp>
        <p:nvSpPr>
          <p:cNvPr id="12" name="Text 10"/>
          <p:cNvSpPr/>
          <p:nvPr/>
        </p:nvSpPr>
        <p:spPr>
          <a:xfrm>
            <a:off x="1041400" y="3451070"/>
            <a:ext cx="1962150" cy="400288"/>
          </a:xfrm>
          <a:prstGeom prst="rect">
            <a:avLst/>
          </a:prstGeom>
          <a:noFill/>
          <a:ln/>
        </p:spPr>
        <p:txBody>
          <a:bodyPr wrap="square" lIns="0" tIns="0" rIns="0" bIns="0" rtlCol="0" anchor="t">
            <a:normAutofit/>
          </a:bodyPr>
          <a:lstStyle/>
          <a:p>
            <a:pPr algn="l" indent="0" marL="0">
              <a:lnSpc>
                <a:spcPts val="1596"/>
              </a:lnSpc>
              <a:buNone/>
            </a:pPr>
            <a:r>
              <a:rPr lang="en-US" sz="1200" b="1" dirty="0">
                <a:solidFill>
                  <a:srgbClr val="F4F7EA"/>
                </a:solidFill>
                <a:latin typeface="Inter" pitchFamily="34" charset="0"/>
                <a:ea typeface="Inter" pitchFamily="34" charset="-122"/>
                <a:cs typeface="Inter" pitchFamily="34" charset="-120"/>
              </a:rPr>
              <a:t>Tier 2 · HITL_APPROVAL</a:t>
            </a:r>
            <a:endParaRPr lang="en-US" sz="1200" dirty="0"/>
          </a:p>
        </p:txBody>
      </p:sp>
      <p:sp>
        <p:nvSpPr>
          <p:cNvPr id="13" name="Text 11"/>
          <p:cNvSpPr/>
          <p:nvPr/>
        </p:nvSpPr>
        <p:spPr>
          <a:xfrm>
            <a:off x="3073400" y="3451070"/>
            <a:ext cx="3008630" cy="400288"/>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F4F7EA"/>
                </a:solidFill>
                <a:latin typeface="Inter" pitchFamily="34" charset="0"/>
                <a:ea typeface="Inter" pitchFamily="34" charset="-122"/>
                <a:cs typeface="Inter" pitchFamily="34" charset="-120"/>
              </a:rPr>
              <a:t>Runs only with a single-use owner approval</a:t>
            </a:r>
            <a:endParaRPr lang="en-US" sz="1200" dirty="0"/>
          </a:p>
        </p:txBody>
      </p:sp>
      <p:sp>
        <p:nvSpPr>
          <p:cNvPr id="14" name="Text 12"/>
          <p:cNvSpPr/>
          <p:nvPr/>
        </p:nvSpPr>
        <p:spPr>
          <a:xfrm>
            <a:off x="1041400" y="4052013"/>
            <a:ext cx="1962150" cy="587693"/>
          </a:xfrm>
          <a:prstGeom prst="rect">
            <a:avLst/>
          </a:prstGeom>
          <a:noFill/>
          <a:ln/>
        </p:spPr>
        <p:txBody>
          <a:bodyPr wrap="square" lIns="0" tIns="0" rIns="0" bIns="0" rtlCol="0" anchor="t">
            <a:normAutofit/>
          </a:bodyPr>
          <a:lstStyle/>
          <a:p>
            <a:pPr algn="l" indent="0" marL="0">
              <a:lnSpc>
                <a:spcPts val="1596"/>
              </a:lnSpc>
              <a:buNone/>
            </a:pPr>
            <a:r>
              <a:rPr lang="en-US" sz="1200" b="1" dirty="0">
                <a:solidFill>
                  <a:srgbClr val="C6F432"/>
                </a:solidFill>
                <a:latin typeface="Inter" pitchFamily="34" charset="0"/>
                <a:ea typeface="Inter" pitchFamily="34" charset="-122"/>
                <a:cs typeface="Inter" pitchFamily="34" charset="-120"/>
              </a:rPr>
              <a:t>Tier 3 · PROHIBITED</a:t>
            </a:r>
            <a:endParaRPr lang="en-US" sz="1200" dirty="0"/>
          </a:p>
        </p:txBody>
      </p:sp>
      <p:sp>
        <p:nvSpPr>
          <p:cNvPr id="15" name="Text 13"/>
          <p:cNvSpPr/>
          <p:nvPr/>
        </p:nvSpPr>
        <p:spPr>
          <a:xfrm>
            <a:off x="3073400" y="4052013"/>
            <a:ext cx="3008630" cy="587693"/>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F4F7EA"/>
                </a:solidFill>
                <a:latin typeface="Inter" pitchFamily="34" charset="0"/>
                <a:ea typeface="Inter" pitchFamily="34" charset="-122"/>
                <a:cs typeface="Inter" pitchFamily="34" charset="-120"/>
              </a:rPr>
              <a:t>Never runs for any caller: wire funds, change bank details, disable audit log, export records</a:t>
            </a:r>
            <a:endParaRPr lang="en-US" sz="1200" dirty="0"/>
          </a:p>
        </p:txBody>
      </p:sp>
      <p:sp>
        <p:nvSpPr>
          <p:cNvPr id="16" name="Text 14"/>
          <p:cNvSpPr/>
          <p:nvPr/>
        </p:nvSpPr>
        <p:spPr>
          <a:xfrm>
            <a:off x="1041400" y="4766711"/>
            <a:ext cx="5101590" cy="212804"/>
          </a:xfrm>
          <a:prstGeom prst="rect">
            <a:avLst/>
          </a:prstGeom>
          <a:noFill/>
          <a:ln/>
        </p:spPr>
        <p:txBody>
          <a:bodyPr wrap="square" lIns="0" tIns="0" rIns="0" bIns="0" rtlCol="0" anchor="t">
            <a:normAutofit/>
          </a:bodyPr>
          <a:lstStyle/>
          <a:p>
            <a:pPr algn="l" indent="0" marL="0">
              <a:lnSpc>
                <a:spcPts val="1521"/>
              </a:lnSpc>
              <a:buNone/>
            </a:pPr>
            <a:r>
              <a:rPr lang="en-US" sz="1144" dirty="0">
                <a:solidFill>
                  <a:srgbClr val="B9C2D6"/>
                </a:solidFill>
                <a:latin typeface="Inter" pitchFamily="34" charset="0"/>
                <a:ea typeface="Inter" pitchFamily="34" charset="-122"/>
                <a:cs typeface="Inter" pitchFamily="34" charset="-120"/>
              </a:rPr>
              <a:t>Unregistered operations default to Tier 2.</a:t>
            </a:r>
            <a:endParaRPr lang="en-US" sz="1144" dirty="0"/>
          </a:p>
        </p:txBody>
      </p:sp>
      <p:sp>
        <p:nvSpPr>
          <p:cNvPr id="17" name="Shape 15"/>
          <p:cNvSpPr/>
          <p:nvPr/>
        </p:nvSpPr>
        <p:spPr>
          <a:xfrm>
            <a:off x="6426200" y="1985169"/>
            <a:ext cx="4953000" cy="981234"/>
          </a:xfrm>
          <a:prstGeom prst="roundRect">
            <a:avLst>
              <a:gd name="adj" fmla="val 10354"/>
            </a:avLst>
          </a:prstGeom>
          <a:solidFill>
            <a:srgbClr val="FFFFFF"/>
          </a:solidFill>
          <a:ln/>
        </p:spPr>
      </p:sp>
      <p:sp>
        <p:nvSpPr>
          <p:cNvPr id="18" name="Text 16"/>
          <p:cNvSpPr/>
          <p:nvPr/>
        </p:nvSpPr>
        <p:spPr>
          <a:xfrm>
            <a:off x="6629400" y="2137569"/>
            <a:ext cx="4682998" cy="280432"/>
          </a:xfrm>
          <a:prstGeom prst="rect">
            <a:avLst/>
          </a:prstGeom>
          <a:noFill/>
          <a:ln/>
        </p:spPr>
        <p:txBody>
          <a:bodyPr wrap="square" lIns="0" tIns="0" rIns="0" bIns="0" rtlCol="0" anchor="t">
            <a:normAutofit/>
          </a:bodyPr>
          <a:lstStyle/>
          <a:p>
            <a:pPr algn="l" indent="0" marL="0">
              <a:lnSpc>
                <a:spcPts val="2024"/>
              </a:lnSpc>
              <a:buNone/>
            </a:pPr>
            <a:r>
              <a:rPr lang="en-US" sz="1659" b="1" dirty="0">
                <a:solidFill>
                  <a:srgbClr val="151B2D"/>
                </a:solidFill>
                <a:latin typeface="Space Grotesk" pitchFamily="34" charset="0"/>
                <a:ea typeface="Space Grotesk" pitchFamily="34" charset="-122"/>
                <a:cs typeface="Space Grotesk" pitchFamily="34" charset="-120"/>
              </a:rPr>
              <a:t>Approval gate</a:t>
            </a:r>
            <a:endParaRPr lang="en-US" sz="1659" dirty="0"/>
          </a:p>
        </p:txBody>
      </p:sp>
      <p:sp>
        <p:nvSpPr>
          <p:cNvPr id="19" name="Text 17"/>
          <p:cNvSpPr/>
          <p:nvPr/>
        </p:nvSpPr>
        <p:spPr>
          <a:xfrm>
            <a:off x="6629400" y="2443404"/>
            <a:ext cx="4682998" cy="396002"/>
          </a:xfrm>
          <a:prstGeom prst="rect">
            <a:avLst/>
          </a:prstGeom>
          <a:noFill/>
          <a:ln/>
        </p:spPr>
        <p:txBody>
          <a:bodyPr wrap="square" lIns="0" tIns="0" rIns="0" bIns="0" rtlCol="0" anchor="t">
            <a:normAutofit/>
          </a:bodyPr>
          <a:lstStyle/>
          <a:p>
            <a:pPr algn="l" indent="0" marL="0">
              <a:lnSpc>
                <a:spcPts val="1461"/>
              </a:lnSpc>
              <a:buNone/>
            </a:pPr>
            <a:r>
              <a:rPr lang="en-US" sz="1099" dirty="0">
                <a:solidFill>
                  <a:srgbClr val="151B2D"/>
                </a:solidFill>
                <a:latin typeface="Inter" pitchFamily="34" charset="0"/>
                <a:ea typeface="Inter" pitchFamily="34" charset="-122"/>
                <a:cs typeface="Inter" pitchFamily="34" charset="-120"/>
              </a:rPr>
              <a:t>HMAC-SHA256 token bound to the exact action, plan version and amount. Five-minute expiry, single-use nonce.</a:t>
            </a:r>
            <a:endParaRPr lang="en-US" sz="1099" dirty="0"/>
          </a:p>
        </p:txBody>
      </p:sp>
      <p:sp>
        <p:nvSpPr>
          <p:cNvPr id="20" name="Shape 18"/>
          <p:cNvSpPr/>
          <p:nvPr/>
        </p:nvSpPr>
        <p:spPr>
          <a:xfrm>
            <a:off x="6426200" y="3093405"/>
            <a:ext cx="4953000" cy="981154"/>
          </a:xfrm>
          <a:prstGeom prst="roundRect">
            <a:avLst>
              <a:gd name="adj" fmla="val 10355"/>
            </a:avLst>
          </a:prstGeom>
          <a:solidFill>
            <a:srgbClr val="FFFFFF"/>
          </a:solidFill>
          <a:ln/>
        </p:spPr>
      </p:sp>
      <p:sp>
        <p:nvSpPr>
          <p:cNvPr id="21" name="Text 19"/>
          <p:cNvSpPr/>
          <p:nvPr/>
        </p:nvSpPr>
        <p:spPr>
          <a:xfrm>
            <a:off x="6629400" y="3245805"/>
            <a:ext cx="4682998" cy="280353"/>
          </a:xfrm>
          <a:prstGeom prst="rect">
            <a:avLst/>
          </a:prstGeom>
          <a:noFill/>
          <a:ln/>
        </p:spPr>
        <p:txBody>
          <a:bodyPr wrap="square" lIns="0" tIns="0" rIns="0" bIns="0" rtlCol="0" anchor="t">
            <a:normAutofit/>
          </a:bodyPr>
          <a:lstStyle/>
          <a:p>
            <a:pPr algn="l" indent="0" marL="0">
              <a:lnSpc>
                <a:spcPts val="2024"/>
              </a:lnSpc>
              <a:buNone/>
            </a:pPr>
            <a:r>
              <a:rPr lang="en-US" sz="1659" b="1" dirty="0">
                <a:solidFill>
                  <a:srgbClr val="151B2D"/>
                </a:solidFill>
                <a:latin typeface="Space Grotesk" pitchFamily="34" charset="0"/>
                <a:ea typeface="Space Grotesk" pitchFamily="34" charset="-122"/>
                <a:cs typeface="Space Grotesk" pitchFamily="34" charset="-120"/>
              </a:rPr>
              <a:t>Data isolation</a:t>
            </a:r>
            <a:endParaRPr lang="en-US" sz="1659" dirty="0"/>
          </a:p>
        </p:txBody>
      </p:sp>
      <p:sp>
        <p:nvSpPr>
          <p:cNvPr id="22" name="Text 20"/>
          <p:cNvSpPr/>
          <p:nvPr/>
        </p:nvSpPr>
        <p:spPr>
          <a:xfrm>
            <a:off x="6629400" y="3551554"/>
            <a:ext cx="4682998" cy="396002"/>
          </a:xfrm>
          <a:prstGeom prst="rect">
            <a:avLst/>
          </a:prstGeom>
          <a:noFill/>
          <a:ln/>
        </p:spPr>
        <p:txBody>
          <a:bodyPr wrap="square" lIns="0" tIns="0" rIns="0" bIns="0" rtlCol="0" anchor="t">
            <a:normAutofit/>
          </a:bodyPr>
          <a:lstStyle/>
          <a:p>
            <a:pPr algn="l" indent="0" marL="0">
              <a:lnSpc>
                <a:spcPts val="1461"/>
              </a:lnSpc>
              <a:buNone/>
            </a:pPr>
            <a:r>
              <a:rPr lang="en-US" sz="1099" dirty="0">
                <a:solidFill>
                  <a:srgbClr val="151B2D"/>
                </a:solidFill>
                <a:latin typeface="Inter" pitchFamily="34" charset="0"/>
                <a:ea typeface="Inter" pitchFamily="34" charset="-122"/>
                <a:cs typeface="Inter" pitchFamily="34" charset="-120"/>
              </a:rPr>
              <a:t>Company and role come from the database on every request, never from the client. Cross-company access returns 403.</a:t>
            </a:r>
            <a:endParaRPr lang="en-US" sz="1099" dirty="0"/>
          </a:p>
        </p:txBody>
      </p:sp>
      <p:sp>
        <p:nvSpPr>
          <p:cNvPr id="23" name="Shape 21"/>
          <p:cNvSpPr/>
          <p:nvPr/>
        </p:nvSpPr>
        <p:spPr>
          <a:xfrm>
            <a:off x="6426200" y="4201561"/>
            <a:ext cx="4953000" cy="981154"/>
          </a:xfrm>
          <a:prstGeom prst="roundRect">
            <a:avLst>
              <a:gd name="adj" fmla="val 10355"/>
            </a:avLst>
          </a:prstGeom>
          <a:solidFill>
            <a:srgbClr val="FFFFFF"/>
          </a:solidFill>
          <a:ln/>
        </p:spPr>
      </p:sp>
      <p:sp>
        <p:nvSpPr>
          <p:cNvPr id="24" name="Text 22"/>
          <p:cNvSpPr/>
          <p:nvPr/>
        </p:nvSpPr>
        <p:spPr>
          <a:xfrm>
            <a:off x="6629400" y="4353961"/>
            <a:ext cx="4682998" cy="280353"/>
          </a:xfrm>
          <a:prstGeom prst="rect">
            <a:avLst/>
          </a:prstGeom>
          <a:noFill/>
          <a:ln/>
        </p:spPr>
        <p:txBody>
          <a:bodyPr wrap="square" lIns="0" tIns="0" rIns="0" bIns="0" rtlCol="0" anchor="t">
            <a:normAutofit/>
          </a:bodyPr>
          <a:lstStyle/>
          <a:p>
            <a:pPr algn="l" indent="0" marL="0">
              <a:lnSpc>
                <a:spcPts val="2024"/>
              </a:lnSpc>
              <a:buNone/>
            </a:pPr>
            <a:r>
              <a:rPr lang="en-US" sz="1659" b="1" dirty="0">
                <a:solidFill>
                  <a:srgbClr val="151B2D"/>
                </a:solidFill>
                <a:latin typeface="Space Grotesk" pitchFamily="34" charset="0"/>
                <a:ea typeface="Space Grotesk" pitchFamily="34" charset="-122"/>
                <a:cs typeface="Space Grotesk" pitchFamily="34" charset="-120"/>
              </a:rPr>
              <a:t>Audit and sandbox</a:t>
            </a:r>
            <a:endParaRPr lang="en-US" sz="1659" dirty="0"/>
          </a:p>
        </p:txBody>
      </p:sp>
      <p:sp>
        <p:nvSpPr>
          <p:cNvPr id="25" name="Text 23"/>
          <p:cNvSpPr/>
          <p:nvPr/>
        </p:nvSpPr>
        <p:spPr>
          <a:xfrm>
            <a:off x="6629400" y="4659709"/>
            <a:ext cx="4682998" cy="396002"/>
          </a:xfrm>
          <a:prstGeom prst="rect">
            <a:avLst/>
          </a:prstGeom>
          <a:noFill/>
          <a:ln/>
        </p:spPr>
        <p:txBody>
          <a:bodyPr wrap="square" lIns="0" tIns="0" rIns="0" bIns="0" rtlCol="0" anchor="t">
            <a:normAutofit/>
          </a:bodyPr>
          <a:lstStyle/>
          <a:p>
            <a:pPr algn="l" indent="0" marL="0">
              <a:lnSpc>
                <a:spcPts val="1461"/>
              </a:lnSpc>
              <a:buNone/>
            </a:pPr>
            <a:r>
              <a:rPr lang="en-US" sz="1099" dirty="0">
                <a:solidFill>
                  <a:srgbClr val="151B2D"/>
                </a:solidFill>
                <a:latin typeface="Inter" pitchFamily="34" charset="0"/>
                <a:ea typeface="Inter" pitchFamily="34" charset="-122"/>
                <a:cs typeface="Inter" pitchFamily="34" charset="-120"/>
              </a:rPr>
              <a:t>Each allow or deny joins a SHA-256 hash chain; payloads kept as digests. Simulated account only, no live payment rail.</a:t>
            </a:r>
            <a:endParaRPr lang="en-US" sz="1099" dirty="0"/>
          </a:p>
        </p:txBody>
      </p:sp>
      <p:sp>
        <p:nvSpPr>
          <p:cNvPr id="26" name="Text 24"/>
          <p:cNvSpPr/>
          <p:nvPr/>
        </p:nvSpPr>
        <p:spPr>
          <a:xfrm>
            <a:off x="812800" y="5436710"/>
            <a:ext cx="10883392" cy="430689"/>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B9C2D6"/>
                </a:solidFill>
                <a:latin typeface="Inter" pitchFamily="34" charset="0"/>
                <a:ea typeface="Inter" pitchFamily="34" charset="-122"/>
                <a:cs typeface="Inter" pitchFamily="34" charset="-120"/>
              </a:rPr>
              <a:t>Self-assessment probes, reported and not yet re-run: role forgery 403 · token replay 409 · amount tamper 422 · sign inversion 500 · invoice jailbreak isolated.</a:t>
            </a:r>
            <a:endParaRPr lang="en-US" sz="1200" dirty="0"/>
          </a:p>
        </p:txBody>
      </p:sp>
      <p:sp>
        <p:nvSpPr>
          <p:cNvPr id="27" name="Text 25"/>
          <p:cNvSpPr/>
          <p:nvPr/>
        </p:nvSpPr>
        <p:spPr>
          <a:xfrm>
            <a:off x="812800" y="6248958"/>
            <a:ext cx="8785146" cy="228044"/>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B9C2D6"/>
                </a:solidFill>
                <a:latin typeface="Inter" pitchFamily="34" charset="0"/>
                <a:ea typeface="Inter" pitchFamily="34" charset="-122"/>
                <a:cs typeface="Inter" pitchFamily="34" charset="-120"/>
              </a:rPr>
              <a:t>Vantora AI · Topic E · FinTechathon 2026 · Source: Security Design, chapter 4; Self-Assessment Report</a:t>
            </a:r>
            <a:endParaRPr lang="en-US" sz="1200" dirty="0"/>
          </a:p>
        </p:txBody>
      </p:sp>
      <p:sp>
        <p:nvSpPr>
          <p:cNvPr id="28" name="Text 26"/>
          <p:cNvSpPr/>
          <p:nvPr/>
        </p:nvSpPr>
        <p:spPr>
          <a:xfrm>
            <a:off x="10911046" y="6248958"/>
            <a:ext cx="468154" cy="228044"/>
          </a:xfrm>
          <a:prstGeom prst="rect">
            <a:avLst/>
          </a:prstGeom>
          <a:noFill/>
          <a:ln/>
        </p:spPr>
        <p:txBody>
          <a:bodyPr wrap="square" lIns="0" tIns="0" rIns="0" bIns="0" rtlCol="0" anchor="t">
            <a:normAutofit/>
          </a:bodyPr>
          <a:lstStyle/>
          <a:p>
            <a:pPr algn="r" indent="0" marL="0">
              <a:lnSpc>
                <a:spcPts val="1596"/>
              </a:lnSpc>
              <a:buNone/>
            </a:pPr>
            <a:r>
              <a:rPr lang="en-US" sz="1200" dirty="0">
                <a:solidFill>
                  <a:srgbClr val="B9C2D6"/>
                </a:solidFill>
                <a:latin typeface="Inter" pitchFamily="34" charset="0"/>
                <a:ea typeface="Inter" pitchFamily="34" charset="-122"/>
                <a:cs typeface="Inter" pitchFamily="34" charset="-120"/>
              </a:rPr>
              <a:t>9 / 12</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84584"/>
          </a:xfrm>
          <a:prstGeom prst="rect">
            <a:avLst/>
          </a:prstGeom>
          <a:noFill/>
          <a:ln/>
        </p:spPr>
        <p:txBody>
          <a:bodyPr wrap="square" lIns="0" tIns="0" rIns="0" bIns="0" rtlCol="0" anchor="t">
            <a:normAutofit/>
          </a:bodyPr>
          <a:lstStyle/>
          <a:p>
            <a:pPr algn="l" indent="0" marL="0">
              <a:lnSpc>
                <a:spcPts val="3616"/>
              </a:lnSpc>
              <a:buNone/>
            </a:pPr>
            <a:r>
              <a:rPr lang="en-US" sz="3200" b="1" i="0" dirty="0">
                <a:solidFill>
                  <a:srgbClr val="151B2D"/>
                </a:solidFill>
                <a:latin typeface="Space Grotesk" pitchFamily="34" charset="0"/>
                <a:ea typeface="Space Grotesk" pitchFamily="34" charset="-122"/>
                <a:cs typeface="Space Grotesk" pitchFamily="34" charset="-120"/>
              </a:rPr>
              <a:t>Known risks: what we have not solved yet</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36144"/>
          <a:ext cx="10556240" cy="3544808"/>
        </p:xfrm>
        <a:graphic>
          <a:graphicData uri="http://schemas.openxmlformats.org/drawingml/2006/table">
            <a:tbl>
              <a:tblPr/>
              <a:tblGrid>
                <a:gridCol w="3061310"/>
                <a:gridCol w="1266749"/>
                <a:gridCol w="2955747"/>
                <a:gridCol w="3272434"/>
              </a:tblGrid>
              <a:tr h="390604">
                <a:tc>
                  <a:txBody>
                    <a:bodyPr/>
                    <a:lstStyle/>
                    <a:p>
                      <a:pPr indent="0" marL="0">
                        <a:lnSpc>
                          <a:spcPts val="1680"/>
                        </a:lnSpc>
                        <a:buNone/>
                      </a:pPr>
                      <a:r>
                        <a:rPr lang="en-US" sz="1200" b="1" dirty="0">
                          <a:solidFill>
                            <a:srgbClr val="151B2D"/>
                          </a:solidFill>
                          <a:latin typeface="Inter" pitchFamily="34" charset="0"/>
                          <a:ea typeface="Inter" pitchFamily="34" charset="-122"/>
                          <a:cs typeface="Inter" pitchFamily="34" charset="-120"/>
                        </a:rPr>
                        <a:t>Risk</a:t>
                      </a:r>
                      <a:endParaRPr lang="en-US" sz="1200" dirty="0">
                        <a:latin typeface="Inter" charset="0"/>
                        <a:ea typeface="Inter" charset="0"/>
                        <a:cs typeface="Inter" charset="0"/>
                      </a:endParaRPr>
                    </a:p>
                  </a:txBody>
                  <a:tcPr marL="101600" marR="101600" marT="88900" marB="88900" anchor="t">
                    <a:lnL w="12700" cap="flat" cmpd="sng" algn="ctr">
                      <a:solidFill>
                        <a:srgbClr val="C3C5BB"/>
                      </a:solidFill>
                      <a:prstDash val="solid"/>
                      <a:round/>
                      <a:headEnd type="none" w="med" len="med"/>
                      <a:tailEnd type="none" w="med" len="med"/>
                    </a:lnL>
                    <a:lnR w="12700" cap="flat" cmpd="sng" algn="ctr">
                      <a:solidFill>
                        <a:srgbClr val="B5B7AD"/>
                      </a:solidFill>
                      <a:prstDash val="solid"/>
                      <a:round/>
                      <a:headEnd type="none" w="med" len="med"/>
                      <a:tailEnd type="none" w="med" len="med"/>
                    </a:lnR>
                    <a:lnT w="12700" cap="flat" cmpd="sng" algn="ctr">
                      <a:solidFill>
                        <a:srgbClr val="C3C5BB"/>
                      </a:solidFill>
                      <a:prstDash val="solid"/>
                      <a:round/>
                      <a:headEnd type="none" w="med" len="med"/>
                      <a:tailEnd type="none" w="med" len="med"/>
                    </a:lnT>
                    <a:lnB w="12700" cap="flat" cmpd="sng" algn="ctr">
                      <a:solidFill>
                        <a:srgbClr val="B5B7AD"/>
                      </a:solidFill>
                      <a:prstDash val="solid"/>
                      <a:round/>
                      <a:headEnd type="none" w="med" len="med"/>
                      <a:tailEnd type="none" w="med" len="med"/>
                    </a:lnB>
                    <a:solidFill>
                      <a:srgbClr val="E2E5D9"/>
                    </a:solidFill>
                  </a:tcPr>
                </a:tc>
                <a:tc>
                  <a:txBody>
                    <a:bodyPr/>
                    <a:lstStyle/>
                    <a:p>
                      <a:pPr indent="0" marL="0">
                        <a:lnSpc>
                          <a:spcPts val="1680"/>
                        </a:lnSpc>
                        <a:buNone/>
                      </a:pPr>
                      <a:r>
                        <a:rPr lang="en-US" sz="1200" b="1" dirty="0">
                          <a:solidFill>
                            <a:srgbClr val="151B2D"/>
                          </a:solidFill>
                          <a:latin typeface="Inter" pitchFamily="34" charset="0"/>
                          <a:ea typeface="Inter" pitchFamily="34" charset="-122"/>
                          <a:cs typeface="Inter" pitchFamily="34" charset="-120"/>
                        </a:rPr>
                        <a:t>Severity</a:t>
                      </a:r>
                      <a:endParaRPr lang="en-US" sz="1200" dirty="0">
                        <a:latin typeface="Inter" charset="0"/>
                        <a:ea typeface="Inter" charset="0"/>
                        <a:cs typeface="Inter" charset="0"/>
                      </a:endParaRPr>
                    </a:p>
                  </a:txBody>
                  <a:tcPr marL="101600" marR="101600" marT="88900" marB="88900" anchor="t">
                    <a:lnL w="12700" cap="flat" cmpd="sng" algn="ctr">
                      <a:solidFill>
                        <a:srgbClr val="B5B7AD"/>
                      </a:solidFill>
                      <a:prstDash val="solid"/>
                      <a:round/>
                      <a:headEnd type="none" w="med" len="med"/>
                      <a:tailEnd type="none" w="med" len="med"/>
                    </a:lnL>
                    <a:lnR w="12700" cap="flat" cmpd="sng" algn="ctr">
                      <a:solidFill>
                        <a:srgbClr val="B5B7AD"/>
                      </a:solidFill>
                      <a:prstDash val="solid"/>
                      <a:round/>
                      <a:headEnd type="none" w="med" len="med"/>
                      <a:tailEnd type="none" w="med" len="med"/>
                    </a:lnR>
                    <a:lnT w="12700" cap="flat" cmpd="sng" algn="ctr">
                      <a:solidFill>
                        <a:srgbClr val="C3C5BB"/>
                      </a:solidFill>
                      <a:prstDash val="solid"/>
                      <a:round/>
                      <a:headEnd type="none" w="med" len="med"/>
                      <a:tailEnd type="none" w="med" len="med"/>
                    </a:lnT>
                    <a:lnB w="12700" cap="flat" cmpd="sng" algn="ctr">
                      <a:solidFill>
                        <a:srgbClr val="B5B7AD"/>
                      </a:solidFill>
                      <a:prstDash val="solid"/>
                      <a:round/>
                      <a:headEnd type="none" w="med" len="med"/>
                      <a:tailEnd type="none" w="med" len="med"/>
                    </a:lnB>
                    <a:solidFill>
                      <a:srgbClr val="E2E5D9"/>
                    </a:solidFill>
                  </a:tcPr>
                </a:tc>
                <a:tc>
                  <a:txBody>
                    <a:bodyPr/>
                    <a:lstStyle/>
                    <a:p>
                      <a:pPr indent="0" marL="0">
                        <a:lnSpc>
                          <a:spcPts val="1680"/>
                        </a:lnSpc>
                        <a:buNone/>
                      </a:pPr>
                      <a:r>
                        <a:rPr lang="en-US" sz="1200" b="1" dirty="0">
                          <a:solidFill>
                            <a:srgbClr val="151B2D"/>
                          </a:solidFill>
                          <a:latin typeface="Inter" pitchFamily="34" charset="0"/>
                          <a:ea typeface="Inter" pitchFamily="34" charset="-122"/>
                          <a:cs typeface="Inter" pitchFamily="34" charset="-120"/>
                        </a:rPr>
                        <a:t>Current control</a:t>
                      </a:r>
                      <a:endParaRPr lang="en-US" sz="1200" dirty="0">
                        <a:latin typeface="Inter" charset="0"/>
                        <a:ea typeface="Inter" charset="0"/>
                        <a:cs typeface="Inter" charset="0"/>
                      </a:endParaRPr>
                    </a:p>
                  </a:txBody>
                  <a:tcPr marL="101600" marR="101600" marT="88900" marB="88900" anchor="t">
                    <a:lnL w="12700" cap="flat" cmpd="sng" algn="ctr">
                      <a:solidFill>
                        <a:srgbClr val="B5B7AD"/>
                      </a:solidFill>
                      <a:prstDash val="solid"/>
                      <a:round/>
                      <a:headEnd type="none" w="med" len="med"/>
                      <a:tailEnd type="none" w="med" len="med"/>
                    </a:lnL>
                    <a:lnR w="12700" cap="flat" cmpd="sng" algn="ctr">
                      <a:solidFill>
                        <a:srgbClr val="B5B7AD"/>
                      </a:solidFill>
                      <a:prstDash val="solid"/>
                      <a:round/>
                      <a:headEnd type="none" w="med" len="med"/>
                      <a:tailEnd type="none" w="med" len="med"/>
                    </a:lnR>
                    <a:lnT w="12700" cap="flat" cmpd="sng" algn="ctr">
                      <a:solidFill>
                        <a:srgbClr val="C3C5BB"/>
                      </a:solidFill>
                      <a:prstDash val="solid"/>
                      <a:round/>
                      <a:headEnd type="none" w="med" len="med"/>
                      <a:tailEnd type="none" w="med" len="med"/>
                    </a:lnT>
                    <a:lnB w="12700" cap="flat" cmpd="sng" algn="ctr">
                      <a:solidFill>
                        <a:srgbClr val="B5B7AD"/>
                      </a:solidFill>
                      <a:prstDash val="solid"/>
                      <a:round/>
                      <a:headEnd type="none" w="med" len="med"/>
                      <a:tailEnd type="none" w="med" len="med"/>
                    </a:lnB>
                    <a:solidFill>
                      <a:srgbClr val="E2E5D9"/>
                    </a:solidFill>
                  </a:tcPr>
                </a:tc>
                <a:tc>
                  <a:txBody>
                    <a:bodyPr/>
                    <a:lstStyle/>
                    <a:p>
                      <a:pPr indent="0" marL="0">
                        <a:lnSpc>
                          <a:spcPts val="1680"/>
                        </a:lnSpc>
                        <a:buNone/>
                      </a:pPr>
                      <a:r>
                        <a:rPr lang="en-US" sz="1200" b="1" dirty="0">
                          <a:solidFill>
                            <a:srgbClr val="151B2D"/>
                          </a:solidFill>
                          <a:latin typeface="Inter" pitchFamily="34" charset="0"/>
                          <a:ea typeface="Inter" pitchFamily="34" charset="-122"/>
                          <a:cs typeface="Inter" pitchFamily="34" charset="-120"/>
                        </a:rPr>
                        <a:t>Open item</a:t>
                      </a:r>
                      <a:endParaRPr lang="en-US" sz="1200" dirty="0">
                        <a:latin typeface="Inter" charset="0"/>
                        <a:ea typeface="Inter" charset="0"/>
                        <a:cs typeface="Inter" charset="0"/>
                      </a:endParaRPr>
                    </a:p>
                  </a:txBody>
                  <a:tcPr marL="101600" marR="101600" marT="88900" marB="88900" anchor="t">
                    <a:lnL w="12700" cap="flat" cmpd="sng" algn="ctr">
                      <a:solidFill>
                        <a:srgbClr val="B5B7AD"/>
                      </a:solidFill>
                      <a:prstDash val="solid"/>
                      <a:round/>
                      <a:headEnd type="none" w="med" len="med"/>
                      <a:tailEnd type="none" w="med" len="med"/>
                    </a:lnL>
                    <a:lnR w="12700" cap="flat" cmpd="sng" algn="ctr">
                      <a:solidFill>
                        <a:srgbClr val="B5B7AD"/>
                      </a:solidFill>
                      <a:prstDash val="solid"/>
                      <a:round/>
                      <a:headEnd type="none" w="med" len="med"/>
                      <a:tailEnd type="none" w="med" len="med"/>
                    </a:lnR>
                    <a:lnT w="12700" cap="flat" cmpd="sng" algn="ctr">
                      <a:solidFill>
                        <a:srgbClr val="C3C5BB"/>
                      </a:solidFill>
                      <a:prstDash val="solid"/>
                      <a:round/>
                      <a:headEnd type="none" w="med" len="med"/>
                      <a:tailEnd type="none" w="med" len="med"/>
                    </a:lnT>
                    <a:lnB w="12700" cap="flat" cmpd="sng" algn="ctr">
                      <a:solidFill>
                        <a:srgbClr val="B5B7AD"/>
                      </a:solidFill>
                      <a:prstDash val="solid"/>
                      <a:round/>
                      <a:headEnd type="none" w="med" len="med"/>
                      <a:tailEnd type="none" w="med" len="med"/>
                    </a:lnB>
                    <a:solidFill>
                      <a:srgbClr val="E2E5D9"/>
                    </a:solidFill>
                  </a:tcPr>
                </a:tc>
              </a:tr>
              <a:tr h="390604">
                <a:tc>
                  <a:txBody>
                    <a:bodyPr/>
                    <a:lstStyle/>
                    <a:p>
                      <a:pPr indent="0" marL="0">
                        <a:lnSpc>
                          <a:spcPts val="1680"/>
                        </a:lnSpc>
                        <a:buNone/>
                      </a:pPr>
                      <a:r>
                        <a:rPr lang="en-US" sz="1200" dirty="0">
                          <a:solidFill>
                            <a:srgbClr val="151B2D"/>
                          </a:solidFill>
                          <a:latin typeface="Inter" pitchFamily="34" charset="0"/>
                          <a:ea typeface="Inter" pitchFamily="34" charset="-122"/>
                          <a:cs typeface="Inter" pitchFamily="34" charset="-120"/>
                        </a:rPr>
                        <a:t>Password-only sign-in (R-01)</a:t>
                      </a:r>
                      <a:endParaRPr lang="en-US" sz="1200" dirty="0">
                        <a:latin typeface="Inter" charset="0"/>
                        <a:ea typeface="Inter" charset="0"/>
                        <a:cs typeface="Inter" charset="0"/>
                      </a:endParaRPr>
                    </a:p>
                  </a:txBody>
                  <a:tcPr marL="101600" marR="101600" marT="88900" marB="88900" anchor="t">
                    <a:lnL w="12700" cap="flat" cmpd="sng" algn="ctr">
                      <a:solidFill>
                        <a:srgbClr val="C3C5BB"/>
                      </a:solidFill>
                      <a:prstDash val="solid"/>
                      <a:round/>
                      <a:headEnd type="none" w="med" len="med"/>
                      <a:tailEnd type="none" w="med" len="med"/>
                    </a:lnL>
                    <a:lnR w="12700" cap="flat" cmpd="sng" algn="ctr">
                      <a:solidFill>
                        <a:srgbClr val="C3C5BB"/>
                      </a:solidFill>
                      <a:prstDash val="solid"/>
                      <a:round/>
                      <a:headEnd type="none" w="med" len="med"/>
                      <a:tailEnd type="none" w="med" len="med"/>
                    </a:lnR>
                    <a:lnT w="12700" cap="flat" cmpd="sng" algn="ctr">
                      <a:solidFill>
                        <a:srgbClr val="B5B7AD"/>
                      </a:solidFill>
                      <a:prstDash val="solid"/>
                      <a:round/>
                      <a:headEnd type="none" w="med" len="med"/>
                      <a:tailEnd type="none" w="med" len="med"/>
                    </a:lnT>
                    <a:lnB w="12700" cap="flat" cmpd="sng" algn="ctr">
                      <a:solidFill>
                        <a:srgbClr val="C3C5BB"/>
                      </a:solidFill>
                      <a:prstDash val="solid"/>
                      <a:round/>
                      <a:headEnd type="none" w="med" len="med"/>
                      <a:tailEnd type="none" w="med" len="med"/>
                    </a:lnB>
                  </a:tcPr>
                </a:tc>
                <a:tc>
                  <a:txBody>
                    <a:bodyPr/>
                    <a:lstStyle/>
                    <a:p>
                      <a:pPr indent="0" marL="0">
                        <a:lnSpc>
                          <a:spcPts val="1680"/>
                        </a:lnSpc>
                        <a:buNone/>
                      </a:pPr>
                      <a:r>
                        <a:rPr lang="en-US" sz="1200" dirty="0">
                          <a:solidFill>
                            <a:srgbClr val="151B2D"/>
                          </a:solidFill>
                          <a:latin typeface="Inter" pitchFamily="34" charset="0"/>
                          <a:ea typeface="Inter" pitchFamily="34" charset="-122"/>
                          <a:cs typeface="Inter" pitchFamily="34" charset="-120"/>
                        </a:rPr>
                        <a:t>Medium</a:t>
                      </a:r>
                      <a:endParaRPr lang="en-US" sz="1200" dirty="0">
                        <a:latin typeface="Inter" charset="0"/>
                        <a:ea typeface="Inter" charset="0"/>
                        <a:cs typeface="Inter" charset="0"/>
                      </a:endParaRPr>
                    </a:p>
                  </a:txBody>
                  <a:tcPr marL="101600" marR="101600" marT="88900" marB="88900" anchor="t">
                    <a:lnL w="12700" cap="flat" cmpd="sng" algn="ctr">
                      <a:solidFill>
                        <a:srgbClr val="C3C5BB"/>
                      </a:solidFill>
                      <a:prstDash val="solid"/>
                      <a:round/>
                      <a:headEnd type="none" w="med" len="med"/>
                      <a:tailEnd type="none" w="med" len="med"/>
                    </a:lnL>
                    <a:lnR w="12700" cap="flat" cmpd="sng" algn="ctr">
                      <a:solidFill>
                        <a:srgbClr val="C3C5BB"/>
                      </a:solidFill>
                      <a:prstDash val="solid"/>
                      <a:round/>
                      <a:headEnd type="none" w="med" len="med"/>
                      <a:tailEnd type="none" w="med" len="med"/>
                    </a:lnR>
                    <a:lnT w="12700" cap="flat" cmpd="sng" algn="ctr">
                      <a:solidFill>
                        <a:srgbClr val="B5B7AD"/>
                      </a:solidFill>
                      <a:prstDash val="solid"/>
                      <a:round/>
                      <a:headEnd type="none" w="med" len="med"/>
                      <a:tailEnd type="none" w="med" len="med"/>
                    </a:lnT>
                    <a:lnB w="12700" cap="flat" cmpd="sng" algn="ctr">
                      <a:solidFill>
                        <a:srgbClr val="C3C5BB"/>
                      </a:solidFill>
                      <a:prstDash val="solid"/>
                      <a:round/>
                      <a:headEnd type="none" w="med" len="med"/>
                      <a:tailEnd type="none" w="med" len="med"/>
                    </a:lnB>
                  </a:tcPr>
                </a:tc>
                <a:tc>
                  <a:txBody>
                    <a:bodyPr/>
                    <a:lstStyle/>
                    <a:p>
                      <a:pPr indent="0" marL="0">
                        <a:lnSpc>
                          <a:spcPts val="1680"/>
                        </a:lnSpc>
                        <a:buNone/>
                      </a:pPr>
                      <a:r>
                        <a:rPr lang="en-US" sz="1200" dirty="0">
                          <a:solidFill>
                            <a:srgbClr val="151B2D"/>
                          </a:solidFill>
                          <a:latin typeface="Inter" pitchFamily="34" charset="0"/>
                          <a:ea typeface="Inter" pitchFamily="34" charset="-122"/>
                          <a:cs typeface="Inter" pitchFamily="34" charset="-120"/>
                        </a:rPr>
                        <a:t>Hashed passwords, short sessions</a:t>
                      </a:r>
                      <a:endParaRPr lang="en-US" sz="1200" dirty="0">
                        <a:latin typeface="Inter" charset="0"/>
                        <a:ea typeface="Inter" charset="0"/>
                        <a:cs typeface="Inter" charset="0"/>
                      </a:endParaRPr>
                    </a:p>
                  </a:txBody>
                  <a:tcPr marL="101600" marR="101600" marT="88900" marB="88900" anchor="t">
                    <a:lnL w="12700" cap="flat" cmpd="sng" algn="ctr">
                      <a:solidFill>
                        <a:srgbClr val="C3C5BB"/>
                      </a:solidFill>
                      <a:prstDash val="solid"/>
                      <a:round/>
                      <a:headEnd type="none" w="med" len="med"/>
                      <a:tailEnd type="none" w="med" len="med"/>
                    </a:lnL>
                    <a:lnR w="12700" cap="flat" cmpd="sng" algn="ctr">
                      <a:solidFill>
                        <a:srgbClr val="C3C5BB"/>
                      </a:solidFill>
                      <a:prstDash val="solid"/>
                      <a:round/>
                      <a:headEnd type="none" w="med" len="med"/>
                      <a:tailEnd type="none" w="med" len="med"/>
                    </a:lnR>
                    <a:lnT w="12700" cap="flat" cmpd="sng" algn="ctr">
                      <a:solidFill>
                        <a:srgbClr val="B5B7AD"/>
                      </a:solidFill>
                      <a:prstDash val="solid"/>
                      <a:round/>
                      <a:headEnd type="none" w="med" len="med"/>
                      <a:tailEnd type="none" w="med" len="med"/>
                    </a:lnT>
                    <a:lnB w="12700" cap="flat" cmpd="sng" algn="ctr">
                      <a:solidFill>
                        <a:srgbClr val="C3C5BB"/>
                      </a:solidFill>
                      <a:prstDash val="solid"/>
                      <a:round/>
                      <a:headEnd type="none" w="med" len="med"/>
                      <a:tailEnd type="none" w="med" len="med"/>
                    </a:lnB>
                  </a:tcPr>
                </a:tc>
                <a:tc>
                  <a:txBody>
                    <a:bodyPr/>
                    <a:lstStyle/>
                    <a:p>
                      <a:pPr indent="0" marL="0">
                        <a:lnSpc>
                          <a:spcPts val="1680"/>
                        </a:lnSpc>
                        <a:buNone/>
                      </a:pPr>
                      <a:r>
                        <a:rPr lang="en-US" sz="1200" dirty="0">
                          <a:solidFill>
                            <a:srgbClr val="151B2D"/>
                          </a:solidFill>
                          <a:latin typeface="Inter" pitchFamily="34" charset="0"/>
                          <a:ea typeface="Inter" pitchFamily="34" charset="-122"/>
                          <a:cs typeface="Inter" pitchFamily="34" charset="-120"/>
                        </a:rPr>
                        <a:t>Phishing can take a session; MFA planned</a:t>
                      </a:r>
                      <a:endParaRPr lang="en-US" sz="1200" dirty="0">
                        <a:latin typeface="Inter" charset="0"/>
                        <a:ea typeface="Inter" charset="0"/>
                        <a:cs typeface="Inter" charset="0"/>
                      </a:endParaRPr>
                    </a:p>
                  </a:txBody>
                  <a:tcPr marL="101600" marR="101600" marT="88900" marB="88900" anchor="t">
                    <a:lnL w="12700" cap="flat" cmpd="sng" algn="ctr">
                      <a:solidFill>
                        <a:srgbClr val="C3C5BB"/>
                      </a:solidFill>
                      <a:prstDash val="solid"/>
                      <a:round/>
                      <a:headEnd type="none" w="med" len="med"/>
                      <a:tailEnd type="none" w="med" len="med"/>
                    </a:lnL>
                    <a:lnR w="12700" cap="flat" cmpd="sng" algn="ctr">
                      <a:solidFill>
                        <a:srgbClr val="C3C5BB"/>
                      </a:solidFill>
                      <a:prstDash val="solid"/>
                      <a:round/>
                      <a:headEnd type="none" w="med" len="med"/>
                      <a:tailEnd type="none" w="med" len="med"/>
                    </a:lnR>
                    <a:lnT w="12700" cap="flat" cmpd="sng" algn="ctr">
                      <a:solidFill>
                        <a:srgbClr val="B5B7AD"/>
                      </a:solidFill>
                      <a:prstDash val="solid"/>
                      <a:round/>
                      <a:headEnd type="none" w="med" len="med"/>
                      <a:tailEnd type="none" w="med" len="med"/>
                    </a:lnT>
                    <a:lnB w="12700" cap="flat" cmpd="sng" algn="ctr">
                      <a:solidFill>
                        <a:srgbClr val="C3C5BB"/>
                      </a:solidFill>
                      <a:prstDash val="solid"/>
                      <a:round/>
                      <a:headEnd type="none" w="med" len="med"/>
                      <a:tailEnd type="none" w="med" len="med"/>
                    </a:lnB>
                  </a:tcPr>
                </a:tc>
              </a:tr>
              <a:tr h="593249">
                <a:tc>
                  <a:txBody>
                    <a:bodyPr/>
                    <a:lstStyle/>
                    <a:p>
                      <a:pPr indent="0" marL="0">
                        <a:lnSpc>
                          <a:spcPts val="1680"/>
                        </a:lnSpc>
                        <a:buNone/>
                      </a:pPr>
                      <a:r>
                        <a:rPr lang="en-US" sz="1200" dirty="0">
                          <a:solidFill>
                            <a:srgbClr val="151B2D"/>
                          </a:solidFill>
                          <a:latin typeface="Inter" pitchFamily="34" charset="0"/>
                          <a:ea typeface="Inter" pitchFamily="34" charset="-122"/>
                          <a:cs typeface="Inter" pitchFamily="34" charset="-120"/>
                        </a:rPr>
                        <a:t>Multi-turn jailbreak (R-02)</a:t>
                      </a:r>
                      <a:endParaRPr lang="en-US" sz="1200" dirty="0">
                        <a:latin typeface="Inter" charset="0"/>
                        <a:ea typeface="Inter" charset="0"/>
                        <a:cs typeface="Inter" charset="0"/>
                      </a:endParaRPr>
                    </a:p>
                  </a:txBody>
                  <a:tcPr marL="101600" marR="101600" marT="88900" marB="88900" anchor="t">
                    <a:lnL w="12700" cap="flat" cmpd="sng" algn="ctr">
                      <a:solidFill>
                        <a:srgbClr val="C3C5BB"/>
                      </a:solidFill>
                      <a:prstDash val="solid"/>
                      <a:round/>
                      <a:headEnd type="none" w="med" len="med"/>
                      <a:tailEnd type="none" w="med" len="med"/>
                    </a:lnL>
                    <a:lnR w="12700" cap="flat" cmpd="sng" algn="ctr">
                      <a:solidFill>
                        <a:srgbClr val="C3C5BB"/>
                      </a:solidFill>
                      <a:prstDash val="solid"/>
                      <a:round/>
                      <a:headEnd type="none" w="med" len="med"/>
                      <a:tailEnd type="none" w="med" len="med"/>
                    </a:lnR>
                    <a:lnT w="12700" cap="flat" cmpd="sng" algn="ctr">
                      <a:solidFill>
                        <a:srgbClr val="C3C5BB"/>
                      </a:solidFill>
                      <a:prstDash val="solid"/>
                      <a:round/>
                      <a:headEnd type="none" w="med" len="med"/>
                      <a:tailEnd type="none" w="med" len="med"/>
                    </a:lnT>
                    <a:lnB w="12700" cap="flat" cmpd="sng" algn="ctr">
                      <a:solidFill>
                        <a:srgbClr val="C3C5BB"/>
                      </a:solidFill>
                      <a:prstDash val="solid"/>
                      <a:round/>
                      <a:headEnd type="none" w="med" len="med"/>
                      <a:tailEnd type="none" w="med" len="med"/>
                    </a:lnB>
                  </a:tcPr>
                </a:tc>
                <a:tc>
                  <a:txBody>
                    <a:bodyPr/>
                    <a:lstStyle/>
                    <a:p>
                      <a:pPr indent="0" marL="0">
                        <a:lnSpc>
                          <a:spcPts val="1680"/>
                        </a:lnSpc>
                        <a:buNone/>
                      </a:pPr>
                      <a:r>
                        <a:rPr lang="en-US" sz="1200" dirty="0">
                          <a:solidFill>
                            <a:srgbClr val="151B2D"/>
                          </a:solidFill>
                          <a:latin typeface="Inter" pitchFamily="34" charset="0"/>
                          <a:ea typeface="Inter" pitchFamily="34" charset="-122"/>
                          <a:cs typeface="Inter" pitchFamily="34" charset="-120"/>
                        </a:rPr>
                        <a:t>Medium</a:t>
                      </a:r>
                      <a:endParaRPr lang="en-US" sz="1200" dirty="0">
                        <a:latin typeface="Inter" charset="0"/>
                        <a:ea typeface="Inter" charset="0"/>
                        <a:cs typeface="Inter" charset="0"/>
                      </a:endParaRPr>
                    </a:p>
                  </a:txBody>
                  <a:tcPr marL="101600" marR="101600" marT="88900" marB="88900" anchor="t">
                    <a:lnL w="12700" cap="flat" cmpd="sng" algn="ctr">
                      <a:solidFill>
                        <a:srgbClr val="C3C5BB"/>
                      </a:solidFill>
                      <a:prstDash val="solid"/>
                      <a:round/>
                      <a:headEnd type="none" w="med" len="med"/>
                      <a:tailEnd type="none" w="med" len="med"/>
                    </a:lnL>
                    <a:lnR w="12700" cap="flat" cmpd="sng" algn="ctr">
                      <a:solidFill>
                        <a:srgbClr val="C3C5BB"/>
                      </a:solidFill>
                      <a:prstDash val="solid"/>
                      <a:round/>
                      <a:headEnd type="none" w="med" len="med"/>
                      <a:tailEnd type="none" w="med" len="med"/>
                    </a:lnR>
                    <a:lnT w="12700" cap="flat" cmpd="sng" algn="ctr">
                      <a:solidFill>
                        <a:srgbClr val="C3C5BB"/>
                      </a:solidFill>
                      <a:prstDash val="solid"/>
                      <a:round/>
                      <a:headEnd type="none" w="med" len="med"/>
                      <a:tailEnd type="none" w="med" len="med"/>
                    </a:lnT>
                    <a:lnB w="12700" cap="flat" cmpd="sng" algn="ctr">
                      <a:solidFill>
                        <a:srgbClr val="C3C5BB"/>
                      </a:solidFill>
                      <a:prstDash val="solid"/>
                      <a:round/>
                      <a:headEnd type="none" w="med" len="med"/>
                      <a:tailEnd type="none" w="med" len="med"/>
                    </a:lnB>
                  </a:tcPr>
                </a:tc>
                <a:tc>
                  <a:txBody>
                    <a:bodyPr/>
                    <a:lstStyle/>
                    <a:p>
                      <a:pPr indent="0" marL="0">
                        <a:lnSpc>
                          <a:spcPts val="1680"/>
                        </a:lnSpc>
                        <a:buNone/>
                      </a:pPr>
                      <a:r>
                        <a:rPr lang="en-US" sz="1200" dirty="0">
                          <a:solidFill>
                            <a:srgbClr val="151B2D"/>
                          </a:solidFill>
                          <a:latin typeface="Inter" pitchFamily="34" charset="0"/>
                          <a:ea typeface="Inter" pitchFamily="34" charset="-122"/>
                          <a:cs typeface="Inter" pitchFamily="34" charset="-120"/>
                        </a:rPr>
                        <a:t>Delimiters, strict JSON schema</a:t>
                      </a:r>
                      <a:endParaRPr lang="en-US" sz="1200" dirty="0">
                        <a:latin typeface="Inter" charset="0"/>
                        <a:ea typeface="Inter" charset="0"/>
                        <a:cs typeface="Inter" charset="0"/>
                      </a:endParaRPr>
                    </a:p>
                  </a:txBody>
                  <a:tcPr marL="101600" marR="101600" marT="88900" marB="88900" anchor="t">
                    <a:lnL w="12700" cap="flat" cmpd="sng" algn="ctr">
                      <a:solidFill>
                        <a:srgbClr val="C3C5BB"/>
                      </a:solidFill>
                      <a:prstDash val="solid"/>
                      <a:round/>
                      <a:headEnd type="none" w="med" len="med"/>
                      <a:tailEnd type="none" w="med" len="med"/>
                    </a:lnL>
                    <a:lnR w="12700" cap="flat" cmpd="sng" algn="ctr">
                      <a:solidFill>
                        <a:srgbClr val="C3C5BB"/>
                      </a:solidFill>
                      <a:prstDash val="solid"/>
                      <a:round/>
                      <a:headEnd type="none" w="med" len="med"/>
                      <a:tailEnd type="none" w="med" len="med"/>
                    </a:lnR>
                    <a:lnT w="12700" cap="flat" cmpd="sng" algn="ctr">
                      <a:solidFill>
                        <a:srgbClr val="C3C5BB"/>
                      </a:solidFill>
                      <a:prstDash val="solid"/>
                      <a:round/>
                      <a:headEnd type="none" w="med" len="med"/>
                      <a:tailEnd type="none" w="med" len="med"/>
                    </a:lnT>
                    <a:lnB w="12700" cap="flat" cmpd="sng" algn="ctr">
                      <a:solidFill>
                        <a:srgbClr val="C3C5BB"/>
                      </a:solidFill>
                      <a:prstDash val="solid"/>
                      <a:round/>
                      <a:headEnd type="none" w="med" len="med"/>
                      <a:tailEnd type="none" w="med" len="med"/>
                    </a:lnB>
                  </a:tcPr>
                </a:tc>
                <a:tc>
                  <a:txBody>
                    <a:bodyPr/>
                    <a:lstStyle/>
                    <a:p>
                      <a:pPr indent="0" marL="0">
                        <a:lnSpc>
                          <a:spcPts val="1680"/>
                        </a:lnSpc>
                        <a:buNone/>
                      </a:pPr>
                      <a:r>
                        <a:rPr lang="en-US" sz="1200" dirty="0">
                          <a:solidFill>
                            <a:srgbClr val="151B2D"/>
                          </a:solidFill>
                          <a:latin typeface="Inter" pitchFamily="34" charset="0"/>
                          <a:ea typeface="Inter" pitchFamily="34" charset="-122"/>
                          <a:cs typeface="Inter" pitchFamily="34" charset="-120"/>
                        </a:rPr>
                        <a:t>Advanced jailbreaks may distort advice; classifier planned</a:t>
                      </a:r>
                      <a:endParaRPr lang="en-US" sz="1200" dirty="0">
                        <a:latin typeface="Inter" charset="0"/>
                        <a:ea typeface="Inter" charset="0"/>
                        <a:cs typeface="Inter" charset="0"/>
                      </a:endParaRPr>
                    </a:p>
                  </a:txBody>
                  <a:tcPr marL="101600" marR="101600" marT="88900" marB="88900" anchor="t">
                    <a:lnL w="12700" cap="flat" cmpd="sng" algn="ctr">
                      <a:solidFill>
                        <a:srgbClr val="C3C5BB"/>
                      </a:solidFill>
                      <a:prstDash val="solid"/>
                      <a:round/>
                      <a:headEnd type="none" w="med" len="med"/>
                      <a:tailEnd type="none" w="med" len="med"/>
                    </a:lnL>
                    <a:lnR w="12700" cap="flat" cmpd="sng" algn="ctr">
                      <a:solidFill>
                        <a:srgbClr val="C3C5BB"/>
                      </a:solidFill>
                      <a:prstDash val="solid"/>
                      <a:round/>
                      <a:headEnd type="none" w="med" len="med"/>
                      <a:tailEnd type="none" w="med" len="med"/>
                    </a:lnR>
                    <a:lnT w="12700" cap="flat" cmpd="sng" algn="ctr">
                      <a:solidFill>
                        <a:srgbClr val="C3C5BB"/>
                      </a:solidFill>
                      <a:prstDash val="solid"/>
                      <a:round/>
                      <a:headEnd type="none" w="med" len="med"/>
                      <a:tailEnd type="none" w="med" len="med"/>
                    </a:lnT>
                    <a:lnB w="12700" cap="flat" cmpd="sng" algn="ctr">
                      <a:solidFill>
                        <a:srgbClr val="C3C5BB"/>
                      </a:solidFill>
                      <a:prstDash val="solid"/>
                      <a:round/>
                      <a:headEnd type="none" w="med" len="med"/>
                      <a:tailEnd type="none" w="med" len="med"/>
                    </a:lnB>
                  </a:tcPr>
                </a:tc>
              </a:tr>
              <a:tr h="593249">
                <a:tc>
                  <a:txBody>
                    <a:bodyPr/>
                    <a:lstStyle/>
                    <a:p>
                      <a:pPr indent="0" marL="0">
                        <a:lnSpc>
                          <a:spcPts val="1680"/>
                        </a:lnSpc>
                        <a:buNone/>
                      </a:pPr>
                      <a:r>
                        <a:rPr lang="en-US" sz="1200" dirty="0">
                          <a:solidFill>
                            <a:srgbClr val="151B2D"/>
                          </a:solidFill>
                          <a:latin typeface="Inter" pitchFamily="34" charset="0"/>
                          <a:ea typeface="Inter" pitchFamily="34" charset="-122"/>
                          <a:cs typeface="Inter" pitchFamily="34" charset="-120"/>
                        </a:rPr>
                        <a:t>Pattern-based injection screen</a:t>
                      </a:r>
                      <a:endParaRPr lang="en-US" sz="1200" dirty="0">
                        <a:latin typeface="Inter" charset="0"/>
                        <a:ea typeface="Inter" charset="0"/>
                        <a:cs typeface="Inter" charset="0"/>
                      </a:endParaRPr>
                    </a:p>
                  </a:txBody>
                  <a:tcPr marL="101600" marR="101600" marT="88900" marB="88900" anchor="t">
                    <a:lnL w="12700" cap="flat" cmpd="sng" algn="ctr">
                      <a:solidFill>
                        <a:srgbClr val="C3C5BB"/>
                      </a:solidFill>
                      <a:prstDash val="solid"/>
                      <a:round/>
                      <a:headEnd type="none" w="med" len="med"/>
                      <a:tailEnd type="none" w="med" len="med"/>
                    </a:lnL>
                    <a:lnR w="12700" cap="flat" cmpd="sng" algn="ctr">
                      <a:solidFill>
                        <a:srgbClr val="C3C5BB"/>
                      </a:solidFill>
                      <a:prstDash val="solid"/>
                      <a:round/>
                      <a:headEnd type="none" w="med" len="med"/>
                      <a:tailEnd type="none" w="med" len="med"/>
                    </a:lnR>
                    <a:lnT w="12700" cap="flat" cmpd="sng" algn="ctr">
                      <a:solidFill>
                        <a:srgbClr val="C3C5BB"/>
                      </a:solidFill>
                      <a:prstDash val="solid"/>
                      <a:round/>
                      <a:headEnd type="none" w="med" len="med"/>
                      <a:tailEnd type="none" w="med" len="med"/>
                    </a:lnT>
                    <a:lnB w="12700" cap="flat" cmpd="sng" algn="ctr">
                      <a:solidFill>
                        <a:srgbClr val="C3C5BB"/>
                      </a:solidFill>
                      <a:prstDash val="solid"/>
                      <a:round/>
                      <a:headEnd type="none" w="med" len="med"/>
                      <a:tailEnd type="none" w="med" len="med"/>
                    </a:lnB>
                  </a:tcPr>
                </a:tc>
                <a:tc>
                  <a:txBody>
                    <a:bodyPr/>
                    <a:lstStyle/>
                    <a:p>
                      <a:pPr indent="0" marL="0">
                        <a:lnSpc>
                          <a:spcPts val="1680"/>
                        </a:lnSpc>
                        <a:buNone/>
                      </a:pPr>
                      <a:r>
                        <a:rPr lang="en-US" sz="1200" dirty="0">
                          <a:solidFill>
                            <a:srgbClr val="151B2D"/>
                          </a:solidFill>
                          <a:latin typeface="Inter" pitchFamily="34" charset="0"/>
                          <a:ea typeface="Inter" pitchFamily="34" charset="-122"/>
                          <a:cs typeface="Inter" pitchFamily="34" charset="-120"/>
                        </a:rPr>
                        <a:t>Medium</a:t>
                      </a:r>
                      <a:endParaRPr lang="en-US" sz="1200" dirty="0">
                        <a:latin typeface="Inter" charset="0"/>
                        <a:ea typeface="Inter" charset="0"/>
                        <a:cs typeface="Inter" charset="0"/>
                      </a:endParaRPr>
                    </a:p>
                  </a:txBody>
                  <a:tcPr marL="101600" marR="101600" marT="88900" marB="88900" anchor="t">
                    <a:lnL w="12700" cap="flat" cmpd="sng" algn="ctr">
                      <a:solidFill>
                        <a:srgbClr val="C3C5BB"/>
                      </a:solidFill>
                      <a:prstDash val="solid"/>
                      <a:round/>
                      <a:headEnd type="none" w="med" len="med"/>
                      <a:tailEnd type="none" w="med" len="med"/>
                    </a:lnL>
                    <a:lnR w="12700" cap="flat" cmpd="sng" algn="ctr">
                      <a:solidFill>
                        <a:srgbClr val="C3C5BB"/>
                      </a:solidFill>
                      <a:prstDash val="solid"/>
                      <a:round/>
                      <a:headEnd type="none" w="med" len="med"/>
                      <a:tailEnd type="none" w="med" len="med"/>
                    </a:lnR>
                    <a:lnT w="12700" cap="flat" cmpd="sng" algn="ctr">
                      <a:solidFill>
                        <a:srgbClr val="C3C5BB"/>
                      </a:solidFill>
                      <a:prstDash val="solid"/>
                      <a:round/>
                      <a:headEnd type="none" w="med" len="med"/>
                      <a:tailEnd type="none" w="med" len="med"/>
                    </a:lnT>
                    <a:lnB w="12700" cap="flat" cmpd="sng" algn="ctr">
                      <a:solidFill>
                        <a:srgbClr val="C3C5BB"/>
                      </a:solidFill>
                      <a:prstDash val="solid"/>
                      <a:round/>
                      <a:headEnd type="none" w="med" len="med"/>
                      <a:tailEnd type="none" w="med" len="med"/>
                    </a:lnB>
                  </a:tcPr>
                </a:tc>
                <a:tc>
                  <a:txBody>
                    <a:bodyPr/>
                    <a:lstStyle/>
                    <a:p>
                      <a:pPr indent="0" marL="0">
                        <a:lnSpc>
                          <a:spcPts val="1680"/>
                        </a:lnSpc>
                        <a:buNone/>
                      </a:pPr>
                      <a:r>
                        <a:rPr lang="en-US" sz="1200" dirty="0">
                          <a:solidFill>
                            <a:srgbClr val="151B2D"/>
                          </a:solidFill>
                          <a:latin typeface="Inter" pitchFamily="34" charset="0"/>
                          <a:ea typeface="Inter" pitchFamily="34" charset="-122"/>
                          <a:cs typeface="Inter" pitchFamily="34" charset="-120"/>
                        </a:rPr>
                        <a:t>12 detectors; tier escalation</a:t>
                      </a:r>
                      <a:endParaRPr lang="en-US" sz="1200" dirty="0">
                        <a:latin typeface="Inter" charset="0"/>
                        <a:ea typeface="Inter" charset="0"/>
                        <a:cs typeface="Inter" charset="0"/>
                      </a:endParaRPr>
                    </a:p>
                  </a:txBody>
                  <a:tcPr marL="101600" marR="101600" marT="88900" marB="88900" anchor="t">
                    <a:lnL w="12700" cap="flat" cmpd="sng" algn="ctr">
                      <a:solidFill>
                        <a:srgbClr val="C3C5BB"/>
                      </a:solidFill>
                      <a:prstDash val="solid"/>
                      <a:round/>
                      <a:headEnd type="none" w="med" len="med"/>
                      <a:tailEnd type="none" w="med" len="med"/>
                    </a:lnL>
                    <a:lnR w="12700" cap="flat" cmpd="sng" algn="ctr">
                      <a:solidFill>
                        <a:srgbClr val="C3C5BB"/>
                      </a:solidFill>
                      <a:prstDash val="solid"/>
                      <a:round/>
                      <a:headEnd type="none" w="med" len="med"/>
                      <a:tailEnd type="none" w="med" len="med"/>
                    </a:lnR>
                    <a:lnT w="12700" cap="flat" cmpd="sng" algn="ctr">
                      <a:solidFill>
                        <a:srgbClr val="C3C5BB"/>
                      </a:solidFill>
                      <a:prstDash val="solid"/>
                      <a:round/>
                      <a:headEnd type="none" w="med" len="med"/>
                      <a:tailEnd type="none" w="med" len="med"/>
                    </a:lnT>
                    <a:lnB w="12700" cap="flat" cmpd="sng" algn="ctr">
                      <a:solidFill>
                        <a:srgbClr val="C3C5BB"/>
                      </a:solidFill>
                      <a:prstDash val="solid"/>
                      <a:round/>
                      <a:headEnd type="none" w="med" len="med"/>
                      <a:tailEnd type="none" w="med" len="med"/>
                    </a:lnB>
                  </a:tcPr>
                </a:tc>
                <a:tc>
                  <a:txBody>
                    <a:bodyPr/>
                    <a:lstStyle/>
                    <a:p>
                      <a:pPr indent="0" marL="0">
                        <a:lnSpc>
                          <a:spcPts val="1680"/>
                        </a:lnSpc>
                        <a:buNone/>
                      </a:pPr>
                      <a:r>
                        <a:rPr lang="en-US" sz="1200" dirty="0">
                          <a:solidFill>
                            <a:srgbClr val="151B2D"/>
                          </a:solidFill>
                          <a:latin typeface="Inter" pitchFamily="34" charset="0"/>
                          <a:ea typeface="Inter" pitchFamily="34" charset="-122"/>
                          <a:cs typeface="Inter" pitchFamily="34" charset="-120"/>
                        </a:rPr>
                        <a:t>Novel phrasing can evade; not a fund control alone</a:t>
                      </a:r>
                      <a:endParaRPr lang="en-US" sz="1200" dirty="0">
                        <a:latin typeface="Inter" charset="0"/>
                        <a:ea typeface="Inter" charset="0"/>
                        <a:cs typeface="Inter" charset="0"/>
                      </a:endParaRPr>
                    </a:p>
                  </a:txBody>
                  <a:tcPr marL="101600" marR="101600" marT="88900" marB="88900" anchor="t">
                    <a:lnL w="12700" cap="flat" cmpd="sng" algn="ctr">
                      <a:solidFill>
                        <a:srgbClr val="C3C5BB"/>
                      </a:solidFill>
                      <a:prstDash val="solid"/>
                      <a:round/>
                      <a:headEnd type="none" w="med" len="med"/>
                      <a:tailEnd type="none" w="med" len="med"/>
                    </a:lnL>
                    <a:lnR w="12700" cap="flat" cmpd="sng" algn="ctr">
                      <a:solidFill>
                        <a:srgbClr val="C3C5BB"/>
                      </a:solidFill>
                      <a:prstDash val="solid"/>
                      <a:round/>
                      <a:headEnd type="none" w="med" len="med"/>
                      <a:tailEnd type="none" w="med" len="med"/>
                    </a:lnR>
                    <a:lnT w="12700" cap="flat" cmpd="sng" algn="ctr">
                      <a:solidFill>
                        <a:srgbClr val="C3C5BB"/>
                      </a:solidFill>
                      <a:prstDash val="solid"/>
                      <a:round/>
                      <a:headEnd type="none" w="med" len="med"/>
                      <a:tailEnd type="none" w="med" len="med"/>
                    </a:lnT>
                    <a:lnB w="12700" cap="flat" cmpd="sng" algn="ctr">
                      <a:solidFill>
                        <a:srgbClr val="C3C5BB"/>
                      </a:solidFill>
                      <a:prstDash val="solid"/>
                      <a:round/>
                      <a:headEnd type="none" w="med" len="med"/>
                      <a:tailEnd type="none" w="med" len="med"/>
                    </a:lnB>
                  </a:tcPr>
                </a:tc>
              </a:tr>
              <a:tr h="593249">
                <a:tc>
                  <a:txBody>
                    <a:bodyPr/>
                    <a:lstStyle/>
                    <a:p>
                      <a:pPr indent="0" marL="0">
                        <a:lnSpc>
                          <a:spcPts val="1680"/>
                        </a:lnSpc>
                        <a:buNone/>
                      </a:pPr>
                      <a:r>
                        <a:rPr lang="en-US" sz="1200" dirty="0">
                          <a:solidFill>
                            <a:srgbClr val="151B2D"/>
                          </a:solidFill>
                          <a:latin typeface="Inter" pitchFamily="34" charset="0"/>
                          <a:ea typeface="Inter" pitchFamily="34" charset="-122"/>
                          <a:cs typeface="Inter" pitchFamily="34" charset="-120"/>
                        </a:rPr>
                        <a:t>Single ledger database (R-04)</a:t>
                      </a:r>
                      <a:endParaRPr lang="en-US" sz="1200" dirty="0">
                        <a:latin typeface="Inter" charset="0"/>
                        <a:ea typeface="Inter" charset="0"/>
                        <a:cs typeface="Inter" charset="0"/>
                      </a:endParaRPr>
                    </a:p>
                  </a:txBody>
                  <a:tcPr marL="101600" marR="101600" marT="88900" marB="88900" anchor="t">
                    <a:lnL w="12700" cap="flat" cmpd="sng" algn="ctr">
                      <a:solidFill>
                        <a:srgbClr val="C3C5BB"/>
                      </a:solidFill>
                      <a:prstDash val="solid"/>
                      <a:round/>
                      <a:headEnd type="none" w="med" len="med"/>
                      <a:tailEnd type="none" w="med" len="med"/>
                    </a:lnL>
                    <a:lnR w="12700" cap="flat" cmpd="sng" algn="ctr">
                      <a:solidFill>
                        <a:srgbClr val="C3C5BB"/>
                      </a:solidFill>
                      <a:prstDash val="solid"/>
                      <a:round/>
                      <a:headEnd type="none" w="med" len="med"/>
                      <a:tailEnd type="none" w="med" len="med"/>
                    </a:lnR>
                    <a:lnT w="12700" cap="flat" cmpd="sng" algn="ctr">
                      <a:solidFill>
                        <a:srgbClr val="C3C5BB"/>
                      </a:solidFill>
                      <a:prstDash val="solid"/>
                      <a:round/>
                      <a:headEnd type="none" w="med" len="med"/>
                      <a:tailEnd type="none" w="med" len="med"/>
                    </a:lnT>
                    <a:lnB w="12700" cap="flat" cmpd="sng" algn="ctr">
                      <a:solidFill>
                        <a:srgbClr val="C3C5BB"/>
                      </a:solidFill>
                      <a:prstDash val="solid"/>
                      <a:round/>
                      <a:headEnd type="none" w="med" len="med"/>
                      <a:tailEnd type="none" w="med" len="med"/>
                    </a:lnB>
                  </a:tcPr>
                </a:tc>
                <a:tc>
                  <a:txBody>
                    <a:bodyPr/>
                    <a:lstStyle/>
                    <a:p>
                      <a:pPr indent="0" marL="0">
                        <a:lnSpc>
                          <a:spcPts val="1680"/>
                        </a:lnSpc>
                        <a:buNone/>
                      </a:pPr>
                      <a:r>
                        <a:rPr lang="en-US" sz="1200" dirty="0">
                          <a:solidFill>
                            <a:srgbClr val="151B2D"/>
                          </a:solidFill>
                          <a:latin typeface="Inter" pitchFamily="34" charset="0"/>
                          <a:ea typeface="Inter" pitchFamily="34" charset="-122"/>
                          <a:cs typeface="Inter" pitchFamily="34" charset="-120"/>
                        </a:rPr>
                        <a:t>Low</a:t>
                      </a:r>
                      <a:endParaRPr lang="en-US" sz="1200" dirty="0">
                        <a:latin typeface="Inter" charset="0"/>
                        <a:ea typeface="Inter" charset="0"/>
                        <a:cs typeface="Inter" charset="0"/>
                      </a:endParaRPr>
                    </a:p>
                  </a:txBody>
                  <a:tcPr marL="101600" marR="101600" marT="88900" marB="88900" anchor="t">
                    <a:lnL w="12700" cap="flat" cmpd="sng" algn="ctr">
                      <a:solidFill>
                        <a:srgbClr val="C3C5BB"/>
                      </a:solidFill>
                      <a:prstDash val="solid"/>
                      <a:round/>
                      <a:headEnd type="none" w="med" len="med"/>
                      <a:tailEnd type="none" w="med" len="med"/>
                    </a:lnL>
                    <a:lnR w="12700" cap="flat" cmpd="sng" algn="ctr">
                      <a:solidFill>
                        <a:srgbClr val="C3C5BB"/>
                      </a:solidFill>
                      <a:prstDash val="solid"/>
                      <a:round/>
                      <a:headEnd type="none" w="med" len="med"/>
                      <a:tailEnd type="none" w="med" len="med"/>
                    </a:lnR>
                    <a:lnT w="12700" cap="flat" cmpd="sng" algn="ctr">
                      <a:solidFill>
                        <a:srgbClr val="C3C5BB"/>
                      </a:solidFill>
                      <a:prstDash val="solid"/>
                      <a:round/>
                      <a:headEnd type="none" w="med" len="med"/>
                      <a:tailEnd type="none" w="med" len="med"/>
                    </a:lnT>
                    <a:lnB w="12700" cap="flat" cmpd="sng" algn="ctr">
                      <a:solidFill>
                        <a:srgbClr val="C3C5BB"/>
                      </a:solidFill>
                      <a:prstDash val="solid"/>
                      <a:round/>
                      <a:headEnd type="none" w="med" len="med"/>
                      <a:tailEnd type="none" w="med" len="med"/>
                    </a:lnB>
                  </a:tcPr>
                </a:tc>
                <a:tc>
                  <a:txBody>
                    <a:bodyPr/>
                    <a:lstStyle/>
                    <a:p>
                      <a:pPr indent="0" marL="0">
                        <a:lnSpc>
                          <a:spcPts val="1680"/>
                        </a:lnSpc>
                        <a:buNone/>
                      </a:pPr>
                      <a:r>
                        <a:rPr lang="en-US" sz="1200" dirty="0">
                          <a:solidFill>
                            <a:srgbClr val="151B2D"/>
                          </a:solidFill>
                          <a:latin typeface="Inter" pitchFamily="34" charset="0"/>
                          <a:ea typeface="Inter" pitchFamily="34" charset="-122"/>
                          <a:cs typeface="Inter" pitchFamily="34" charset="-120"/>
                        </a:rPr>
                        <a:t>Hash chain, digests only</a:t>
                      </a:r>
                      <a:endParaRPr lang="en-US" sz="1200" dirty="0">
                        <a:latin typeface="Inter" charset="0"/>
                        <a:ea typeface="Inter" charset="0"/>
                        <a:cs typeface="Inter" charset="0"/>
                      </a:endParaRPr>
                    </a:p>
                  </a:txBody>
                  <a:tcPr marL="101600" marR="101600" marT="88900" marB="88900" anchor="t">
                    <a:lnL w="12700" cap="flat" cmpd="sng" algn="ctr">
                      <a:solidFill>
                        <a:srgbClr val="C3C5BB"/>
                      </a:solidFill>
                      <a:prstDash val="solid"/>
                      <a:round/>
                      <a:headEnd type="none" w="med" len="med"/>
                      <a:tailEnd type="none" w="med" len="med"/>
                    </a:lnL>
                    <a:lnR w="12700" cap="flat" cmpd="sng" algn="ctr">
                      <a:solidFill>
                        <a:srgbClr val="C3C5BB"/>
                      </a:solidFill>
                      <a:prstDash val="solid"/>
                      <a:round/>
                      <a:headEnd type="none" w="med" len="med"/>
                      <a:tailEnd type="none" w="med" len="med"/>
                    </a:lnR>
                    <a:lnT w="12700" cap="flat" cmpd="sng" algn="ctr">
                      <a:solidFill>
                        <a:srgbClr val="C3C5BB"/>
                      </a:solidFill>
                      <a:prstDash val="solid"/>
                      <a:round/>
                      <a:headEnd type="none" w="med" len="med"/>
                      <a:tailEnd type="none" w="med" len="med"/>
                    </a:lnT>
                    <a:lnB w="12700" cap="flat" cmpd="sng" algn="ctr">
                      <a:solidFill>
                        <a:srgbClr val="C3C5BB"/>
                      </a:solidFill>
                      <a:prstDash val="solid"/>
                      <a:round/>
                      <a:headEnd type="none" w="med" len="med"/>
                      <a:tailEnd type="none" w="med" len="med"/>
                    </a:lnB>
                  </a:tcPr>
                </a:tc>
                <a:tc>
                  <a:txBody>
                    <a:bodyPr/>
                    <a:lstStyle/>
                    <a:p>
                      <a:pPr indent="0" marL="0">
                        <a:lnSpc>
                          <a:spcPts val="1680"/>
                        </a:lnSpc>
                        <a:buNone/>
                      </a:pPr>
                      <a:r>
                        <a:rPr lang="en-US" sz="1200" dirty="0">
                          <a:solidFill>
                            <a:srgbClr val="151B2D"/>
                          </a:solidFill>
                          <a:latin typeface="Inter" pitchFamily="34" charset="0"/>
                          <a:ea typeface="Inter" pitchFamily="34" charset="-122"/>
                          <a:cs typeface="Inter" pitchFamily="34" charset="-120"/>
                        </a:rPr>
                        <a:t>A DB superadmin could rewrite; root anchoring planned</a:t>
                      </a:r>
                      <a:endParaRPr lang="en-US" sz="1200" dirty="0">
                        <a:latin typeface="Inter" charset="0"/>
                        <a:ea typeface="Inter" charset="0"/>
                        <a:cs typeface="Inter" charset="0"/>
                      </a:endParaRPr>
                    </a:p>
                  </a:txBody>
                  <a:tcPr marL="101600" marR="101600" marT="88900" marB="88900" anchor="t">
                    <a:lnL w="12700" cap="flat" cmpd="sng" algn="ctr">
                      <a:solidFill>
                        <a:srgbClr val="C3C5BB"/>
                      </a:solidFill>
                      <a:prstDash val="solid"/>
                      <a:round/>
                      <a:headEnd type="none" w="med" len="med"/>
                      <a:tailEnd type="none" w="med" len="med"/>
                    </a:lnL>
                    <a:lnR w="12700" cap="flat" cmpd="sng" algn="ctr">
                      <a:solidFill>
                        <a:srgbClr val="C3C5BB"/>
                      </a:solidFill>
                      <a:prstDash val="solid"/>
                      <a:round/>
                      <a:headEnd type="none" w="med" len="med"/>
                      <a:tailEnd type="none" w="med" len="med"/>
                    </a:lnR>
                    <a:lnT w="12700" cap="flat" cmpd="sng" algn="ctr">
                      <a:solidFill>
                        <a:srgbClr val="C3C5BB"/>
                      </a:solidFill>
                      <a:prstDash val="solid"/>
                      <a:round/>
                      <a:headEnd type="none" w="med" len="med"/>
                      <a:tailEnd type="none" w="med" len="med"/>
                    </a:lnT>
                    <a:lnB w="12700" cap="flat" cmpd="sng" algn="ctr">
                      <a:solidFill>
                        <a:srgbClr val="C3C5BB"/>
                      </a:solidFill>
                      <a:prstDash val="solid"/>
                      <a:round/>
                      <a:headEnd type="none" w="med" len="med"/>
                      <a:tailEnd type="none" w="med" len="med"/>
                    </a:lnB>
                  </a:tcPr>
                </a:tc>
              </a:tr>
              <a:tr h="593249">
                <a:tc>
                  <a:txBody>
                    <a:bodyPr/>
                    <a:lstStyle/>
                    <a:p>
                      <a:pPr indent="0" marL="0">
                        <a:lnSpc>
                          <a:spcPts val="1680"/>
                        </a:lnSpc>
                        <a:buNone/>
                      </a:pPr>
                      <a:r>
                        <a:rPr lang="en-US" sz="1200" dirty="0">
                          <a:solidFill>
                            <a:srgbClr val="151B2D"/>
                          </a:solidFill>
                          <a:latin typeface="Inter" pitchFamily="34" charset="0"/>
                          <a:ea typeface="Inter" pitchFamily="34" charset="-122"/>
                          <a:cs typeface="Inter" pitchFamily="34" charset="-120"/>
                        </a:rPr>
                        <a:t>Sandbox is not a live rail (R-05)</a:t>
                      </a:r>
                      <a:endParaRPr lang="en-US" sz="1200" dirty="0">
                        <a:latin typeface="Inter" charset="0"/>
                        <a:ea typeface="Inter" charset="0"/>
                        <a:cs typeface="Inter" charset="0"/>
                      </a:endParaRPr>
                    </a:p>
                  </a:txBody>
                  <a:tcPr marL="101600" marR="101600" marT="88900" marB="88900" anchor="t">
                    <a:lnL w="12700" cap="flat" cmpd="sng" algn="ctr">
                      <a:solidFill>
                        <a:srgbClr val="C3C5BB"/>
                      </a:solidFill>
                      <a:prstDash val="solid"/>
                      <a:round/>
                      <a:headEnd type="none" w="med" len="med"/>
                      <a:tailEnd type="none" w="med" len="med"/>
                    </a:lnL>
                    <a:lnR w="12700" cap="flat" cmpd="sng" algn="ctr">
                      <a:solidFill>
                        <a:srgbClr val="C3C5BB"/>
                      </a:solidFill>
                      <a:prstDash val="solid"/>
                      <a:round/>
                      <a:headEnd type="none" w="med" len="med"/>
                      <a:tailEnd type="none" w="med" len="med"/>
                    </a:lnR>
                    <a:lnT w="12700" cap="flat" cmpd="sng" algn="ctr">
                      <a:solidFill>
                        <a:srgbClr val="C3C5BB"/>
                      </a:solidFill>
                      <a:prstDash val="solid"/>
                      <a:round/>
                      <a:headEnd type="none" w="med" len="med"/>
                      <a:tailEnd type="none" w="med" len="med"/>
                    </a:lnT>
                    <a:lnB w="12700" cap="flat" cmpd="sng" algn="ctr">
                      <a:solidFill>
                        <a:srgbClr val="C3C5BB"/>
                      </a:solidFill>
                      <a:prstDash val="solid"/>
                      <a:round/>
                      <a:headEnd type="none" w="med" len="med"/>
                      <a:tailEnd type="none" w="med" len="med"/>
                    </a:lnB>
                  </a:tcPr>
                </a:tc>
                <a:tc>
                  <a:txBody>
                    <a:bodyPr/>
                    <a:lstStyle/>
                    <a:p>
                      <a:pPr indent="0" marL="0">
                        <a:lnSpc>
                          <a:spcPts val="1680"/>
                        </a:lnSpc>
                        <a:buNone/>
                      </a:pPr>
                      <a:r>
                        <a:rPr lang="en-US" sz="1200" dirty="0">
                          <a:solidFill>
                            <a:srgbClr val="151B2D"/>
                          </a:solidFill>
                          <a:latin typeface="Inter" pitchFamily="34" charset="0"/>
                          <a:ea typeface="Inter" pitchFamily="34" charset="-122"/>
                          <a:cs typeface="Inter" pitchFamily="34" charset="-120"/>
                        </a:rPr>
                        <a:t>Low, by design</a:t>
                      </a:r>
                      <a:endParaRPr lang="en-US" sz="1200" dirty="0">
                        <a:latin typeface="Inter" charset="0"/>
                        <a:ea typeface="Inter" charset="0"/>
                        <a:cs typeface="Inter" charset="0"/>
                      </a:endParaRPr>
                    </a:p>
                  </a:txBody>
                  <a:tcPr marL="101600" marR="101600" marT="88900" marB="88900" anchor="t">
                    <a:lnL w="12700" cap="flat" cmpd="sng" algn="ctr">
                      <a:solidFill>
                        <a:srgbClr val="C3C5BB"/>
                      </a:solidFill>
                      <a:prstDash val="solid"/>
                      <a:round/>
                      <a:headEnd type="none" w="med" len="med"/>
                      <a:tailEnd type="none" w="med" len="med"/>
                    </a:lnL>
                    <a:lnR w="12700" cap="flat" cmpd="sng" algn="ctr">
                      <a:solidFill>
                        <a:srgbClr val="C3C5BB"/>
                      </a:solidFill>
                      <a:prstDash val="solid"/>
                      <a:round/>
                      <a:headEnd type="none" w="med" len="med"/>
                      <a:tailEnd type="none" w="med" len="med"/>
                    </a:lnR>
                    <a:lnT w="12700" cap="flat" cmpd="sng" algn="ctr">
                      <a:solidFill>
                        <a:srgbClr val="C3C5BB"/>
                      </a:solidFill>
                      <a:prstDash val="solid"/>
                      <a:round/>
                      <a:headEnd type="none" w="med" len="med"/>
                      <a:tailEnd type="none" w="med" len="med"/>
                    </a:lnT>
                    <a:lnB w="12700" cap="flat" cmpd="sng" algn="ctr">
                      <a:solidFill>
                        <a:srgbClr val="C3C5BB"/>
                      </a:solidFill>
                      <a:prstDash val="solid"/>
                      <a:round/>
                      <a:headEnd type="none" w="med" len="med"/>
                      <a:tailEnd type="none" w="med" len="med"/>
                    </a:lnB>
                  </a:tcPr>
                </a:tc>
                <a:tc>
                  <a:txBody>
                    <a:bodyPr/>
                    <a:lstStyle/>
                    <a:p>
                      <a:pPr indent="0" marL="0">
                        <a:lnSpc>
                          <a:spcPts val="1680"/>
                        </a:lnSpc>
                        <a:buNone/>
                      </a:pPr>
                      <a:r>
                        <a:rPr lang="en-US" sz="1200" dirty="0">
                          <a:solidFill>
                            <a:srgbClr val="151B2D"/>
                          </a:solidFill>
                          <a:latin typeface="Inter" pitchFamily="34" charset="0"/>
                          <a:ea typeface="Inter" pitchFamily="34" charset="-122"/>
                          <a:cs typeface="Inter" pitchFamily="34" charset="-120"/>
                        </a:rPr>
                        <a:t>Atomic sandbox transactions</a:t>
                      </a:r>
                      <a:endParaRPr lang="en-US" sz="1200" dirty="0">
                        <a:latin typeface="Inter" charset="0"/>
                        <a:ea typeface="Inter" charset="0"/>
                        <a:cs typeface="Inter" charset="0"/>
                      </a:endParaRPr>
                    </a:p>
                  </a:txBody>
                  <a:tcPr marL="101600" marR="101600" marT="88900" marB="88900" anchor="t">
                    <a:lnL w="12700" cap="flat" cmpd="sng" algn="ctr">
                      <a:solidFill>
                        <a:srgbClr val="C3C5BB"/>
                      </a:solidFill>
                      <a:prstDash val="solid"/>
                      <a:round/>
                      <a:headEnd type="none" w="med" len="med"/>
                      <a:tailEnd type="none" w="med" len="med"/>
                    </a:lnL>
                    <a:lnR w="12700" cap="flat" cmpd="sng" algn="ctr">
                      <a:solidFill>
                        <a:srgbClr val="C3C5BB"/>
                      </a:solidFill>
                      <a:prstDash val="solid"/>
                      <a:round/>
                      <a:headEnd type="none" w="med" len="med"/>
                      <a:tailEnd type="none" w="med" len="med"/>
                    </a:lnR>
                    <a:lnT w="12700" cap="flat" cmpd="sng" algn="ctr">
                      <a:solidFill>
                        <a:srgbClr val="C3C5BB"/>
                      </a:solidFill>
                      <a:prstDash val="solid"/>
                      <a:round/>
                      <a:headEnd type="none" w="med" len="med"/>
                      <a:tailEnd type="none" w="med" len="med"/>
                    </a:lnT>
                    <a:lnB w="12700" cap="flat" cmpd="sng" algn="ctr">
                      <a:solidFill>
                        <a:srgbClr val="C3C5BB"/>
                      </a:solidFill>
                      <a:prstDash val="solid"/>
                      <a:round/>
                      <a:headEnd type="none" w="med" len="med"/>
                      <a:tailEnd type="none" w="med" len="med"/>
                    </a:lnB>
                  </a:tcPr>
                </a:tc>
                <a:tc>
                  <a:txBody>
                    <a:bodyPr/>
                    <a:lstStyle/>
                    <a:p>
                      <a:pPr indent="0" marL="0">
                        <a:lnSpc>
                          <a:spcPts val="1680"/>
                        </a:lnSpc>
                        <a:buNone/>
                      </a:pPr>
                      <a:r>
                        <a:rPr lang="en-US" sz="1200" dirty="0">
                          <a:solidFill>
                            <a:srgbClr val="151B2D"/>
                          </a:solidFill>
                          <a:latin typeface="Inter" pitchFamily="34" charset="0"/>
                          <a:ea typeface="Inter" pitchFamily="34" charset="-122"/>
                          <a:cs typeface="Inter" pitchFamily="34" charset="-120"/>
                        </a:rPr>
                        <a:t>ACH and clearing delays not modelled</a:t>
                      </a:r>
                      <a:endParaRPr lang="en-US" sz="1200" dirty="0">
                        <a:latin typeface="Inter" charset="0"/>
                        <a:ea typeface="Inter" charset="0"/>
                        <a:cs typeface="Inter" charset="0"/>
                      </a:endParaRPr>
                    </a:p>
                  </a:txBody>
                  <a:tcPr marL="101600" marR="101600" marT="88900" marB="88900" anchor="t">
                    <a:lnL w="12700" cap="flat" cmpd="sng" algn="ctr">
                      <a:solidFill>
                        <a:srgbClr val="C3C5BB"/>
                      </a:solidFill>
                      <a:prstDash val="solid"/>
                      <a:round/>
                      <a:headEnd type="none" w="med" len="med"/>
                      <a:tailEnd type="none" w="med" len="med"/>
                    </a:lnL>
                    <a:lnR w="12700" cap="flat" cmpd="sng" algn="ctr">
                      <a:solidFill>
                        <a:srgbClr val="C3C5BB"/>
                      </a:solidFill>
                      <a:prstDash val="solid"/>
                      <a:round/>
                      <a:headEnd type="none" w="med" len="med"/>
                      <a:tailEnd type="none" w="med" len="med"/>
                    </a:lnR>
                    <a:lnT w="12700" cap="flat" cmpd="sng" algn="ctr">
                      <a:solidFill>
                        <a:srgbClr val="C3C5BB"/>
                      </a:solidFill>
                      <a:prstDash val="solid"/>
                      <a:round/>
                      <a:headEnd type="none" w="med" len="med"/>
                      <a:tailEnd type="none" w="med" len="med"/>
                    </a:lnT>
                    <a:lnB w="12700" cap="flat" cmpd="sng" algn="ctr">
                      <a:solidFill>
                        <a:srgbClr val="C3C5BB"/>
                      </a:solidFill>
                      <a:prstDash val="solid"/>
                      <a:round/>
                      <a:headEnd type="none" w="med" len="med"/>
                      <a:tailEnd type="none" w="med" len="med"/>
                    </a:lnB>
                  </a:tcPr>
                </a:tc>
              </a:tr>
              <a:tr h="390604">
                <a:tc>
                  <a:txBody>
                    <a:bodyPr/>
                    <a:lstStyle/>
                    <a:p>
                      <a:pPr indent="0" marL="0">
                        <a:lnSpc>
                          <a:spcPts val="1680"/>
                        </a:lnSpc>
                        <a:buNone/>
                      </a:pPr>
                      <a:r>
                        <a:rPr lang="en-US" sz="1200" dirty="0">
                          <a:solidFill>
                            <a:srgbClr val="151B2D"/>
                          </a:solidFill>
                          <a:latin typeface="Inter" pitchFamily="34" charset="0"/>
                          <a:ea typeface="Inter" pitchFamily="34" charset="-122"/>
                          <a:cs typeface="Inter" pitchFamily="34" charset="-120"/>
                        </a:rPr>
                        <a:t>AI drafts not company-scoped</a:t>
                      </a:r>
                      <a:endParaRPr lang="en-US" sz="1200" dirty="0">
                        <a:latin typeface="Inter" charset="0"/>
                        <a:ea typeface="Inter" charset="0"/>
                        <a:cs typeface="Inter" charset="0"/>
                      </a:endParaRPr>
                    </a:p>
                  </a:txBody>
                  <a:tcPr marL="101600" marR="101600" marT="88900" marB="88900" anchor="t">
                    <a:lnL w="12700" cap="flat" cmpd="sng" algn="ctr">
                      <a:solidFill>
                        <a:srgbClr val="C3C5BB"/>
                      </a:solidFill>
                      <a:prstDash val="solid"/>
                      <a:round/>
                      <a:headEnd type="none" w="med" len="med"/>
                      <a:tailEnd type="none" w="med" len="med"/>
                    </a:lnL>
                    <a:lnR w="12700" cap="flat" cmpd="sng" algn="ctr">
                      <a:solidFill>
                        <a:srgbClr val="C3C5BB"/>
                      </a:solidFill>
                      <a:prstDash val="solid"/>
                      <a:round/>
                      <a:headEnd type="none" w="med" len="med"/>
                      <a:tailEnd type="none" w="med" len="med"/>
                    </a:lnR>
                    <a:lnT w="12700" cap="flat" cmpd="sng" algn="ctr">
                      <a:solidFill>
                        <a:srgbClr val="C3C5BB"/>
                      </a:solidFill>
                      <a:prstDash val="solid"/>
                      <a:round/>
                      <a:headEnd type="none" w="med" len="med"/>
                      <a:tailEnd type="none" w="med" len="med"/>
                    </a:lnT>
                    <a:lnB w="12700" cap="flat" cmpd="sng" algn="ctr">
                      <a:solidFill>
                        <a:srgbClr val="C3C5BB"/>
                      </a:solidFill>
                      <a:prstDash val="solid"/>
                      <a:round/>
                      <a:headEnd type="none" w="med" len="med"/>
                      <a:tailEnd type="none" w="med" len="med"/>
                    </a:lnB>
                  </a:tcPr>
                </a:tc>
                <a:tc>
                  <a:txBody>
                    <a:bodyPr/>
                    <a:lstStyle/>
                    <a:p>
                      <a:pPr indent="0" marL="0">
                        <a:lnSpc>
                          <a:spcPts val="1680"/>
                        </a:lnSpc>
                        <a:buNone/>
                      </a:pPr>
                      <a:r>
                        <a:rPr lang="en-US" sz="1200" dirty="0">
                          <a:solidFill>
                            <a:srgbClr val="151B2D"/>
                          </a:solidFill>
                          <a:latin typeface="Inter" pitchFamily="34" charset="0"/>
                          <a:ea typeface="Inter" pitchFamily="34" charset="-122"/>
                          <a:cs typeface="Inter" pitchFamily="34" charset="-120"/>
                        </a:rPr>
                        <a:t>Medium</a:t>
                      </a:r>
                      <a:endParaRPr lang="en-US" sz="1200" dirty="0">
                        <a:latin typeface="Inter" charset="0"/>
                        <a:ea typeface="Inter" charset="0"/>
                        <a:cs typeface="Inter" charset="0"/>
                      </a:endParaRPr>
                    </a:p>
                  </a:txBody>
                  <a:tcPr marL="101600" marR="101600" marT="88900" marB="88900" anchor="t">
                    <a:lnL w="12700" cap="flat" cmpd="sng" algn="ctr">
                      <a:solidFill>
                        <a:srgbClr val="C3C5BB"/>
                      </a:solidFill>
                      <a:prstDash val="solid"/>
                      <a:round/>
                      <a:headEnd type="none" w="med" len="med"/>
                      <a:tailEnd type="none" w="med" len="med"/>
                    </a:lnL>
                    <a:lnR w="12700" cap="flat" cmpd="sng" algn="ctr">
                      <a:solidFill>
                        <a:srgbClr val="C3C5BB"/>
                      </a:solidFill>
                      <a:prstDash val="solid"/>
                      <a:round/>
                      <a:headEnd type="none" w="med" len="med"/>
                      <a:tailEnd type="none" w="med" len="med"/>
                    </a:lnR>
                    <a:lnT w="12700" cap="flat" cmpd="sng" algn="ctr">
                      <a:solidFill>
                        <a:srgbClr val="C3C5BB"/>
                      </a:solidFill>
                      <a:prstDash val="solid"/>
                      <a:round/>
                      <a:headEnd type="none" w="med" len="med"/>
                      <a:tailEnd type="none" w="med" len="med"/>
                    </a:lnT>
                    <a:lnB w="12700" cap="flat" cmpd="sng" algn="ctr">
                      <a:solidFill>
                        <a:srgbClr val="C3C5BB"/>
                      </a:solidFill>
                      <a:prstDash val="solid"/>
                      <a:round/>
                      <a:headEnd type="none" w="med" len="med"/>
                      <a:tailEnd type="none" w="med" len="med"/>
                    </a:lnB>
                  </a:tcPr>
                </a:tc>
                <a:tc>
                  <a:txBody>
                    <a:bodyPr/>
                    <a:lstStyle/>
                    <a:p>
                      <a:pPr indent="0" marL="0">
                        <a:lnSpc>
                          <a:spcPts val="1680"/>
                        </a:lnSpc>
                        <a:buNone/>
                      </a:pPr>
                      <a:r>
                        <a:rPr lang="en-US" sz="1200" dirty="0">
                          <a:solidFill>
                            <a:srgbClr val="151B2D"/>
                          </a:solidFill>
                          <a:latin typeface="Inter" pitchFamily="34" charset="0"/>
                          <a:ea typeface="Inter" pitchFamily="34" charset="-122"/>
                          <a:cs typeface="Inter" pitchFamily="34" charset="-120"/>
                        </a:rPr>
                        <a:t>Owner review, Tier 2 approval</a:t>
                      </a:r>
                      <a:endParaRPr lang="en-US" sz="1200" dirty="0">
                        <a:latin typeface="Inter" charset="0"/>
                        <a:ea typeface="Inter" charset="0"/>
                        <a:cs typeface="Inter" charset="0"/>
                      </a:endParaRPr>
                    </a:p>
                  </a:txBody>
                  <a:tcPr marL="101600" marR="101600" marT="88900" marB="88900" anchor="t">
                    <a:lnL w="12700" cap="flat" cmpd="sng" algn="ctr">
                      <a:solidFill>
                        <a:srgbClr val="C3C5BB"/>
                      </a:solidFill>
                      <a:prstDash val="solid"/>
                      <a:round/>
                      <a:headEnd type="none" w="med" len="med"/>
                      <a:tailEnd type="none" w="med" len="med"/>
                    </a:lnL>
                    <a:lnR w="12700" cap="flat" cmpd="sng" algn="ctr">
                      <a:solidFill>
                        <a:srgbClr val="C3C5BB"/>
                      </a:solidFill>
                      <a:prstDash val="solid"/>
                      <a:round/>
                      <a:headEnd type="none" w="med" len="med"/>
                      <a:tailEnd type="none" w="med" len="med"/>
                    </a:lnR>
                    <a:lnT w="12700" cap="flat" cmpd="sng" algn="ctr">
                      <a:solidFill>
                        <a:srgbClr val="C3C5BB"/>
                      </a:solidFill>
                      <a:prstDash val="solid"/>
                      <a:round/>
                      <a:headEnd type="none" w="med" len="med"/>
                      <a:tailEnd type="none" w="med" len="med"/>
                    </a:lnT>
                    <a:lnB w="12700" cap="flat" cmpd="sng" algn="ctr">
                      <a:solidFill>
                        <a:srgbClr val="C3C5BB"/>
                      </a:solidFill>
                      <a:prstDash val="solid"/>
                      <a:round/>
                      <a:headEnd type="none" w="med" len="med"/>
                      <a:tailEnd type="none" w="med" len="med"/>
                    </a:lnB>
                  </a:tcPr>
                </a:tc>
                <a:tc>
                  <a:txBody>
                    <a:bodyPr/>
                    <a:lstStyle/>
                    <a:p>
                      <a:pPr indent="0" marL="0">
                        <a:lnSpc>
                          <a:spcPts val="1680"/>
                        </a:lnSpc>
                        <a:buNone/>
                      </a:pPr>
                      <a:r>
                        <a:rPr lang="en-US" sz="1200" dirty="0">
                          <a:solidFill>
                            <a:srgbClr val="151B2D"/>
                          </a:solidFill>
                          <a:latin typeface="Inter" pitchFamily="34" charset="0"/>
                          <a:ea typeface="Inter" pitchFamily="34" charset="-122"/>
                          <a:cs typeface="Inter" pitchFamily="34" charset="-120"/>
                        </a:rPr>
                        <a:t>Open: wrong company name in draft text</a:t>
                      </a:r>
                      <a:endParaRPr lang="en-US" sz="1200" dirty="0">
                        <a:latin typeface="Inter" charset="0"/>
                        <a:ea typeface="Inter" charset="0"/>
                        <a:cs typeface="Inter" charset="0"/>
                      </a:endParaRPr>
                    </a:p>
                  </a:txBody>
                  <a:tcPr marL="101600" marR="101600" marT="88900" marB="88900" anchor="t">
                    <a:lnL w="12700" cap="flat" cmpd="sng" algn="ctr">
                      <a:solidFill>
                        <a:srgbClr val="C3C5BB"/>
                      </a:solidFill>
                      <a:prstDash val="solid"/>
                      <a:round/>
                      <a:headEnd type="none" w="med" len="med"/>
                      <a:tailEnd type="none" w="med" len="med"/>
                    </a:lnL>
                    <a:lnR w="12700" cap="flat" cmpd="sng" algn="ctr">
                      <a:solidFill>
                        <a:srgbClr val="C3C5BB"/>
                      </a:solidFill>
                      <a:prstDash val="solid"/>
                      <a:round/>
                      <a:headEnd type="none" w="med" len="med"/>
                      <a:tailEnd type="none" w="med" len="med"/>
                    </a:lnR>
                    <a:lnT w="12700" cap="flat" cmpd="sng" algn="ctr">
                      <a:solidFill>
                        <a:srgbClr val="C3C5BB"/>
                      </a:solidFill>
                      <a:prstDash val="solid"/>
                      <a:round/>
                      <a:headEnd type="none" w="med" len="med"/>
                      <a:tailEnd type="none" w="med" len="med"/>
                    </a:lnT>
                    <a:lnB w="12700" cap="flat" cmpd="sng" algn="ctr">
                      <a:solidFill>
                        <a:srgbClr val="C3C5BB"/>
                      </a:solidFill>
                      <a:prstDash val="solid"/>
                      <a:round/>
                      <a:headEnd type="none" w="med" len="med"/>
                      <a:tailEnd type="none" w="med" len="med"/>
                    </a:lnB>
                  </a:tcPr>
                </a:tc>
              </a:tr>
            </a:tbl>
          </a:graphicData>
        </a:graphic>
      </p:graphicFrame>
      <p:sp>
        <p:nvSpPr>
          <p:cNvPr id="4" name="Text 1"/>
          <p:cNvSpPr/>
          <p:nvPr/>
        </p:nvSpPr>
        <p:spPr>
          <a:xfrm>
            <a:off x="812800" y="6248958"/>
            <a:ext cx="9052481" cy="228044"/>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4A5263"/>
                </a:solidFill>
                <a:latin typeface="Inter" pitchFamily="34" charset="0"/>
                <a:ea typeface="Inter" pitchFamily="34" charset="-122"/>
                <a:cs typeface="Inter" pitchFamily="34" charset="-120"/>
              </a:rPr>
              <a:t>Vantora AI · Topic E · FinTechathon 2026 · Source: Self-Assessment Report section 4; Security Design table 4.3</a:t>
            </a:r>
            <a:endParaRPr lang="en-US" sz="1200" dirty="0"/>
          </a:p>
        </p:txBody>
      </p:sp>
      <p:sp>
        <p:nvSpPr>
          <p:cNvPr id="5" name="Text 2"/>
          <p:cNvSpPr/>
          <p:nvPr/>
        </p:nvSpPr>
        <p:spPr>
          <a:xfrm>
            <a:off x="10834751" y="6248958"/>
            <a:ext cx="544449" cy="228044"/>
          </a:xfrm>
          <a:prstGeom prst="rect">
            <a:avLst/>
          </a:prstGeom>
          <a:noFill/>
          <a:ln/>
        </p:spPr>
        <p:txBody>
          <a:bodyPr wrap="square" lIns="0" tIns="0" rIns="0" bIns="0" rtlCol="0" anchor="t">
            <a:normAutofit/>
          </a:bodyPr>
          <a:lstStyle/>
          <a:p>
            <a:pPr algn="r" indent="0" marL="0">
              <a:lnSpc>
                <a:spcPts val="1596"/>
              </a:lnSpc>
              <a:buNone/>
            </a:pPr>
            <a:r>
              <a:rPr lang="en-US" sz="1200" dirty="0">
                <a:solidFill>
                  <a:srgbClr val="4A5263"/>
                </a:solidFill>
                <a:latin typeface="Inter" pitchFamily="34" charset="0"/>
                <a:ea typeface="Inter" pitchFamily="34" charset="-122"/>
                <a:cs typeface="Inter" pitchFamily="34" charset="-120"/>
              </a:rPr>
              <a:t>10 / 12</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43769"/>
          </a:xfrm>
          <a:prstGeom prst="rect">
            <a:avLst/>
          </a:prstGeom>
          <a:noFill/>
          <a:ln/>
        </p:spPr>
        <p:txBody>
          <a:bodyPr wrap="square" lIns="0" tIns="0" rIns="0" bIns="0" rtlCol="0" anchor="t">
            <a:normAutofit/>
          </a:bodyPr>
          <a:lstStyle/>
          <a:p>
            <a:pPr algn="l" indent="0" marL="0">
              <a:lnSpc>
                <a:spcPts val="3616"/>
              </a:lnSpc>
              <a:buNone/>
            </a:pPr>
            <a:r>
              <a:rPr lang="en-US" sz="3200" b="1" i="0" dirty="0">
                <a:solidFill>
                  <a:srgbClr val="151B2D"/>
                </a:solidFill>
                <a:latin typeface="Space Grotesk" pitchFamily="34" charset="0"/>
                <a:ea typeface="Space Grotesk" pitchFamily="34" charset="-122"/>
                <a:cs typeface="Space Grotesk" pitchFamily="34" charset="-120"/>
              </a:rPr>
              <a:t>The owner approves an exact action, not a chat message</a:t>
            </a:r>
            <a:endParaRPr lang="en-US" sz="3200" dirty="0"/>
          </a:p>
        </p:txBody>
      </p:sp>
      <p:sp>
        <p:nvSpPr>
          <p:cNvPr id="3" name="Shape 1"/>
          <p:cNvSpPr/>
          <p:nvPr/>
        </p:nvSpPr>
        <p:spPr>
          <a:xfrm>
            <a:off x="812800" y="1985169"/>
            <a:ext cx="5181600" cy="3856831"/>
          </a:xfrm>
          <a:prstGeom prst="roundRect">
            <a:avLst>
              <a:gd name="adj" fmla="val 2634"/>
            </a:avLst>
          </a:prstGeom>
          <a:solidFill>
            <a:srgbClr val="FFFFFF"/>
          </a:solidFill>
          <a:ln/>
        </p:spPr>
      </p:sp>
      <p:sp>
        <p:nvSpPr>
          <p:cNvPr id="4" name="Text 2"/>
          <p:cNvSpPr/>
          <p:nvPr/>
        </p:nvSpPr>
        <p:spPr>
          <a:xfrm>
            <a:off x="1066800" y="2239169"/>
            <a:ext cx="4813808" cy="301149"/>
          </a:xfrm>
          <a:prstGeom prst="rect">
            <a:avLst/>
          </a:prstGeom>
          <a:noFill/>
          <a:ln/>
        </p:spPr>
        <p:txBody>
          <a:bodyPr wrap="square" lIns="0" tIns="0" rIns="0" bIns="0" rtlCol="0" anchor="t">
            <a:normAutofit/>
          </a:bodyPr>
          <a:lstStyle/>
          <a:p>
            <a:pPr algn="l" indent="0" marL="0">
              <a:lnSpc>
                <a:spcPts val="2169"/>
              </a:lnSpc>
              <a:buNone/>
            </a:pPr>
            <a:r>
              <a:rPr lang="en-US" sz="1778" b="1" dirty="0">
                <a:solidFill>
                  <a:srgbClr val="151B2D"/>
                </a:solidFill>
                <a:latin typeface="Space Grotesk" pitchFamily="34" charset="0"/>
                <a:ea typeface="Space Grotesk" pitchFamily="34" charset="-122"/>
                <a:cs typeface="Space Grotesk" pitchFamily="34" charset="-120"/>
              </a:rPr>
              <a:t>What is new in this design</a:t>
            </a:r>
            <a:endParaRPr lang="en-US" sz="1778" dirty="0"/>
          </a:p>
        </p:txBody>
      </p:sp>
      <p:sp>
        <p:nvSpPr>
          <p:cNvPr id="5" name="Text 3"/>
          <p:cNvSpPr/>
          <p:nvPr/>
        </p:nvSpPr>
        <p:spPr>
          <a:xfrm>
            <a:off x="1066800" y="2654616"/>
            <a:ext cx="190659" cy="254000"/>
          </a:xfrm>
          <a:custGeom>
            <a:avLst/>
            <a:gdLst/>
            <a:ahLst/>
            <a:cxnLst/>
            <a:rect l="l" t="t" r="r" b="b"/>
            <a:pathLst>
              <a:path w="190659" h="254000">
                <a:moveTo>
                  <a:pt x="50800" y="0"/>
                </a:moveTo>
                <a:lnTo>
                  <a:pt x="139859" y="0"/>
                </a:lnTo>
                <a:arcTo hR="50800" wR="50800" stAng="16200000" swAng="5400000"/>
                <a:lnTo>
                  <a:pt x="190659" y="203200"/>
                </a:lnTo>
                <a:arcTo hR="50800" wR="50800" stAng="0" swAng="5400000"/>
                <a:lnTo>
                  <a:pt x="50800" y="254000"/>
                </a:lnTo>
                <a:arcTo hR="50800" wR="50800" stAng="5400000" swAng="5400000"/>
                <a:lnTo>
                  <a:pt x="0" y="50800"/>
                </a:lnTo>
                <a:arcTo hR="50800" wR="50800" stAng="10800000" swAng="5400000"/>
                <a:close/>
              </a:path>
            </a:pathLst>
          </a:custGeom>
          <a:solidFill>
            <a:srgbClr val="C6F432"/>
          </a:solidFill>
          <a:ln/>
        </p:spPr>
        <p:txBody>
          <a:bodyPr wrap="square" lIns="76200" tIns="0" rIns="25400" bIns="0" rtlCol="0" anchor="t">
            <a:normAutofit/>
          </a:bodyPr>
          <a:lstStyle/>
          <a:p>
            <a:pPr algn="l" indent="0" marL="0">
              <a:lnSpc>
                <a:spcPts val="2002"/>
              </a:lnSpc>
              <a:buNone/>
            </a:pPr>
            <a:r>
              <a:rPr lang="en-US" sz="1400" b="1" dirty="0">
                <a:solidFill>
                  <a:srgbClr val="151B2D"/>
                </a:solidFill>
                <a:latin typeface="Inter" pitchFamily="34" charset="0"/>
                <a:ea typeface="Inter" pitchFamily="34" charset="-122"/>
                <a:cs typeface="Inter" pitchFamily="34" charset="-120"/>
              </a:rPr>
              <a:t>1</a:t>
            </a:r>
            <a:endParaRPr lang="en-US" sz="1400" dirty="0"/>
          </a:p>
        </p:txBody>
      </p:sp>
      <p:sp>
        <p:nvSpPr>
          <p:cNvPr id="6" name="Text 4"/>
          <p:cNvSpPr/>
          <p:nvPr/>
        </p:nvSpPr>
        <p:spPr>
          <a:xfrm>
            <a:off x="1384459" y="2654616"/>
            <a:ext cx="4486620" cy="779701"/>
          </a:xfrm>
          <a:prstGeom prst="rect">
            <a:avLst/>
          </a:prstGeom>
          <a:noFill/>
          <a:ln/>
        </p:spPr>
        <p:txBody>
          <a:bodyPr wrap="square" lIns="0" tIns="0" rIns="0" bIns="0" rtlCol="0" anchor="t">
            <a:normAutofit/>
          </a:bodyPr>
          <a:lstStyle/>
          <a:p>
            <a:pPr algn="l" indent="0" marL="0">
              <a:lnSpc>
                <a:spcPts val="2002"/>
              </a:lnSpc>
              <a:buNone/>
            </a:pPr>
            <a:r>
              <a:rPr lang="en-US" sz="1400" b="1" dirty="0">
                <a:solidFill>
                  <a:srgbClr val="151B2D"/>
                </a:solidFill>
                <a:latin typeface="Inter" pitchFamily="34" charset="0"/>
                <a:ea typeface="Inter" pitchFamily="34" charset="-122"/>
                <a:cs typeface="Inter" pitchFamily="34" charset="-120"/>
              </a:rPr>
              <a:t>The model never computes.</a:t>
            </a:r>
            <a:r>
              <a:rPr lang="en-US" sz="1400" dirty="0">
                <a:solidFill>
                  <a:srgbClr val="151B2D"/>
                </a:solidFill>
                <a:latin typeface="Inter" pitchFamily="34" charset="0"/>
                <a:ea typeface="Inter" pitchFamily="34" charset="-122"/>
                <a:cs typeface="Inter" pitchFamily="34" charset="-120"/>
              </a:rPr>
              <a:t> Figures come from the solver and are checked before a person sees them.</a:t>
            </a:r>
            <a:endParaRPr lang="en-US" sz="1400" dirty="0"/>
          </a:p>
        </p:txBody>
      </p:sp>
      <p:sp>
        <p:nvSpPr>
          <p:cNvPr id="7" name="Text 5"/>
          <p:cNvSpPr/>
          <p:nvPr/>
        </p:nvSpPr>
        <p:spPr>
          <a:xfrm>
            <a:off x="1066800" y="3548621"/>
            <a:ext cx="202327" cy="254000"/>
          </a:xfrm>
          <a:custGeom>
            <a:avLst/>
            <a:gdLst/>
            <a:ahLst/>
            <a:cxnLst/>
            <a:rect l="l" t="t" r="r" b="b"/>
            <a:pathLst>
              <a:path w="202327" h="254000">
                <a:moveTo>
                  <a:pt x="50800" y="0"/>
                </a:moveTo>
                <a:lnTo>
                  <a:pt x="151527" y="0"/>
                </a:lnTo>
                <a:arcTo hR="50800" wR="50800" stAng="16200000" swAng="5400000"/>
                <a:lnTo>
                  <a:pt x="202327" y="203200"/>
                </a:lnTo>
                <a:arcTo hR="50800" wR="50800" stAng="0" swAng="5400000"/>
                <a:lnTo>
                  <a:pt x="50800" y="254000"/>
                </a:lnTo>
                <a:arcTo hR="50800" wR="50800" stAng="5400000" swAng="5400000"/>
                <a:lnTo>
                  <a:pt x="0" y="50800"/>
                </a:lnTo>
                <a:arcTo hR="50800" wR="50800" stAng="10800000" swAng="5400000"/>
                <a:close/>
              </a:path>
            </a:pathLst>
          </a:custGeom>
          <a:solidFill>
            <a:srgbClr val="C6F432"/>
          </a:solidFill>
          <a:ln/>
        </p:spPr>
        <p:txBody>
          <a:bodyPr wrap="square" lIns="76200" tIns="0" rIns="25400" bIns="0" rtlCol="0" anchor="t">
            <a:normAutofit/>
          </a:bodyPr>
          <a:lstStyle/>
          <a:p>
            <a:pPr algn="l" indent="0" marL="0">
              <a:lnSpc>
                <a:spcPts val="2002"/>
              </a:lnSpc>
              <a:buNone/>
            </a:pPr>
            <a:r>
              <a:rPr lang="en-US" sz="1400" b="1" dirty="0">
                <a:solidFill>
                  <a:srgbClr val="151B2D"/>
                </a:solidFill>
                <a:latin typeface="Inter" pitchFamily="34" charset="0"/>
                <a:ea typeface="Inter" pitchFamily="34" charset="-122"/>
                <a:cs typeface="Inter" pitchFamily="34" charset="-120"/>
              </a:rPr>
              <a:t>2</a:t>
            </a:r>
            <a:endParaRPr lang="en-US" sz="1400" dirty="0"/>
          </a:p>
        </p:txBody>
      </p:sp>
      <p:sp>
        <p:nvSpPr>
          <p:cNvPr id="8" name="Text 6"/>
          <p:cNvSpPr/>
          <p:nvPr/>
        </p:nvSpPr>
        <p:spPr>
          <a:xfrm>
            <a:off x="1396127" y="3548621"/>
            <a:ext cx="4474601" cy="779701"/>
          </a:xfrm>
          <a:prstGeom prst="rect">
            <a:avLst/>
          </a:prstGeom>
          <a:noFill/>
          <a:ln/>
        </p:spPr>
        <p:txBody>
          <a:bodyPr wrap="square" lIns="0" tIns="0" rIns="0" bIns="0" rtlCol="0" anchor="t">
            <a:normAutofit/>
          </a:bodyPr>
          <a:lstStyle/>
          <a:p>
            <a:pPr algn="l" indent="0" marL="0">
              <a:lnSpc>
                <a:spcPts val="2002"/>
              </a:lnSpc>
              <a:buNone/>
            </a:pPr>
            <a:r>
              <a:rPr lang="en-US" sz="1400" b="1" dirty="0">
                <a:solidFill>
                  <a:srgbClr val="151B2D"/>
                </a:solidFill>
                <a:latin typeface="Inter" pitchFamily="34" charset="0"/>
                <a:ea typeface="Inter" pitchFamily="34" charset="-122"/>
                <a:cs typeface="Inter" pitchFamily="34" charset="-120"/>
              </a:rPr>
              <a:t>Approval signs one action.</a:t>
            </a:r>
            <a:r>
              <a:rPr lang="en-US" sz="1400" dirty="0">
                <a:solidFill>
                  <a:srgbClr val="151B2D"/>
                </a:solidFill>
                <a:latin typeface="Inter" pitchFamily="34" charset="0"/>
                <a:ea typeface="Inter" pitchFamily="34" charset="-122"/>
                <a:cs typeface="Inter" pitchFamily="34" charset="-120"/>
              </a:rPr>
              <a:t> The owner types the exact figure; the approval is single-use and expires in five minutes.</a:t>
            </a:r>
            <a:endParaRPr lang="en-US" sz="1400" dirty="0"/>
          </a:p>
        </p:txBody>
      </p:sp>
      <p:sp>
        <p:nvSpPr>
          <p:cNvPr id="9" name="Text 7"/>
          <p:cNvSpPr/>
          <p:nvPr/>
        </p:nvSpPr>
        <p:spPr>
          <a:xfrm>
            <a:off x="1066800" y="4442619"/>
            <a:ext cx="217488" cy="254000"/>
          </a:xfrm>
          <a:custGeom>
            <a:avLst/>
            <a:gdLst/>
            <a:ahLst/>
            <a:cxnLst/>
            <a:rect l="l" t="t" r="r" b="b"/>
            <a:pathLst>
              <a:path w="217488" h="254000">
                <a:moveTo>
                  <a:pt x="50800" y="0"/>
                </a:moveTo>
                <a:lnTo>
                  <a:pt x="166688" y="0"/>
                </a:lnTo>
                <a:arcTo hR="50800" wR="50800" stAng="16200000" swAng="5400000"/>
                <a:lnTo>
                  <a:pt x="217488" y="203200"/>
                </a:lnTo>
                <a:arcTo hR="50800" wR="50800" stAng="0" swAng="5400000"/>
                <a:lnTo>
                  <a:pt x="50800" y="254000"/>
                </a:lnTo>
                <a:arcTo hR="50800" wR="50800" stAng="5400000" swAng="5400000"/>
                <a:lnTo>
                  <a:pt x="0" y="50800"/>
                </a:lnTo>
                <a:arcTo hR="50800" wR="50800" stAng="10800000" swAng="5400000"/>
                <a:close/>
              </a:path>
            </a:pathLst>
          </a:custGeom>
          <a:solidFill>
            <a:srgbClr val="C6F432"/>
          </a:solidFill>
          <a:ln/>
        </p:spPr>
        <p:txBody>
          <a:bodyPr wrap="square" lIns="76200" tIns="0" rIns="25400" bIns="0" rtlCol="0" anchor="t">
            <a:normAutofit/>
          </a:bodyPr>
          <a:lstStyle/>
          <a:p>
            <a:pPr algn="l" indent="0" marL="0">
              <a:lnSpc>
                <a:spcPts val="2002"/>
              </a:lnSpc>
              <a:buNone/>
            </a:pPr>
            <a:r>
              <a:rPr lang="en-US" sz="1400" b="1" dirty="0">
                <a:solidFill>
                  <a:srgbClr val="151B2D"/>
                </a:solidFill>
                <a:latin typeface="Inter" pitchFamily="34" charset="0"/>
                <a:ea typeface="Inter" pitchFamily="34" charset="-122"/>
                <a:cs typeface="Inter" pitchFamily="34" charset="-120"/>
              </a:rPr>
              <a:t>3</a:t>
            </a:r>
            <a:endParaRPr lang="en-US" sz="1400" dirty="0"/>
          </a:p>
        </p:txBody>
      </p:sp>
      <p:sp>
        <p:nvSpPr>
          <p:cNvPr id="10" name="Text 8"/>
          <p:cNvSpPr/>
          <p:nvPr/>
        </p:nvSpPr>
        <p:spPr>
          <a:xfrm>
            <a:off x="1411288" y="4442619"/>
            <a:ext cx="4458986" cy="528241"/>
          </a:xfrm>
          <a:prstGeom prst="rect">
            <a:avLst/>
          </a:prstGeom>
          <a:noFill/>
          <a:ln/>
        </p:spPr>
        <p:txBody>
          <a:bodyPr wrap="square" lIns="0" tIns="0" rIns="0" bIns="0" rtlCol="0" anchor="t">
            <a:normAutofit/>
          </a:bodyPr>
          <a:lstStyle/>
          <a:p>
            <a:pPr algn="l" indent="0" marL="0">
              <a:lnSpc>
                <a:spcPts val="2002"/>
              </a:lnSpc>
              <a:buNone/>
            </a:pPr>
            <a:r>
              <a:rPr lang="en-US" sz="1400" b="1" dirty="0">
                <a:solidFill>
                  <a:srgbClr val="151B2D"/>
                </a:solidFill>
                <a:latin typeface="Inter" pitchFamily="34" charset="0"/>
                <a:ea typeface="Inter" pitchFamily="34" charset="-122"/>
                <a:cs typeface="Inter" pitchFamily="34" charset="-120"/>
              </a:rPr>
              <a:t>Visible gaps.</a:t>
            </a:r>
            <a:r>
              <a:rPr lang="en-US" sz="1400" dirty="0">
                <a:solidFill>
                  <a:srgbClr val="151B2D"/>
                </a:solidFill>
                <a:latin typeface="Inter" pitchFamily="34" charset="0"/>
                <a:ea typeface="Inter" pitchFamily="34" charset="-122"/>
                <a:cs typeface="Inter" pitchFamily="34" charset="-120"/>
              </a:rPr>
              <a:t> Missing or unsupported data appears as typed notes, never silently dropped.</a:t>
            </a:r>
            <a:endParaRPr lang="en-US" sz="1400" dirty="0"/>
          </a:p>
        </p:txBody>
      </p:sp>
      <p:sp>
        <p:nvSpPr>
          <p:cNvPr id="11" name="Text 9"/>
          <p:cNvSpPr/>
          <p:nvPr/>
        </p:nvSpPr>
        <p:spPr>
          <a:xfrm>
            <a:off x="1066800" y="5085159"/>
            <a:ext cx="224631" cy="254000"/>
          </a:xfrm>
          <a:custGeom>
            <a:avLst/>
            <a:gdLst/>
            <a:ahLst/>
            <a:cxnLst/>
            <a:rect l="l" t="t" r="r" b="b"/>
            <a:pathLst>
              <a:path w="224631" h="254000">
                <a:moveTo>
                  <a:pt x="50800" y="0"/>
                </a:moveTo>
                <a:lnTo>
                  <a:pt x="173831" y="0"/>
                </a:lnTo>
                <a:arcTo hR="50800" wR="50800" stAng="16200000" swAng="5400000"/>
                <a:lnTo>
                  <a:pt x="224631" y="203200"/>
                </a:lnTo>
                <a:arcTo hR="50800" wR="50800" stAng="0" swAng="5400000"/>
                <a:lnTo>
                  <a:pt x="50800" y="254000"/>
                </a:lnTo>
                <a:arcTo hR="50800" wR="50800" stAng="5400000" swAng="5400000"/>
                <a:lnTo>
                  <a:pt x="0" y="50800"/>
                </a:lnTo>
                <a:arcTo hR="50800" wR="50800" stAng="10800000" swAng="5400000"/>
                <a:close/>
              </a:path>
            </a:pathLst>
          </a:custGeom>
          <a:solidFill>
            <a:srgbClr val="C6F432"/>
          </a:solidFill>
          <a:ln/>
        </p:spPr>
        <p:txBody>
          <a:bodyPr wrap="square" lIns="76200" tIns="0" rIns="25400" bIns="0" rtlCol="0" anchor="t">
            <a:normAutofit/>
          </a:bodyPr>
          <a:lstStyle/>
          <a:p>
            <a:pPr algn="l" indent="0" marL="0">
              <a:lnSpc>
                <a:spcPts val="2002"/>
              </a:lnSpc>
              <a:buNone/>
            </a:pPr>
            <a:r>
              <a:rPr lang="en-US" sz="1400" b="1" dirty="0">
                <a:solidFill>
                  <a:srgbClr val="151B2D"/>
                </a:solidFill>
                <a:latin typeface="Inter" pitchFamily="34" charset="0"/>
                <a:ea typeface="Inter" pitchFamily="34" charset="-122"/>
                <a:cs typeface="Inter" pitchFamily="34" charset="-120"/>
              </a:rPr>
              <a:t>4</a:t>
            </a:r>
            <a:endParaRPr lang="en-US" sz="1400" dirty="0"/>
          </a:p>
        </p:txBody>
      </p:sp>
      <p:sp>
        <p:nvSpPr>
          <p:cNvPr id="12" name="Text 10"/>
          <p:cNvSpPr/>
          <p:nvPr/>
        </p:nvSpPr>
        <p:spPr>
          <a:xfrm>
            <a:off x="1418431" y="5085159"/>
            <a:ext cx="4451628" cy="528241"/>
          </a:xfrm>
          <a:prstGeom prst="rect">
            <a:avLst/>
          </a:prstGeom>
          <a:noFill/>
          <a:ln/>
        </p:spPr>
        <p:txBody>
          <a:bodyPr wrap="square" lIns="0" tIns="0" rIns="0" bIns="0" rtlCol="0" anchor="t">
            <a:normAutofit/>
          </a:bodyPr>
          <a:lstStyle/>
          <a:p>
            <a:pPr algn="l" indent="0" marL="0">
              <a:lnSpc>
                <a:spcPts val="2002"/>
              </a:lnSpc>
              <a:buNone/>
            </a:pPr>
            <a:r>
              <a:rPr lang="en-US" sz="1400" b="1" dirty="0">
                <a:solidFill>
                  <a:srgbClr val="151B2D"/>
                </a:solidFill>
                <a:latin typeface="Inter" pitchFamily="34" charset="0"/>
                <a:ea typeface="Inter" pitchFamily="34" charset="-122"/>
                <a:cs typeface="Inter" pitchFamily="34" charset="-120"/>
              </a:rPr>
              <a:t>Counterfactual proof.</a:t>
            </a:r>
            <a:r>
              <a:rPr lang="en-US" sz="1400" dirty="0">
                <a:solidFill>
                  <a:srgbClr val="151B2D"/>
                </a:solidFill>
                <a:latin typeface="Inter" pitchFamily="34" charset="0"/>
                <a:ea typeface="Inter" pitchFamily="34" charset="-122"/>
                <a:cs typeface="Inter" pitchFamily="34" charset="-120"/>
              </a:rPr>
              <a:t> Each plan is priced against naive borrowing and doing nothing.</a:t>
            </a:r>
            <a:endParaRPr lang="en-US" sz="1400" dirty="0"/>
          </a:p>
        </p:txBody>
      </p:sp>
      <p:sp>
        <p:nvSpPr>
          <p:cNvPr id="13" name="Shape 11"/>
          <p:cNvSpPr/>
          <p:nvPr/>
        </p:nvSpPr>
        <p:spPr>
          <a:xfrm>
            <a:off x="6197600" y="1985169"/>
            <a:ext cx="5181600" cy="3856831"/>
          </a:xfrm>
          <a:prstGeom prst="roundRect">
            <a:avLst>
              <a:gd name="adj" fmla="val 2634"/>
            </a:avLst>
          </a:prstGeom>
          <a:solidFill>
            <a:srgbClr val="151B2D"/>
          </a:solidFill>
          <a:ln/>
        </p:spPr>
      </p:sp>
      <p:sp>
        <p:nvSpPr>
          <p:cNvPr id="14" name="Text 12"/>
          <p:cNvSpPr/>
          <p:nvPr/>
        </p:nvSpPr>
        <p:spPr>
          <a:xfrm>
            <a:off x="6451600" y="2239169"/>
            <a:ext cx="4813808" cy="287338"/>
          </a:xfrm>
          <a:prstGeom prst="rect">
            <a:avLst/>
          </a:prstGeom>
          <a:noFill/>
          <a:ln/>
        </p:spPr>
        <p:txBody>
          <a:bodyPr wrap="square" lIns="0" tIns="0" rIns="0" bIns="0" rtlCol="0" anchor="t">
            <a:normAutofit/>
          </a:bodyPr>
          <a:lstStyle/>
          <a:p>
            <a:pPr algn="l" indent="0" marL="0">
              <a:lnSpc>
                <a:spcPts val="2072"/>
              </a:lnSpc>
              <a:buNone/>
            </a:pPr>
            <a:r>
              <a:rPr lang="en-US" sz="1699" b="1" dirty="0">
                <a:solidFill>
                  <a:srgbClr val="C6F432"/>
                </a:solidFill>
                <a:latin typeface="Space Grotesk" pitchFamily="34" charset="0"/>
                <a:ea typeface="Space Grotesk" pitchFamily="34" charset="-122"/>
                <a:cs typeface="Space Grotesk" pitchFamily="34" charset="-120"/>
              </a:rPr>
              <a:t>Owner interaction</a:t>
            </a:r>
            <a:endParaRPr lang="en-US" sz="1699" dirty="0"/>
          </a:p>
        </p:txBody>
      </p:sp>
      <p:sp>
        <p:nvSpPr>
          <p:cNvPr id="15" name="Text 13"/>
          <p:cNvSpPr/>
          <p:nvPr/>
        </p:nvSpPr>
        <p:spPr>
          <a:xfrm>
            <a:off x="6451600" y="2640806"/>
            <a:ext cx="4813808" cy="503079"/>
          </a:xfrm>
          <a:prstGeom prst="rect">
            <a:avLst/>
          </a:prstGeom>
          <a:noFill/>
          <a:ln/>
        </p:spPr>
        <p:txBody>
          <a:bodyPr wrap="square" lIns="0" tIns="0" rIns="0" bIns="0" rtlCol="0" anchor="t">
            <a:normAutofit/>
          </a:bodyPr>
          <a:lstStyle/>
          <a:p>
            <a:pPr algn="l" indent="0" marL="0">
              <a:lnSpc>
                <a:spcPts val="1883"/>
              </a:lnSpc>
              <a:buNone/>
            </a:pPr>
            <a:r>
              <a:rPr lang="en-US" sz="1317" dirty="0">
                <a:solidFill>
                  <a:srgbClr val="F4F7EA"/>
                </a:solidFill>
                <a:latin typeface="Inter" pitchFamily="34" charset="0"/>
                <a:ea typeface="Inter" pitchFamily="34" charset="-122"/>
                <a:cs typeface="Inter" pitchFamily="34" charset="-120"/>
              </a:rPr>
              <a:t>1 · Review the exact vendor, amount and fee in the Action Center.</a:t>
            </a:r>
            <a:endParaRPr lang="en-US" sz="1317" dirty="0"/>
          </a:p>
        </p:txBody>
      </p:sp>
      <p:sp>
        <p:nvSpPr>
          <p:cNvPr id="16" name="Text 14"/>
          <p:cNvSpPr/>
          <p:nvPr/>
        </p:nvSpPr>
        <p:spPr>
          <a:xfrm>
            <a:off x="6451600" y="3258189"/>
            <a:ext cx="4813808" cy="503079"/>
          </a:xfrm>
          <a:prstGeom prst="rect">
            <a:avLst/>
          </a:prstGeom>
          <a:noFill/>
          <a:ln/>
        </p:spPr>
        <p:txBody>
          <a:bodyPr wrap="square" lIns="0" tIns="0" rIns="0" bIns="0" rtlCol="0" anchor="t">
            <a:normAutofit/>
          </a:bodyPr>
          <a:lstStyle/>
          <a:p>
            <a:pPr algn="l" indent="0" marL="0">
              <a:lnSpc>
                <a:spcPts val="1883"/>
              </a:lnSpc>
              <a:buNone/>
            </a:pPr>
            <a:r>
              <a:rPr lang="en-US" sz="1317" dirty="0">
                <a:solidFill>
                  <a:srgbClr val="F4F7EA"/>
                </a:solidFill>
                <a:latin typeface="Inter" pitchFamily="34" charset="0"/>
                <a:ea typeface="Inter" pitchFamily="34" charset="-122"/>
                <a:cs typeface="Inter" pitchFamily="34" charset="-120"/>
              </a:rPr>
              <a:t>2 · Type the figure that matters; the server re-derives the plan first.</a:t>
            </a:r>
            <a:endParaRPr lang="en-US" sz="1317" dirty="0"/>
          </a:p>
        </p:txBody>
      </p:sp>
      <p:sp>
        <p:nvSpPr>
          <p:cNvPr id="17" name="Text 15"/>
          <p:cNvSpPr/>
          <p:nvPr/>
        </p:nvSpPr>
        <p:spPr>
          <a:xfrm>
            <a:off x="6451600" y="3875565"/>
            <a:ext cx="4813808" cy="503079"/>
          </a:xfrm>
          <a:prstGeom prst="rect">
            <a:avLst/>
          </a:prstGeom>
          <a:noFill/>
          <a:ln/>
        </p:spPr>
        <p:txBody>
          <a:bodyPr wrap="square" lIns="0" tIns="0" rIns="0" bIns="0" rtlCol="0" anchor="t">
            <a:normAutofit/>
          </a:bodyPr>
          <a:lstStyle/>
          <a:p>
            <a:pPr algn="l" indent="0" marL="0">
              <a:lnSpc>
                <a:spcPts val="1883"/>
              </a:lnSpc>
              <a:buNone/>
            </a:pPr>
            <a:r>
              <a:rPr lang="en-US" sz="1317" dirty="0">
                <a:solidFill>
                  <a:srgbClr val="F4F7EA"/>
                </a:solidFill>
                <a:latin typeface="Inter" pitchFamily="34" charset="0"/>
                <a:ea typeface="Inter" pitchFamily="34" charset="-122"/>
                <a:cs typeface="Inter" pitchFamily="34" charset="-120"/>
              </a:rPr>
              <a:t>3 · Token issued; execution re-checks and consumes it in one transaction.</a:t>
            </a:r>
            <a:endParaRPr lang="en-US" sz="1317" dirty="0"/>
          </a:p>
        </p:txBody>
      </p:sp>
      <p:sp>
        <p:nvSpPr>
          <p:cNvPr id="18" name="Text 16"/>
          <p:cNvSpPr/>
          <p:nvPr/>
        </p:nvSpPr>
        <p:spPr>
          <a:xfrm>
            <a:off x="6451600" y="4492941"/>
            <a:ext cx="4813808" cy="503079"/>
          </a:xfrm>
          <a:prstGeom prst="rect">
            <a:avLst/>
          </a:prstGeom>
          <a:noFill/>
          <a:ln/>
        </p:spPr>
        <p:txBody>
          <a:bodyPr wrap="square" lIns="0" tIns="0" rIns="0" bIns="0" rtlCol="0" anchor="t">
            <a:normAutofit/>
          </a:bodyPr>
          <a:lstStyle/>
          <a:p>
            <a:pPr algn="l" indent="0" marL="0">
              <a:lnSpc>
                <a:spcPts val="1883"/>
              </a:lnSpc>
              <a:buNone/>
            </a:pPr>
            <a:r>
              <a:rPr lang="en-US" sz="1317" dirty="0">
                <a:solidFill>
                  <a:srgbClr val="F4F7EA"/>
                </a:solidFill>
                <a:latin typeface="Inter" pitchFamily="34" charset="0"/>
                <a:ea typeface="Inter" pitchFamily="34" charset="-122"/>
                <a:cs typeface="Inter" pitchFamily="34" charset="-120"/>
              </a:rPr>
              <a:t>4 · A changed stress dial or counterparty response revokes outstanding approvals.</a:t>
            </a:r>
            <a:endParaRPr lang="en-US" sz="1317" dirty="0"/>
          </a:p>
        </p:txBody>
      </p:sp>
      <p:sp>
        <p:nvSpPr>
          <p:cNvPr id="19" name="Text 17"/>
          <p:cNvSpPr/>
          <p:nvPr/>
        </p:nvSpPr>
        <p:spPr>
          <a:xfrm>
            <a:off x="6451600" y="5110324"/>
            <a:ext cx="4813808" cy="503079"/>
          </a:xfrm>
          <a:prstGeom prst="rect">
            <a:avLst/>
          </a:prstGeom>
          <a:noFill/>
          <a:ln/>
        </p:spPr>
        <p:txBody>
          <a:bodyPr wrap="square" lIns="0" tIns="0" rIns="0" bIns="0" rtlCol="0" anchor="t">
            <a:normAutofit/>
          </a:bodyPr>
          <a:lstStyle/>
          <a:p>
            <a:pPr algn="l" indent="0" marL="0">
              <a:lnSpc>
                <a:spcPts val="1883"/>
              </a:lnSpc>
              <a:buNone/>
            </a:pPr>
            <a:r>
              <a:rPr lang="en-US" sz="1317" dirty="0">
                <a:solidFill>
                  <a:srgbClr val="F4F7EA"/>
                </a:solidFill>
                <a:latin typeface="Inter" pitchFamily="34" charset="0"/>
                <a:ea typeface="Inter" pitchFamily="34" charset="-122"/>
                <a:cs typeface="Inter" pitchFamily="34" charset="-120"/>
              </a:rPr>
              <a:t>5 · Optional: delegate exactly the approved action; the model never sees the token.</a:t>
            </a:r>
            <a:endParaRPr lang="en-US" sz="1317" dirty="0"/>
          </a:p>
        </p:txBody>
      </p:sp>
      <p:sp>
        <p:nvSpPr>
          <p:cNvPr id="20" name="Text 18"/>
          <p:cNvSpPr/>
          <p:nvPr/>
        </p:nvSpPr>
        <p:spPr>
          <a:xfrm>
            <a:off x="812800" y="6248958"/>
            <a:ext cx="7626572" cy="228044"/>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4A5263"/>
                </a:solidFill>
                <a:latin typeface="Inter" pitchFamily="34" charset="0"/>
                <a:ea typeface="Inter" pitchFamily="34" charset="-122"/>
                <a:cs typeface="Inter" pitchFamily="34" charset="-120"/>
              </a:rPr>
              <a:t>Vantora AI · Topic E · FinTechathon 2026 · Source: Technical Documentation, section 4.3</a:t>
            </a:r>
            <a:endParaRPr lang="en-US" sz="1200" dirty="0"/>
          </a:p>
        </p:txBody>
      </p:sp>
      <p:sp>
        <p:nvSpPr>
          <p:cNvPr id="21" name="Text 19"/>
          <p:cNvSpPr/>
          <p:nvPr/>
        </p:nvSpPr>
        <p:spPr>
          <a:xfrm>
            <a:off x="10875709" y="6248958"/>
            <a:ext cx="503492" cy="228044"/>
          </a:xfrm>
          <a:prstGeom prst="rect">
            <a:avLst/>
          </a:prstGeom>
          <a:noFill/>
          <a:ln/>
        </p:spPr>
        <p:txBody>
          <a:bodyPr wrap="square" lIns="0" tIns="0" rIns="0" bIns="0" rtlCol="0" anchor="t">
            <a:normAutofit/>
          </a:bodyPr>
          <a:lstStyle/>
          <a:p>
            <a:pPr algn="r" indent="0" marL="0">
              <a:lnSpc>
                <a:spcPts val="1596"/>
              </a:lnSpc>
              <a:buNone/>
            </a:pPr>
            <a:r>
              <a:rPr lang="en-US" sz="1200" dirty="0">
                <a:solidFill>
                  <a:srgbClr val="4A5263"/>
                </a:solidFill>
                <a:latin typeface="Inter" pitchFamily="34" charset="0"/>
                <a:ea typeface="Inter" pitchFamily="34" charset="-122"/>
                <a:cs typeface="Inter" pitchFamily="34" charset="-120"/>
              </a:rPr>
              <a:t>11 / 12</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51B2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84584"/>
          </a:xfrm>
          <a:prstGeom prst="rect">
            <a:avLst/>
          </a:prstGeom>
          <a:noFill/>
          <a:ln/>
        </p:spPr>
        <p:txBody>
          <a:bodyPr wrap="square" lIns="0" tIns="0" rIns="0" bIns="0" rtlCol="0" anchor="t">
            <a:normAutofit/>
          </a:bodyPr>
          <a:lstStyle/>
          <a:p>
            <a:pPr algn="l" indent="0" marL="0">
              <a:lnSpc>
                <a:spcPts val="3616"/>
              </a:lnSpc>
              <a:buNone/>
            </a:pPr>
            <a:r>
              <a:rPr lang="en-US" sz="3200" b="1" i="0" dirty="0">
                <a:solidFill>
                  <a:srgbClr val="F4F7EA"/>
                </a:solidFill>
                <a:latin typeface="Space Grotesk" pitchFamily="34" charset="0"/>
                <a:ea typeface="Space Grotesk" pitchFamily="34" charset="-122"/>
                <a:cs typeface="Space Grotesk" pitchFamily="34" charset="-120"/>
              </a:rPr>
              <a:t>Team Vantora AI</a:t>
            </a:r>
            <a:endParaRPr lang="en-US" sz="3200" dirty="0"/>
          </a:p>
        </p:txBody>
      </p:sp>
      <p:sp>
        <p:nvSpPr>
          <p:cNvPr id="3" name="Shape 1"/>
          <p:cNvSpPr/>
          <p:nvPr/>
        </p:nvSpPr>
        <p:spPr>
          <a:xfrm>
            <a:off x="812800" y="1525984"/>
            <a:ext cx="3386614" cy="1663065"/>
          </a:xfrm>
          <a:prstGeom prst="roundRect">
            <a:avLst>
              <a:gd name="adj" fmla="val 6109"/>
            </a:avLst>
          </a:prstGeom>
          <a:solidFill>
            <a:srgbClr val="1F2740"/>
          </a:solidFill>
          <a:ln/>
        </p:spPr>
      </p:sp>
      <p:sp>
        <p:nvSpPr>
          <p:cNvPr id="4" name="Shape 2"/>
          <p:cNvSpPr/>
          <p:nvPr/>
        </p:nvSpPr>
        <p:spPr>
          <a:xfrm>
            <a:off x="812800" y="1525984"/>
            <a:ext cx="3386614" cy="1663065"/>
          </a:xfrm>
          <a:custGeom>
            <a:avLst/>
            <a:gdLst/>
            <a:ahLst/>
            <a:cxnLst/>
            <a:rect l="l" t="t" r="r" b="b"/>
            <a:pathLst>
              <a:path w="3386614" h="1663065">
                <a:moveTo>
                  <a:pt x="0" y="101600"/>
                </a:moveTo>
                <a:lnTo>
                  <a:pt x="0" y="101600"/>
                </a:lnTo>
                <a:arcTo hR="101600" wR="101600" stAng="10800000" swAng="5400000"/>
                <a:lnTo>
                  <a:pt x="3285014" y="0"/>
                </a:lnTo>
                <a:arcTo hR="101600" wR="101600" stAng="16200000" swAng="5400000"/>
                <a:lnTo>
                  <a:pt x="3386614" y="101600"/>
                </a:lnTo>
                <a:arcTo hR="50800" wR="101600" stAng="0" swAng="-5400000"/>
                <a:lnTo>
                  <a:pt x="101600" y="50800"/>
                </a:lnTo>
                <a:arcTo hR="50800" wR="101600" stAng="16200000" swAng="-5400000"/>
                <a:close/>
              </a:path>
            </a:pathLst>
          </a:custGeom>
          <a:solidFill>
            <a:srgbClr val="C6F432"/>
          </a:solidFill>
          <a:ln/>
        </p:spPr>
      </p:sp>
      <p:sp>
        <p:nvSpPr>
          <p:cNvPr id="5" name="Text 3"/>
          <p:cNvSpPr/>
          <p:nvPr/>
        </p:nvSpPr>
        <p:spPr>
          <a:xfrm>
            <a:off x="1041400" y="1805384"/>
            <a:ext cx="3017296" cy="304244"/>
          </a:xfrm>
          <a:prstGeom prst="rect">
            <a:avLst/>
          </a:prstGeom>
          <a:noFill/>
          <a:ln/>
        </p:spPr>
        <p:txBody>
          <a:bodyPr wrap="square" lIns="0" tIns="0" rIns="0" bIns="0" rtlCol="0" anchor="t">
            <a:normAutofit/>
          </a:bodyPr>
          <a:lstStyle/>
          <a:p>
            <a:pPr algn="l" indent="0" marL="0">
              <a:lnSpc>
                <a:spcPts val="2196"/>
              </a:lnSpc>
              <a:buNone/>
            </a:pPr>
            <a:r>
              <a:rPr lang="en-US" sz="1800" b="1" dirty="0">
                <a:solidFill>
                  <a:srgbClr val="F4F7EA"/>
                </a:solidFill>
                <a:latin typeface="Space Grotesk" pitchFamily="34" charset="0"/>
                <a:ea typeface="Space Grotesk" pitchFamily="34" charset="-122"/>
                <a:cs typeface="Space Grotesk" pitchFamily="34" charset="-120"/>
              </a:rPr>
              <a:t>Taqi Ismail Mohammad</a:t>
            </a:r>
            <a:endParaRPr lang="en-US" sz="1800" dirty="0"/>
          </a:p>
        </p:txBody>
      </p:sp>
      <p:sp>
        <p:nvSpPr>
          <p:cNvPr id="6" name="Text 4"/>
          <p:cNvSpPr/>
          <p:nvPr/>
        </p:nvSpPr>
        <p:spPr>
          <a:xfrm>
            <a:off x="1041400" y="2173132"/>
            <a:ext cx="3017296" cy="533876"/>
          </a:xfrm>
          <a:prstGeom prst="rect">
            <a:avLst/>
          </a:prstGeom>
          <a:noFill/>
          <a:ln/>
        </p:spPr>
        <p:txBody>
          <a:bodyPr wrap="square" lIns="0" tIns="0" rIns="0" bIns="0" rtlCol="0" anchor="t">
            <a:normAutofit/>
          </a:bodyPr>
          <a:lstStyle/>
          <a:p>
            <a:pPr algn="l" indent="0" marL="0">
              <a:lnSpc>
                <a:spcPts val="2002"/>
              </a:lnSpc>
              <a:buNone/>
            </a:pPr>
            <a:r>
              <a:rPr lang="en-US" sz="1400" dirty="0">
                <a:solidFill>
                  <a:srgbClr val="B9C2D6"/>
                </a:solidFill>
                <a:latin typeface="Inter" pitchFamily="34" charset="0"/>
                <a:ea typeface="Inter" pitchFamily="34" charset="-122"/>
                <a:cs typeface="Inter" pitchFamily="34" charset="-120"/>
              </a:rPr>
              <a:t>Team Leader · Backend Developer · AI/ML Expert</a:t>
            </a:r>
            <a:endParaRPr lang="en-US" sz="1400" dirty="0"/>
          </a:p>
        </p:txBody>
      </p:sp>
      <p:sp>
        <p:nvSpPr>
          <p:cNvPr id="7" name="Shape 5"/>
          <p:cNvSpPr/>
          <p:nvPr/>
        </p:nvSpPr>
        <p:spPr>
          <a:xfrm>
            <a:off x="4402614" y="1525984"/>
            <a:ext cx="3386693" cy="1663065"/>
          </a:xfrm>
          <a:prstGeom prst="roundRect">
            <a:avLst>
              <a:gd name="adj" fmla="val 6109"/>
            </a:avLst>
          </a:prstGeom>
          <a:solidFill>
            <a:srgbClr val="1F2740"/>
          </a:solidFill>
          <a:ln/>
        </p:spPr>
      </p:sp>
      <p:sp>
        <p:nvSpPr>
          <p:cNvPr id="8" name="Shape 6"/>
          <p:cNvSpPr/>
          <p:nvPr/>
        </p:nvSpPr>
        <p:spPr>
          <a:xfrm>
            <a:off x="4402614" y="1525984"/>
            <a:ext cx="3386693" cy="1663065"/>
          </a:xfrm>
          <a:custGeom>
            <a:avLst/>
            <a:gdLst/>
            <a:ahLst/>
            <a:cxnLst/>
            <a:rect l="l" t="t" r="r" b="b"/>
            <a:pathLst>
              <a:path w="3386693" h="1663065">
                <a:moveTo>
                  <a:pt x="0" y="101600"/>
                </a:moveTo>
                <a:lnTo>
                  <a:pt x="0" y="101600"/>
                </a:lnTo>
                <a:arcTo hR="101600" wR="101600" stAng="10800000" swAng="5400000"/>
                <a:lnTo>
                  <a:pt x="3285093" y="0"/>
                </a:lnTo>
                <a:arcTo hR="101600" wR="101600" stAng="16200000" swAng="5400000"/>
                <a:lnTo>
                  <a:pt x="3386693" y="101600"/>
                </a:lnTo>
                <a:arcTo hR="50800" wR="101600" stAng="0" swAng="-5400000"/>
                <a:lnTo>
                  <a:pt x="101600" y="50800"/>
                </a:lnTo>
                <a:arcTo hR="50800" wR="101600" stAng="16200000" swAng="-5400000"/>
                <a:close/>
              </a:path>
            </a:pathLst>
          </a:custGeom>
          <a:solidFill>
            <a:srgbClr val="C6F432"/>
          </a:solidFill>
          <a:ln/>
        </p:spPr>
      </p:sp>
      <p:sp>
        <p:nvSpPr>
          <p:cNvPr id="9" name="Text 7"/>
          <p:cNvSpPr/>
          <p:nvPr/>
        </p:nvSpPr>
        <p:spPr>
          <a:xfrm>
            <a:off x="4631214" y="1805384"/>
            <a:ext cx="3017378" cy="304244"/>
          </a:xfrm>
          <a:prstGeom prst="rect">
            <a:avLst/>
          </a:prstGeom>
          <a:noFill/>
          <a:ln/>
        </p:spPr>
        <p:txBody>
          <a:bodyPr wrap="square" lIns="0" tIns="0" rIns="0" bIns="0" rtlCol="0" anchor="t">
            <a:normAutofit/>
          </a:bodyPr>
          <a:lstStyle/>
          <a:p>
            <a:pPr algn="l" indent="0" marL="0">
              <a:lnSpc>
                <a:spcPts val="2196"/>
              </a:lnSpc>
              <a:buNone/>
            </a:pPr>
            <a:r>
              <a:rPr lang="en-US" sz="1800" b="1" dirty="0">
                <a:solidFill>
                  <a:srgbClr val="F4F7EA"/>
                </a:solidFill>
                <a:latin typeface="Space Grotesk" pitchFamily="34" charset="0"/>
                <a:ea typeface="Space Grotesk" pitchFamily="34" charset="-122"/>
                <a:cs typeface="Space Grotesk" pitchFamily="34" charset="-120"/>
              </a:rPr>
              <a:t>Imtiaj Bin Aoual</a:t>
            </a:r>
            <a:endParaRPr lang="en-US" sz="1800" dirty="0"/>
          </a:p>
        </p:txBody>
      </p:sp>
      <p:sp>
        <p:nvSpPr>
          <p:cNvPr id="10" name="Text 8"/>
          <p:cNvSpPr/>
          <p:nvPr/>
        </p:nvSpPr>
        <p:spPr>
          <a:xfrm>
            <a:off x="4631214" y="2173132"/>
            <a:ext cx="3017378" cy="533876"/>
          </a:xfrm>
          <a:prstGeom prst="rect">
            <a:avLst/>
          </a:prstGeom>
          <a:noFill/>
          <a:ln/>
        </p:spPr>
        <p:txBody>
          <a:bodyPr wrap="square" lIns="0" tIns="0" rIns="0" bIns="0" rtlCol="0" anchor="t">
            <a:normAutofit/>
          </a:bodyPr>
          <a:lstStyle/>
          <a:p>
            <a:pPr algn="l" indent="0" marL="0">
              <a:lnSpc>
                <a:spcPts val="2002"/>
              </a:lnSpc>
              <a:buNone/>
            </a:pPr>
            <a:r>
              <a:rPr lang="en-US" sz="1400" dirty="0">
                <a:solidFill>
                  <a:srgbClr val="B9C2D6"/>
                </a:solidFill>
                <a:latin typeface="Inter" pitchFamily="34" charset="0"/>
                <a:ea typeface="Inter" pitchFamily="34" charset="-122"/>
                <a:cs typeface="Inter" pitchFamily="34" charset="-120"/>
              </a:rPr>
              <a:t>Full Stack Developer · AI/ML Expert · FinTech Expert</a:t>
            </a:r>
            <a:endParaRPr lang="en-US" sz="1400" dirty="0"/>
          </a:p>
        </p:txBody>
      </p:sp>
      <p:sp>
        <p:nvSpPr>
          <p:cNvPr id="11" name="Shape 9"/>
          <p:cNvSpPr/>
          <p:nvPr/>
        </p:nvSpPr>
        <p:spPr>
          <a:xfrm>
            <a:off x="7992507" y="1525984"/>
            <a:ext cx="3386693" cy="1663065"/>
          </a:xfrm>
          <a:prstGeom prst="roundRect">
            <a:avLst>
              <a:gd name="adj" fmla="val 6109"/>
            </a:avLst>
          </a:prstGeom>
          <a:solidFill>
            <a:srgbClr val="1F2740"/>
          </a:solidFill>
          <a:ln/>
        </p:spPr>
      </p:sp>
      <p:sp>
        <p:nvSpPr>
          <p:cNvPr id="12" name="Shape 10"/>
          <p:cNvSpPr/>
          <p:nvPr/>
        </p:nvSpPr>
        <p:spPr>
          <a:xfrm>
            <a:off x="7992507" y="1525984"/>
            <a:ext cx="3386693" cy="1663065"/>
          </a:xfrm>
          <a:custGeom>
            <a:avLst/>
            <a:gdLst/>
            <a:ahLst/>
            <a:cxnLst/>
            <a:rect l="l" t="t" r="r" b="b"/>
            <a:pathLst>
              <a:path w="3386693" h="1663065">
                <a:moveTo>
                  <a:pt x="0" y="101600"/>
                </a:moveTo>
                <a:lnTo>
                  <a:pt x="0" y="101600"/>
                </a:lnTo>
                <a:arcTo hR="101600" wR="101600" stAng="10800000" swAng="5400000"/>
                <a:lnTo>
                  <a:pt x="3285093" y="0"/>
                </a:lnTo>
                <a:arcTo hR="101600" wR="101600" stAng="16200000" swAng="5400000"/>
                <a:lnTo>
                  <a:pt x="3386693" y="101600"/>
                </a:lnTo>
                <a:arcTo hR="50800" wR="101600" stAng="0" swAng="-5400000"/>
                <a:lnTo>
                  <a:pt x="101600" y="50800"/>
                </a:lnTo>
                <a:arcTo hR="50800" wR="101600" stAng="16200000" swAng="-5400000"/>
                <a:close/>
              </a:path>
            </a:pathLst>
          </a:custGeom>
          <a:solidFill>
            <a:srgbClr val="C6F432"/>
          </a:solidFill>
          <a:ln/>
        </p:spPr>
      </p:sp>
      <p:sp>
        <p:nvSpPr>
          <p:cNvPr id="13" name="Text 11"/>
          <p:cNvSpPr/>
          <p:nvPr/>
        </p:nvSpPr>
        <p:spPr>
          <a:xfrm>
            <a:off x="8221107" y="1805384"/>
            <a:ext cx="3017378" cy="583089"/>
          </a:xfrm>
          <a:prstGeom prst="rect">
            <a:avLst/>
          </a:prstGeom>
          <a:noFill/>
          <a:ln/>
        </p:spPr>
        <p:txBody>
          <a:bodyPr wrap="square" lIns="0" tIns="0" rIns="0" bIns="0" rtlCol="0" anchor="t">
            <a:normAutofit/>
          </a:bodyPr>
          <a:lstStyle/>
          <a:p>
            <a:pPr algn="l" indent="0" marL="0">
              <a:lnSpc>
                <a:spcPts val="2196"/>
              </a:lnSpc>
              <a:buNone/>
            </a:pPr>
            <a:r>
              <a:rPr lang="en-US" sz="1800" b="1" dirty="0">
                <a:solidFill>
                  <a:srgbClr val="F4F7EA"/>
                </a:solidFill>
                <a:latin typeface="Space Grotesk" pitchFamily="34" charset="0"/>
                <a:ea typeface="Space Grotesk" pitchFamily="34" charset="-122"/>
                <a:cs typeface="Space Grotesk" pitchFamily="34" charset="-120"/>
              </a:rPr>
              <a:t>Sahib Abbas Bahar Chowdhury</a:t>
            </a:r>
            <a:endParaRPr lang="en-US" sz="1800" dirty="0"/>
          </a:p>
        </p:txBody>
      </p:sp>
      <p:sp>
        <p:nvSpPr>
          <p:cNvPr id="14" name="Text 12"/>
          <p:cNvSpPr/>
          <p:nvPr/>
        </p:nvSpPr>
        <p:spPr>
          <a:xfrm>
            <a:off x="8221107" y="2451974"/>
            <a:ext cx="3017378" cy="533876"/>
          </a:xfrm>
          <a:prstGeom prst="rect">
            <a:avLst/>
          </a:prstGeom>
          <a:noFill/>
          <a:ln/>
        </p:spPr>
        <p:txBody>
          <a:bodyPr wrap="square" lIns="0" tIns="0" rIns="0" bIns="0" rtlCol="0" anchor="t">
            <a:normAutofit/>
          </a:bodyPr>
          <a:lstStyle/>
          <a:p>
            <a:pPr algn="l" indent="0" marL="0">
              <a:lnSpc>
                <a:spcPts val="2002"/>
              </a:lnSpc>
              <a:buNone/>
            </a:pPr>
            <a:r>
              <a:rPr lang="en-US" sz="1400" dirty="0">
                <a:solidFill>
                  <a:srgbClr val="B9C2D6"/>
                </a:solidFill>
                <a:latin typeface="Inter" pitchFamily="34" charset="0"/>
                <a:ea typeface="Inter" pitchFamily="34" charset="-122"/>
                <a:cs typeface="Inter" pitchFamily="34" charset="-120"/>
              </a:rPr>
              <a:t>Frontend Developer · AI Enthusiast · Product and Branding Specialist</a:t>
            </a:r>
            <a:endParaRPr lang="en-US" sz="1400" dirty="0"/>
          </a:p>
        </p:txBody>
      </p:sp>
      <p:sp>
        <p:nvSpPr>
          <p:cNvPr id="15" name="Shape 13"/>
          <p:cNvSpPr/>
          <p:nvPr/>
        </p:nvSpPr>
        <p:spPr>
          <a:xfrm>
            <a:off x="812800" y="3443052"/>
            <a:ext cx="10566400" cy="2398951"/>
          </a:xfrm>
          <a:prstGeom prst="roundRect">
            <a:avLst>
              <a:gd name="adj" fmla="val 4235"/>
            </a:avLst>
          </a:prstGeom>
          <a:solidFill>
            <a:srgbClr val="C6F432"/>
          </a:solidFill>
          <a:ln/>
        </p:spPr>
      </p:sp>
      <p:sp>
        <p:nvSpPr>
          <p:cNvPr id="16" name="Text 14"/>
          <p:cNvSpPr/>
          <p:nvPr/>
        </p:nvSpPr>
        <p:spPr>
          <a:xfrm>
            <a:off x="1117600" y="4185760"/>
            <a:ext cx="10255504" cy="583089"/>
          </a:xfrm>
          <a:prstGeom prst="rect">
            <a:avLst/>
          </a:prstGeom>
          <a:noFill/>
          <a:ln/>
        </p:spPr>
        <p:txBody>
          <a:bodyPr wrap="square" lIns="0" tIns="0" rIns="0" bIns="0" rtlCol="0" anchor="t">
            <a:normAutofit/>
          </a:bodyPr>
          <a:lstStyle/>
          <a:p>
            <a:pPr algn="l" indent="0" marL="0">
              <a:lnSpc>
                <a:spcPts val="2196"/>
              </a:lnSpc>
              <a:buNone/>
            </a:pPr>
            <a:r>
              <a:rPr lang="en-US" sz="1800" b="1" dirty="0">
                <a:solidFill>
                  <a:srgbClr val="151B2D"/>
                </a:solidFill>
                <a:latin typeface="Space Grotesk" pitchFamily="34" charset="0"/>
                <a:ea typeface="Space Grotesk" pitchFamily="34" charset="-122"/>
                <a:cs typeface="Space Grotesk" pitchFamily="34" charset="-120"/>
              </a:rPr>
              <a:t>In this prototype, the model explains and drafts, the engine computes, and the owner approves.</a:t>
            </a:r>
            <a:endParaRPr lang="en-US" sz="1800" dirty="0"/>
          </a:p>
        </p:txBody>
      </p:sp>
      <p:sp>
        <p:nvSpPr>
          <p:cNvPr id="17" name="Text 15"/>
          <p:cNvSpPr/>
          <p:nvPr/>
        </p:nvSpPr>
        <p:spPr>
          <a:xfrm>
            <a:off x="1117600" y="4845050"/>
            <a:ext cx="10255504" cy="279638"/>
          </a:xfrm>
          <a:prstGeom prst="rect">
            <a:avLst/>
          </a:prstGeom>
          <a:noFill/>
          <a:ln/>
        </p:spPr>
        <p:txBody>
          <a:bodyPr wrap="square" lIns="0" tIns="0" rIns="0" bIns="0" rtlCol="0" anchor="t">
            <a:normAutofit/>
          </a:bodyPr>
          <a:lstStyle/>
          <a:p>
            <a:pPr algn="l" indent="0" marL="0">
              <a:lnSpc>
                <a:spcPts val="2002"/>
              </a:lnSpc>
              <a:buNone/>
            </a:pPr>
            <a:r>
              <a:rPr lang="en-US" sz="1400" dirty="0">
                <a:solidFill>
                  <a:srgbClr val="151B2D"/>
                </a:solidFill>
                <a:latin typeface="Inter" pitchFamily="34" charset="0"/>
                <a:ea typeface="Inter" pitchFamily="34" charset="-122"/>
                <a:cs typeface="Inter" pitchFamily="34" charset="-120"/>
              </a:rPr>
              <a:t>A sandbox prototype on a simulated account: no real money, no bank integration, no regulatory approval.</a:t>
            </a:r>
            <a:endParaRPr lang="en-US" sz="1400" dirty="0"/>
          </a:p>
        </p:txBody>
      </p:sp>
      <p:sp>
        <p:nvSpPr>
          <p:cNvPr id="18" name="Text 16"/>
          <p:cNvSpPr/>
          <p:nvPr/>
        </p:nvSpPr>
        <p:spPr>
          <a:xfrm>
            <a:off x="812800" y="6248958"/>
            <a:ext cx="4632770" cy="228044"/>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B9C2D6"/>
                </a:solidFill>
                <a:latin typeface="Inter" pitchFamily="34" charset="0"/>
                <a:ea typeface="Inter" pitchFamily="34" charset="-122"/>
                <a:cs typeface="Inter" pitchFamily="34" charset="-120"/>
              </a:rPr>
              <a:t>Source repository: github.com/taqiismail10/vantora-ai</a:t>
            </a:r>
            <a:endParaRPr lang="en-US" sz="1200" dirty="0"/>
          </a:p>
        </p:txBody>
      </p:sp>
      <p:sp>
        <p:nvSpPr>
          <p:cNvPr id="19" name="Text 17"/>
          <p:cNvSpPr/>
          <p:nvPr/>
        </p:nvSpPr>
        <p:spPr>
          <a:xfrm>
            <a:off x="10838561" y="6248958"/>
            <a:ext cx="540639" cy="228044"/>
          </a:xfrm>
          <a:prstGeom prst="rect">
            <a:avLst/>
          </a:prstGeom>
          <a:noFill/>
          <a:ln/>
        </p:spPr>
        <p:txBody>
          <a:bodyPr wrap="square" lIns="0" tIns="0" rIns="0" bIns="0" rtlCol="0" anchor="t">
            <a:normAutofit/>
          </a:bodyPr>
          <a:lstStyle/>
          <a:p>
            <a:pPr algn="r" indent="0" marL="0">
              <a:lnSpc>
                <a:spcPts val="1596"/>
              </a:lnSpc>
              <a:buNone/>
            </a:pPr>
            <a:r>
              <a:rPr lang="en-US" sz="1200" dirty="0">
                <a:solidFill>
                  <a:srgbClr val="B9C2D6"/>
                </a:solidFill>
                <a:latin typeface="Inter" pitchFamily="34" charset="0"/>
                <a:ea typeface="Inter" pitchFamily="34" charset="-122"/>
                <a:cs typeface="Inter" pitchFamily="34" charset="-120"/>
              </a:rPr>
              <a:t>12 / 12</a:t>
            </a:r>
            <a:endParaRPr lang="en-US" sz="1200" dirty="0"/>
          </a:p>
        </p:txBody>
      </p:sp>
    </p:spTree>
  </p:cSld>
  <p:clrMapOvr>
    <a:masterClrMapping/>
  </p:clrMapOvr>
</p:sld>
</file>

<file path=ppt/theme/theme1.xml><?xml version="1.0" encoding="utf-8"?>
<a:theme xmlns:a="http://schemas.openxmlformats.org/drawingml/2006/main" name="Vantora AI: An SME Finance Copilot for Cash Flow Recovery">
  <a:themeElements>
    <a:clrScheme name="Vantora AI: An SME Finance Copilot for Cash Flow Recovery">
      <a:dk1>
        <a:srgbClr val="151B2D"/>
      </a:dk1>
      <a:lt1>
        <a:srgbClr val="F4F7EA"/>
      </a:lt1>
      <a:dk2>
        <a:srgbClr val="4D525C"/>
      </a:dk2>
      <a:lt2>
        <a:srgbClr val="DEE1D7"/>
      </a:lt2>
      <a:accent1>
        <a:srgbClr val="C6F432"/>
      </a:accent1>
      <a:accent2>
        <a:srgbClr val="4A5263"/>
      </a:accent2>
      <a:accent3>
        <a:srgbClr val="B9C2D6"/>
      </a:accent3>
      <a:accent4>
        <a:srgbClr val="9AA0A6"/>
      </a:accent4>
      <a:accent5>
        <a:srgbClr val="6E7379"/>
      </a:accent5>
      <a:accent6>
        <a:srgbClr val="909495"/>
      </a:accent6>
      <a:hlink>
        <a:srgbClr val="0563C1"/>
      </a:hlink>
      <a:folHlink>
        <a:srgbClr val="954F72"/>
      </a:folHlink>
    </a:clrScheme>
    <a:fontScheme name="Vantora AI: An SME Finance Copilot for Cash Flow Recovery">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Vantora AI: An SME Finance Copilot for Cash Flow Recovery</dc:title>
  <dc:subject/>
  <dc:creator/>
  <cp:lastModifiedBy/>
  <cp:revision>1</cp:revision>
  <dcterms:created xsi:type="dcterms:W3CDTF">2026-10-20T15:44:23Z</dcterms:created>
  <dcterms:modified xsi:type="dcterms:W3CDTF">2026-10-20T15:44:23Z</dcterms:modified>
</cp:coreProperties>
</file>